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DPF operations named in Section 2.1.3 (million USD)</a:t>
            </a:r>
          </a:p>
        </c:rich>
      </c:tx>
      <c:layout/>
      <c:overlay val="0"/>
    </c:title>
    <c:autoTitleDeleted val="0"/>
    <c:plotArea>
      <c:barChart>
        <c:barDir val="col"/>
        <c:grouping val="stacked"/>
        <c:ser>
          <c:idx val="0"/>
          <c:order val="0"/>
          <c:tx>
            <c:strRef>
              <c:f>Sheet1!$B$1</c:f>
              <c:strCache>
                <c:ptCount val="1"/>
                <c:pt idx="0">
                  <c:v>IBRD</c:v>
                </c:pt>
              </c:strCache>
            </c:strRef>
          </c:tx>
          <c:spPr>
            <a:solidFill>
              <a:srgbClr val="2E4257"/>
            </a:solidFill>
          </c:spPr>
          <c:dLbls>
            <c:numFmt formatCode="0.0"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Sheet1!$A$2:$A$4</c:f>
              <c:strCache>
                <c:ptCount val="3"/>
                <c:pt idx="0">
                  <c:v>PIR 1 (Dec 2009)</c:v>
                </c:pt>
                <c:pt idx="1">
                  <c:v>PIR 2 (May 2011)</c:v>
                </c:pt>
                <c:pt idx="2">
                  <c:v>Power-sector DPF (2010)</c:v>
                </c:pt>
              </c:strCache>
            </c:strRef>
          </c:cat>
          <c:val>
            <c:numRef>
              <c:f>Sheet1!$B$2:$B$4</c:f>
              <c:numCache>
                <c:formatCode>0.0</c:formatCode>
                <c:ptCount val="3"/>
                <c:pt idx="0">
                  <c:v>500</c:v>
                </c:pt>
                <c:pt idx="1">
                  <c:v>87.3</c:v>
                </c:pt>
                <c:pt idx="2">
                  <c:v>200</c:v>
                </c:pt>
              </c:numCache>
            </c:numRef>
          </c:val>
        </c:ser>
        <c:ser>
          <c:idx val="1"/>
          <c:order val="1"/>
          <c:tx>
            <c:strRef>
              <c:f>Sheet1!$C$1</c:f>
              <c:strCache>
                <c:ptCount val="1"/>
                <c:pt idx="0">
                  <c:v>IDA</c:v>
                </c:pt>
              </c:strCache>
            </c:strRef>
          </c:tx>
          <c:spPr>
            <a:solidFill>
              <a:srgbClr val="7F93A8"/>
            </a:solidFill>
          </c:spPr>
          <c:dLbls>
            <c:numFmt formatCode="0.0" sourceLinked="0"/>
            <c:txPr>
              <a:bodyPr/>
              <a:lstStyle/>
              <a:p>
                <a:pPr>
                  <a:defRPr sz="1200">
                    <a:solidFill>
                      <a:srgbClr val="2E4257"/>
                    </a:solidFill>
                  </a:defRPr>
                </a:pPr>
              </a:p>
            </c:txPr>
            <c:dLblPos val="ctr"/>
            <c:showLegendKey val="0"/>
            <c:showVal val="0"/>
            <c:showCatName val="0"/>
            <c:showSerName val="0"/>
            <c:showPercent val="0"/>
            <c:showBubbleSize val="0"/>
            <c:showLeaderLines val="1"/>
          </c:dLbls>
          <c:cat>
            <c:strRef>
              <c:f>Sheet1!$A$2:$A$4</c:f>
              <c:strCache>
                <c:ptCount val="3"/>
                <c:pt idx="0">
                  <c:v>PIR 1 (Dec 2009)</c:v>
                </c:pt>
                <c:pt idx="1">
                  <c:v>PIR 2 (May 2011)</c:v>
                </c:pt>
                <c:pt idx="2">
                  <c:v>Power-sector DPF (2010)</c:v>
                </c:pt>
              </c:strCache>
            </c:strRef>
          </c:cat>
          <c:val>
            <c:numRef>
              <c:f>Sheet1!$C$2:$C$4</c:f>
              <c:numCache>
                <c:formatCode>0.0</c:formatCode>
                <c:ptCount val="3"/>
                <c:pt idx="1">
                  <c:v>262.7</c:v>
                </c:pt>
                <c:pt idx="2">
                  <c:v>111.8</c:v>
                </c:pt>
              </c:numCache>
            </c:numRef>
          </c:val>
        </c:ser>
        <c:dLbls>
          <c:numFmt formatCode="0.0" sourceLinked="0"/>
          <c:txPr>
            <a:bodyPr/>
            <a:lstStyle/>
            <a:p>
              <a:pPr>
                <a:defRPr sz="1200">
                  <a:latin typeface="Be Vietnam Pro"/>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b="1">
                <a:solidFill>
                  <a:srgbClr val="2E4257"/>
                </a:solidFill>
                <a:latin typeface="Be Vietnam Pro"/>
              </a:rPr>
              <a:t>Analytical and advisory disbursements, 2023 (US$991 million)</a:t>
            </a:r>
          </a:p>
        </c:rich>
      </c:tx>
      <c:layout/>
      <c:overlay val="0"/>
    </c:title>
    <c:autoTitleDeleted val="0"/>
    <c:plotArea>
      <c:layout/>
      <c:doughnutChart>
        <c:varyColors val="1"/>
        <c:ser>
          <c:idx val="0"/>
          <c:order val="0"/>
          <c:tx>
            <c:strRef>
              <c:f>Sheet1!$B$1</c:f>
              <c:strCache>
                <c:ptCount val="1"/>
                <c:pt idx="0">
                  <c:v>Share (%)</c:v>
                </c:pt>
              </c:strCache>
            </c:strRef>
          </c:tx>
          <c:dPt>
            <c:idx val="0"/>
            <c:spPr>
              <a:solidFill>
                <a:srgbClr val="2E4257"/>
              </a:solidFill>
            </c:spPr>
          </c:dPt>
          <c:dPt>
            <c:idx val="1"/>
            <c:spPr>
              <a:solidFill>
                <a:srgbClr val="7F93A8"/>
              </a:solidFill>
            </c:spPr>
          </c:dPt>
          <c:dPt>
            <c:idx val="2"/>
            <c:spPr>
              <a:solidFill>
                <a:srgbClr val="C9B48A"/>
              </a:solidFill>
            </c:spPr>
          </c:dPt>
          <c:cat>
            <c:strRef>
              <c:f>Sheet1!$A$2:$A$4</c:f>
              <c:strCache>
                <c:ptCount val="3"/>
                <c:pt idx="0">
                  <c:v>Donor trust funds</c:v>
                </c:pt>
                <c:pt idx="1">
                  <c:v>Bank administrative budget</c:v>
                </c:pt>
                <c:pt idx="2">
                  <c:v>Reimbursable Advisory Services</c:v>
                </c:pt>
              </c:strCache>
            </c:strRef>
          </c:cat>
          <c:val>
            <c:numRef>
              <c:f>Sheet1!$B$2:$B$4</c:f>
              <c:numCache>
                <c:formatCode>0"%"</c:formatCode>
                <c:ptCount val="3"/>
                <c:pt idx="0">
                  <c:v>68</c:v>
                </c:pt>
                <c:pt idx="1">
                  <c:v>26</c:v>
                </c:pt>
                <c:pt idx="2">
                  <c:v>6</c:v>
                </c:pt>
              </c:numCache>
            </c:numRef>
          </c:val>
        </c:ser>
        <c:dLbls>
          <c:numFmt formatCode="0&quot;%&quot;" sourceLinked="0"/>
          <c:txPr>
            <a:bodyPr/>
            <a:lstStyle/>
            <a:p>
              <a:pPr>
                <a:defRPr sz="1200">
                  <a:latin typeface="Be Vietnam Pro"/>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300">
              <a:latin typeface="Be Vietnam Pro"/>
            </a:defRPr>
          </a:pPr>
        </a:p>
      </c:txPr>
    </c:legend>
    <c:plotVisOnly val="1"/>
    <c:dispBlanksAs val="gap"/>
    <c:showDLblsOverMax val="0"/>
  </c:chart>
  <c:txPr>
    <a:bodyPr/>
    <a:lstStyle/>
    <a:p>
      <a:pPr>
        <a:defRPr sz="1300">
          <a:solidFill>
            <a:srgbClr val="2E4257"/>
          </a:solidFill>
          <a:latin typeface="Be Vietnam Pro"/>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TEP and SAHEP financing at appraisal (million USD) — from Table 8</a:t>
            </a:r>
          </a:p>
        </c:rich>
      </c:tx>
      <c:layout/>
      <c:overlay val="0"/>
    </c:title>
    <c:autoTitleDeleted val="0"/>
    <c:plotArea>
      <c:barChart>
        <c:barDir val="col"/>
        <c:grouping val="stacked"/>
        <c:ser>
          <c:idx val="0"/>
          <c:order val="0"/>
          <c:tx>
            <c:strRef>
              <c:f>Sheet1!$B$1</c:f>
              <c:strCache>
                <c:ptCount val="1"/>
                <c:pt idx="0">
                  <c:v>World Bank financing</c:v>
                </c:pt>
              </c:strCache>
            </c:strRef>
          </c:tx>
          <c:spPr>
            <a:solidFill>
              <a:srgbClr val="2E4257"/>
            </a:solidFill>
          </c:spPr>
          <c:dLbls>
            <c:numFmt formatCode="0.00"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Sheet1!$A$2:$A$3</c:f>
              <c:strCache>
                <c:ptCount val="2"/>
                <c:pt idx="0">
                  <c:v>TEP</c:v>
                </c:pt>
                <c:pt idx="1">
                  <c:v>SAHEP</c:v>
                </c:pt>
              </c:strCache>
            </c:strRef>
          </c:cat>
          <c:val>
            <c:numRef>
              <c:f>Sheet1!$B$2:$B$3</c:f>
              <c:numCache>
                <c:formatCode>0.00</c:formatCode>
                <c:ptCount val="2"/>
                <c:pt idx="0">
                  <c:v>500.0</c:v>
                </c:pt>
                <c:pt idx="1">
                  <c:v>155.0</c:v>
                </c:pt>
              </c:numCache>
            </c:numRef>
          </c:val>
        </c:ser>
        <c:ser>
          <c:idx val="1"/>
          <c:order val="1"/>
          <c:tx>
            <c:strRef>
              <c:f>Sheet1!$C$1</c:f>
              <c:strCache>
                <c:ptCount val="1"/>
                <c:pt idx="0">
                  <c:v>Counterpart financing</c:v>
                </c:pt>
              </c:strCache>
            </c:strRef>
          </c:tx>
          <c:spPr>
            <a:solidFill>
              <a:srgbClr val="7F93A8"/>
            </a:solidFill>
          </c:spPr>
          <c:dLbls>
            <c:numFmt formatCode="0.00" sourceLinked="0"/>
            <c:txPr>
              <a:bodyPr/>
              <a:lstStyle/>
              <a:p>
                <a:pPr>
                  <a:defRPr sz="1200">
                    <a:solidFill>
                      <a:srgbClr val="2E4257"/>
                    </a:solidFill>
                  </a:defRPr>
                </a:pPr>
              </a:p>
            </c:txPr>
            <c:dLblPos val="ctr"/>
            <c:showLegendKey val="0"/>
            <c:showVal val="0"/>
            <c:showCatName val="0"/>
            <c:showSerName val="0"/>
            <c:showPercent val="0"/>
            <c:showBubbleSize val="0"/>
            <c:showLeaderLines val="1"/>
          </c:dLbls>
          <c:cat>
            <c:strRef>
              <c:f>Sheet1!$A$2:$A$3</c:f>
              <c:strCache>
                <c:ptCount val="2"/>
                <c:pt idx="0">
                  <c:v>TEP</c:v>
                </c:pt>
                <c:pt idx="1">
                  <c:v>SAHEP</c:v>
                </c:pt>
              </c:strCache>
            </c:strRef>
          </c:cat>
          <c:val>
            <c:numRef>
              <c:f>Sheet1!$C$2:$C$3</c:f>
              <c:numCache>
                <c:formatCode>0.00</c:formatCode>
                <c:ptCount val="2"/>
                <c:pt idx="0">
                  <c:v>231.25</c:v>
                </c:pt>
                <c:pt idx="1">
                  <c:v>19.6</c:v>
                </c:pt>
              </c:numCache>
            </c:numRef>
          </c:val>
        </c:ser>
        <c:dLbls>
          <c:numFmt formatCode="0.00" sourceLinked="0"/>
          <c:txPr>
            <a:bodyPr/>
            <a:lstStyle/>
            <a:p>
              <a:pPr>
                <a:defRPr sz="1200">
                  <a:latin typeface="Be Vietnam Pro"/>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2. TEP expenditure by investment component at appraisal and at closing (million USD)</a:t>
            </a:r>
          </a:p>
        </c:rich>
      </c:tx>
      <c:layout/>
      <c:overlay val="0"/>
    </c:title>
    <c:autoTitleDeleted val="0"/>
    <c:plotArea>
      <c:barChart>
        <c:barDir val="col"/>
        <c:grouping val="clustered"/>
        <c:ser>
          <c:idx val="0"/>
          <c:order val="0"/>
          <c:tx>
            <c:strRef>
              <c:f>Sheet1!$B$1</c:f>
              <c:strCache>
                <c:ptCount val="1"/>
                <c:pt idx="0">
                  <c:v>Appraisal cost</c:v>
                </c:pt>
              </c:strCache>
            </c:strRef>
          </c:tx>
          <c:spPr>
            <a:solidFill>
              <a:srgbClr val="2E4257"/>
            </a:solidFill>
          </c:spPr>
          <c:cat>
            <c:strRef>
              <c:f>Sheet1!$A$2:$A$4</c:f>
              <c:strCache>
                <c:ptCount val="3"/>
                <c:pt idx="0">
                  <c:v>Transmission infrastructure</c:v>
                </c:pt>
                <c:pt idx="1">
                  <c:v>Smart-grid network</c:v>
                </c:pt>
                <c:pt idx="2">
                  <c:v>Capacity building</c:v>
                </c:pt>
              </c:strCache>
            </c:strRef>
          </c:cat>
          <c:val>
            <c:numRef>
              <c:f>Sheet1!$B$2:$B$4</c:f>
              <c:numCache>
                <c:formatCode>0.00</c:formatCode>
                <c:ptCount val="3"/>
                <c:pt idx="0">
                  <c:v>625.0</c:v>
                </c:pt>
                <c:pt idx="1">
                  <c:v>80.0</c:v>
                </c:pt>
                <c:pt idx="2">
                  <c:v>25.0</c:v>
                </c:pt>
              </c:numCache>
            </c:numRef>
          </c:val>
        </c:ser>
        <c:ser>
          <c:idx val="1"/>
          <c:order val="1"/>
          <c:tx>
            <c:strRef>
              <c:f>Sheet1!$C$1</c:f>
              <c:strCache>
                <c:ptCount val="1"/>
                <c:pt idx="0">
                  <c:v>Actual cost</c:v>
                </c:pt>
              </c:strCache>
            </c:strRef>
          </c:tx>
          <c:spPr>
            <a:solidFill>
              <a:srgbClr val="7F93A8"/>
            </a:solidFill>
          </c:spPr>
          <c:cat>
            <c:strRef>
              <c:f>Sheet1!$A$2:$A$4</c:f>
              <c:strCache>
                <c:ptCount val="3"/>
                <c:pt idx="0">
                  <c:v>Transmission infrastructure</c:v>
                </c:pt>
                <c:pt idx="1">
                  <c:v>Smart-grid network</c:v>
                </c:pt>
                <c:pt idx="2">
                  <c:v>Capacity building</c:v>
                </c:pt>
              </c:strCache>
            </c:strRef>
          </c:cat>
          <c:val>
            <c:numRef>
              <c:f>Sheet1!$C$2:$C$4</c:f>
              <c:numCache>
                <c:formatCode>0.00</c:formatCode>
                <c:ptCount val="3"/>
                <c:pt idx="0">
                  <c:v>464.53</c:v>
                </c:pt>
                <c:pt idx="1">
                  <c:v>46.01</c:v>
                </c:pt>
                <c:pt idx="2">
                  <c:v>5.74</c:v>
                </c:pt>
              </c:numCache>
            </c:numRef>
          </c:val>
        </c:ser>
        <c:dLbls>
          <c:numFmt formatCode="0.00" sourceLinked="0"/>
          <c:txPr>
            <a:bodyPr/>
            <a:lstStyle/>
            <a:p>
              <a:pPr>
                <a:defRPr sz="1200">
                  <a:latin typeface="Be Vietnam Pr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1. TEP financing structure: committed/appraised resources versus actual closing expenditure (million USD)</a:t>
            </a:r>
          </a:p>
        </c:rich>
      </c:tx>
      <c:layout/>
      <c:overlay val="0"/>
    </c:title>
    <c:autoTitleDeleted val="0"/>
    <c:plotArea>
      <c:barChart>
        <c:barDir val="col"/>
        <c:grouping val="stacked"/>
        <c:ser>
          <c:idx val="0"/>
          <c:order val="0"/>
          <c:tx>
            <c:strRef>
              <c:f>Sheet1!$B$1</c:f>
              <c:strCache>
                <c:ptCount val="1"/>
                <c:pt idx="0">
                  <c:v>IBRD financing</c:v>
                </c:pt>
              </c:strCache>
            </c:strRef>
          </c:tx>
          <c:spPr>
            <a:solidFill>
              <a:srgbClr val="2E4257"/>
            </a:solidFill>
          </c:spPr>
          <c:dLbls>
            <c:numFmt formatCode="0.00"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Sheet1!$A$2:$A$3</c:f>
              <c:strCache>
                <c:ptCount val="2"/>
                <c:pt idx="0">
                  <c:v>Appraisal financing</c:v>
                </c:pt>
                <c:pt idx="1">
                  <c:v>Actual expenditure</c:v>
                </c:pt>
              </c:strCache>
            </c:strRef>
          </c:cat>
          <c:val>
            <c:numRef>
              <c:f>Sheet1!$B$2:$B$3</c:f>
              <c:numCache>
                <c:formatCode>0.00</c:formatCode>
                <c:ptCount val="2"/>
                <c:pt idx="0">
                  <c:v>500.0</c:v>
                </c:pt>
                <c:pt idx="1">
                  <c:v>318.53</c:v>
                </c:pt>
              </c:numCache>
            </c:numRef>
          </c:val>
        </c:ser>
        <c:ser>
          <c:idx val="1"/>
          <c:order val="1"/>
          <c:tx>
            <c:strRef>
              <c:f>Sheet1!$C$1</c:f>
              <c:strCache>
                <c:ptCount val="1"/>
                <c:pt idx="0">
                  <c:v>Borrower financing</c:v>
                </c:pt>
              </c:strCache>
            </c:strRef>
          </c:tx>
          <c:spPr>
            <a:solidFill>
              <a:srgbClr val="7F93A8"/>
            </a:solidFill>
          </c:spPr>
          <c:dLbls>
            <c:numFmt formatCode="0.00" sourceLinked="0"/>
            <c:txPr>
              <a:bodyPr/>
              <a:lstStyle/>
              <a:p>
                <a:pPr>
                  <a:defRPr sz="1200">
                    <a:solidFill>
                      <a:srgbClr val="2E4257"/>
                    </a:solidFill>
                  </a:defRPr>
                </a:pPr>
              </a:p>
            </c:txPr>
            <c:dLblPos val="ctr"/>
            <c:showLegendKey val="0"/>
            <c:showVal val="0"/>
            <c:showCatName val="0"/>
            <c:showSerName val="0"/>
            <c:showPercent val="0"/>
            <c:showBubbleSize val="0"/>
            <c:showLeaderLines val="1"/>
          </c:dLbls>
          <c:cat>
            <c:strRef>
              <c:f>Sheet1!$A$2:$A$3</c:f>
              <c:strCache>
                <c:ptCount val="2"/>
                <c:pt idx="0">
                  <c:v>Appraisal financing</c:v>
                </c:pt>
                <c:pt idx="1">
                  <c:v>Actual expenditure</c:v>
                </c:pt>
              </c:strCache>
            </c:strRef>
          </c:cat>
          <c:val>
            <c:numRef>
              <c:f>Sheet1!$C$2:$C$3</c:f>
              <c:numCache>
                <c:formatCode>0.00</c:formatCode>
                <c:ptCount val="2"/>
                <c:pt idx="0">
                  <c:v>231.25</c:v>
                </c:pt>
                <c:pt idx="1">
                  <c:v>199.0</c:v>
                </c:pt>
              </c:numCache>
            </c:numRef>
          </c:val>
        </c:ser>
        <c:dLbls>
          <c:numFmt formatCode="0.00" sourceLinked="0"/>
          <c:txPr>
            <a:bodyPr/>
            <a:lstStyle/>
            <a:p>
              <a:pPr>
                <a:defRPr sz="1200">
                  <a:latin typeface="Be Vietnam Pro"/>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3. TEP output achievement relative to original results targets (%)</a:t>
            </a:r>
          </a:p>
        </c:rich>
      </c:tx>
      <c:layout/>
      <c:overlay val="0"/>
    </c:title>
    <c:autoTitleDeleted val="0"/>
    <c:plotArea>
      <c:barChart>
        <c:barDir val="bar"/>
        <c:grouping val="clustered"/>
        <c:ser>
          <c:idx val="0"/>
          <c:order val="0"/>
          <c:tx>
            <c:strRef>
              <c:f>Sheet1!$B$1</c:f>
              <c:strCache>
                <c:ptCount val="1"/>
                <c:pt idx="0">
                  <c:v>Achievement of appraisal target (%)</c:v>
                </c:pt>
              </c:strCache>
            </c:strRef>
          </c:tx>
          <c:spPr>
            <a:solidFill>
              <a:srgbClr val="2E4257"/>
            </a:solidFill>
          </c:spPr>
          <c:cat>
            <c:strRef>
              <c:f>Sheet1!$A$2:$A$6</c:f>
              <c:strCache>
                <c:ptCount val="5"/>
                <c:pt idx="0">
                  <c:v>New lines</c:v>
                </c:pt>
                <c:pt idx="1">
                  <c:v>Rehabilitated lines</c:v>
                </c:pt>
                <c:pt idx="2">
                  <c:v>Transformer capacity</c:v>
                </c:pt>
                <c:pt idx="3">
                  <c:v>500-kV substations</c:v>
                </c:pt>
                <c:pt idx="4">
                  <c:v>220-kV substations</c:v>
                </c:pt>
              </c:strCache>
            </c:strRef>
          </c:cat>
          <c:val>
            <c:numRef>
              <c:f>Sheet1!$B$2:$B$6</c:f>
              <c:numCache>
                <c:formatCode>0.0"%"</c:formatCode>
                <c:ptCount val="5"/>
                <c:pt idx="0">
                  <c:v>106.6</c:v>
                </c:pt>
                <c:pt idx="1">
                  <c:v>217.5</c:v>
                </c:pt>
                <c:pt idx="2">
                  <c:v>107.9</c:v>
                </c:pt>
                <c:pt idx="3">
                  <c:v>100.0</c:v>
                </c:pt>
                <c:pt idx="4">
                  <c:v>90.9</c:v>
                </c:pt>
              </c:numCache>
            </c:numRef>
          </c:val>
        </c:ser>
        <c:dLbls>
          <c:numFmt formatCode="0.0&quot;%&quot;" sourceLinked="0"/>
          <c:txPr>
            <a:bodyPr/>
            <a:lstStyle/>
            <a:p>
              <a:pPr>
                <a:defRPr sz="1200">
                  <a:latin typeface="Be Vietnam Pr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ax val="250.0"/>
          <c:min val="0.0"/>
        </c:scaling>
        <c:delete val="0"/>
        <c:axPos val="b"/>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Electricity transmitted by the NPT system (TWh)</a:t>
            </a:r>
          </a:p>
        </c:rich>
      </c:tx>
      <c:layout/>
      <c:overlay val="0"/>
    </c:title>
    <c:autoTitleDeleted val="0"/>
    <c:plotArea>
      <c:barChart>
        <c:barDir val="col"/>
        <c:grouping val="clustered"/>
        <c:ser>
          <c:idx val="0"/>
          <c:order val="0"/>
          <c:tx>
            <c:strRef>
              <c:f>Sheet1!$B$1</c:f>
              <c:strCache>
                <c:ptCount val="1"/>
                <c:pt idx="0">
                  <c:v>Electricity transmitted (TWh)</c:v>
                </c:pt>
              </c:strCache>
            </c:strRef>
          </c:tx>
          <c:spPr>
            <a:solidFill>
              <a:srgbClr val="2E4257"/>
            </a:solidFill>
          </c:spPr>
          <c:cat>
            <c:strRef>
              <c:f>Sheet1!$A$2:$A$4</c:f>
              <c:strCache>
                <c:ptCount val="3"/>
                <c:pt idx="0">
                  <c:v>2018</c:v>
                </c:pt>
                <c:pt idx="1">
                  <c:v>2021</c:v>
                </c:pt>
                <c:pt idx="2">
                  <c:v>2022</c:v>
                </c:pt>
              </c:strCache>
            </c:strRef>
          </c:cat>
          <c:val>
            <c:numRef>
              <c:f>Sheet1!$B$2:$B$4</c:f>
              <c:numCache>
                <c:formatCode>0.00</c:formatCode>
                <c:ptCount val="3"/>
                <c:pt idx="0">
                  <c:v>184.5</c:v>
                </c:pt>
                <c:pt idx="1">
                  <c:v>200.86</c:v>
                </c:pt>
                <c:pt idx="2">
                  <c:v>211.47</c:v>
                </c:pt>
              </c:numCache>
            </c:numRef>
          </c:val>
        </c:ser>
        <c:dLbls>
          <c:numFmt formatCode="0.00" sourceLinked="0"/>
          <c:txPr>
            <a:bodyPr/>
            <a:lstStyle/>
            <a:p>
              <a:pPr>
                <a:defRPr sz="1200">
                  <a:latin typeface="Be Vietnam Pr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4. Vietnam’s electricity transmission loss ratio, 2015-2022 (%)</a:t>
            </a:r>
          </a:p>
        </c:rich>
      </c:tx>
      <c:layout/>
      <c:overlay val="0"/>
    </c:title>
    <c:autoTitleDeleted val="0"/>
    <c:plotArea>
      <c:lineChart>
        <c:grouping val="standard"/>
        <c:varyColors val="0"/>
        <c:ser>
          <c:idx val="0"/>
          <c:order val="0"/>
          <c:tx>
            <c:strRef>
              <c:f>Sheet1!$B$1</c:f>
              <c:strCache>
                <c:ptCount val="1"/>
                <c:pt idx="0">
                  <c:v>Transmission loss ratio (%)</c:v>
                </c:pt>
              </c:strCache>
            </c:strRef>
          </c:tx>
          <c:spPr>
            <a:ln w="31750">
              <a:solidFill>
                <a:srgbClr val="2E4257"/>
              </a:solidFill>
            </a:ln>
          </c:spPr>
          <c:marker>
            <c:spPr>
              <a:solidFill>
                <a:srgbClr val="B4432F"/>
              </a:solidFill>
            </c:spPr>
          </c:marker>
          <c:cat>
            <c:strRef>
              <c:f>Sheet1!$A$2:$A$9</c:f>
              <c:strCache>
                <c:ptCount val="8"/>
                <c:pt idx="0">
                  <c:v>2015</c:v>
                </c:pt>
                <c:pt idx="1">
                  <c:v>2016</c:v>
                </c:pt>
                <c:pt idx="2">
                  <c:v>2017</c:v>
                </c:pt>
                <c:pt idx="3">
                  <c:v>2018</c:v>
                </c:pt>
                <c:pt idx="4">
                  <c:v>2019</c:v>
                </c:pt>
                <c:pt idx="5">
                  <c:v>2020</c:v>
                </c:pt>
                <c:pt idx="6">
                  <c:v>2021</c:v>
                </c:pt>
                <c:pt idx="7">
                  <c:v>2022</c:v>
                </c:pt>
              </c:strCache>
            </c:strRef>
          </c:cat>
          <c:val>
            <c:numRef>
              <c:f>Sheet1!$B$2:$B$9</c:f>
              <c:numCache>
                <c:formatCode>0.00</c:formatCode>
                <c:ptCount val="8"/>
                <c:pt idx="0">
                  <c:v>2.34</c:v>
                </c:pt>
                <c:pt idx="1">
                  <c:v>2.36</c:v>
                </c:pt>
                <c:pt idx="2">
                  <c:v>2.45</c:v>
                </c:pt>
                <c:pt idx="3">
                  <c:v>2.44</c:v>
                </c:pt>
                <c:pt idx="4">
                  <c:v>2.15</c:v>
                </c:pt>
                <c:pt idx="5">
                  <c:v>2.23</c:v>
                </c:pt>
                <c:pt idx="6">
                  <c:v>2.29</c:v>
                </c:pt>
                <c:pt idx="7">
                  <c:v>2.54</c:v>
                </c:pt>
              </c:numCache>
            </c:numRef>
          </c:val>
          <c:smooth val="0"/>
        </c:ser>
        <c:dLbls>
          <c:numFmt formatCode="0.00" sourceLinked="0"/>
          <c:txPr>
            <a:bodyPr/>
            <a:lstStyle/>
            <a:p>
              <a:pPr>
                <a:defRPr sz="1200">
                  <a:latin typeface="Be Vietnam Pro"/>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40495176"/>
        <c:crosses val="autoZero"/>
        <c:auto val="1"/>
        <c:lblAlgn val="ctr"/>
        <c:lblOffset val="100"/>
        <c:noMultiLvlLbl val="0"/>
      </c:catAx>
      <c:valAx>
        <c:axId val="2140495176"/>
        <c:scaling>
          <c:max val="2.7"/>
          <c:min val="2.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118791784"/>
        <c:crosses val="autoZero"/>
      </c:valAx>
    </c:plotArea>
    <c:plotVisOnly val="1"/>
    <c:dispBlanksAs val="gap"/>
    <c:showDLblsOverMax val="0"/>
  </c:chart>
  <c:txPr>
    <a:bodyPr/>
    <a:lstStyle/>
    <a:p>
      <a:pPr>
        <a:defRPr sz="1300">
          <a:solidFill>
            <a:srgbClr val="2E4257"/>
          </a:solidFill>
          <a:latin typeface="Be Vietnam Pr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b="1">
                <a:solidFill>
                  <a:srgbClr val="2E4257"/>
                </a:solidFill>
                <a:latin typeface="Be Vietnam Pro"/>
              </a:rPr>
              <a:t>Figure 5. Project financing structure as planned at appraisal</a:t>
            </a:r>
          </a:p>
        </c:rich>
      </c:tx>
      <c:layout/>
      <c:overlay val="0"/>
    </c:title>
    <c:autoTitleDeleted val="0"/>
    <c:plotArea>
      <c:layout/>
      <c:doughnutChart>
        <c:varyColors val="1"/>
        <c:ser>
          <c:idx val="0"/>
          <c:order val="0"/>
          <c:tx>
            <c:strRef>
              <c:f>Sheet1!$B$1</c:f>
              <c:strCache>
                <c:ptCount val="1"/>
                <c:pt idx="0">
                  <c:v>Share of total project cost (%)</c:v>
                </c:pt>
              </c:strCache>
            </c:strRef>
          </c:tx>
          <c:dPt>
            <c:idx val="0"/>
            <c:spPr>
              <a:solidFill>
                <a:srgbClr val="2E4257"/>
              </a:solidFill>
            </c:spPr>
          </c:dPt>
          <c:dPt>
            <c:idx val="1"/>
            <c:spPr>
              <a:solidFill>
                <a:srgbClr val="7F93A8"/>
              </a:solidFill>
            </c:spPr>
          </c:dPt>
          <c:dPt>
            <c:idx val="2"/>
            <c:spPr>
              <a:solidFill>
                <a:srgbClr val="C9B48A"/>
              </a:solidFill>
            </c:spPr>
          </c:dPt>
          <c:cat>
            <c:strRef>
              <c:f>Sheet1!$A$2:$A$4</c:f>
              <c:strCache>
                <c:ptCount val="3"/>
                <c:pt idx="0">
                  <c:v>IBRD</c:v>
                </c:pt>
                <c:pt idx="1">
                  <c:v>IDA</c:v>
                </c:pt>
                <c:pt idx="2">
                  <c:v>Counterpart funding</c:v>
                </c:pt>
              </c:strCache>
            </c:strRef>
          </c:cat>
          <c:val>
            <c:numRef>
              <c:f>Sheet1!$B$2:$B$4</c:f>
              <c:numCache>
                <c:formatCode>0.0"%"</c:formatCode>
                <c:ptCount val="3"/>
                <c:pt idx="0">
                  <c:v>16.8</c:v>
                </c:pt>
                <c:pt idx="1">
                  <c:v>69.5</c:v>
                </c:pt>
                <c:pt idx="2">
                  <c:v>13.7</c:v>
                </c:pt>
              </c:numCache>
            </c:numRef>
          </c:val>
        </c:ser>
        <c:dLbls>
          <c:numFmt formatCode="0.0&quot;%&quot;" sourceLinked="0"/>
          <c:txPr>
            <a:bodyPr/>
            <a:lstStyle/>
            <a:p>
              <a:pPr>
                <a:defRPr sz="1200">
                  <a:latin typeface="Be Vietnam Pro"/>
                </a:defRPr>
              </a:pPr>
            </a:p>
          </c:txPr>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300">
              <a:latin typeface="Be Vietnam Pro"/>
            </a:defRPr>
          </a:pPr>
        </a:p>
      </c:txPr>
    </c:legend>
    <c:plotVisOnly val="1"/>
    <c:dispBlanksAs val="gap"/>
    <c:showDLblsOverMax val="0"/>
  </c:chart>
  <c:txPr>
    <a:bodyPr/>
    <a:lstStyle/>
    <a:p>
      <a:pPr>
        <a:defRPr sz="1300">
          <a:solidFill>
            <a:srgbClr val="2E4257"/>
          </a:solidFill>
          <a:latin typeface="Be Vietnam Pro"/>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6. Share of on-granting and on-lending by financing source</a:t>
            </a:r>
          </a:p>
        </c:rich>
      </c:tx>
      <c:layout/>
      <c:overlay val="0"/>
    </c:title>
    <c:autoTitleDeleted val="0"/>
    <c:plotArea>
      <c:barChart>
        <c:barDir val="bar"/>
        <c:grouping val="percentStacked"/>
        <c:ser>
          <c:idx val="0"/>
          <c:order val="0"/>
          <c:tx>
            <c:strRef>
              <c:f>Sheet1!$B$1</c:f>
              <c:strCache>
                <c:ptCount val="1"/>
                <c:pt idx="0">
                  <c:v>On-granted (%)</c:v>
                </c:pt>
              </c:strCache>
            </c:strRef>
          </c:tx>
          <c:spPr>
            <a:solidFill>
              <a:srgbClr val="2E4257"/>
            </a:solidFill>
          </c:spPr>
          <c:invertIfNegative val="0"/>
          <c:dLbls>
            <c:numFmt formatCode="0&quot;%&quot;"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Sheet1!$A$2:$A$6</c:f>
              <c:strCache>
                <c:ptCount val="5"/>
                <c:pt idx="0">
                  <c:v>IBRD loan (all four cities)</c:v>
                </c:pt>
                <c:pt idx="1">
                  <c:v>IDA credit – Dong Hoi</c:v>
                </c:pt>
                <c:pt idx="2">
                  <c:v>IDA credit – Phan Rang</c:v>
                </c:pt>
                <c:pt idx="3">
                  <c:v>IDA credit – Quy Nhon</c:v>
                </c:pt>
                <c:pt idx="4">
                  <c:v>IDA credit – Nha Trang</c:v>
                </c:pt>
              </c:strCache>
            </c:strRef>
          </c:cat>
          <c:val>
            <c:numRef>
              <c:f>Sheet1!$B$2:$B$6</c:f>
              <c:numCache>
                <c:formatCode>0"%"</c:formatCode>
                <c:ptCount val="5"/>
                <c:pt idx="0">
                  <c:v>0</c:v>
                </c:pt>
                <c:pt idx="1">
                  <c:v>80</c:v>
                </c:pt>
                <c:pt idx="2">
                  <c:v>80</c:v>
                </c:pt>
                <c:pt idx="3">
                  <c:v>70</c:v>
                </c:pt>
                <c:pt idx="4">
                  <c:v>50</c:v>
                </c:pt>
              </c:numCache>
            </c:numRef>
          </c:val>
        </c:ser>
        <c:ser>
          <c:idx val="1"/>
          <c:order val="1"/>
          <c:tx>
            <c:strRef>
              <c:f>Sheet1!$C$1</c:f>
              <c:strCache>
                <c:ptCount val="1"/>
                <c:pt idx="0">
                  <c:v>On-lent (%)</c:v>
                </c:pt>
              </c:strCache>
            </c:strRef>
          </c:tx>
          <c:spPr>
            <a:solidFill>
              <a:srgbClr val="7F93A8"/>
            </a:solidFill>
          </c:spPr>
          <c:invertIfNegative val="0"/>
          <c:dLbls>
            <c:numFmt formatCode="0&quot;%&quot;" sourceLinked="0"/>
            <c:txPr>
              <a:bodyPr/>
              <a:lstStyle/>
              <a:p>
                <a:pPr>
                  <a:defRPr sz="1200">
                    <a:solidFill>
                      <a:srgbClr val="2E4257"/>
                    </a:solidFill>
                  </a:defRPr>
                </a:pPr>
              </a:p>
            </c:txPr>
            <c:dLblPos val="ctr"/>
            <c:showLegendKey val="0"/>
            <c:showVal val="0"/>
            <c:showCatName val="0"/>
            <c:showSerName val="0"/>
            <c:showPercent val="0"/>
            <c:showBubbleSize val="0"/>
            <c:showLeaderLines val="1"/>
          </c:dLbls>
          <c:cat>
            <c:strRef>
              <c:f>Sheet1!$A$2:$A$6</c:f>
              <c:strCache>
                <c:ptCount val="5"/>
                <c:pt idx="0">
                  <c:v>IBRD loan (all four cities)</c:v>
                </c:pt>
                <c:pt idx="1">
                  <c:v>IDA credit – Dong Hoi</c:v>
                </c:pt>
                <c:pt idx="2">
                  <c:v>IDA credit – Phan Rang</c:v>
                </c:pt>
                <c:pt idx="3">
                  <c:v>IDA credit – Quy Nhon</c:v>
                </c:pt>
                <c:pt idx="4">
                  <c:v>IDA credit – Nha Trang</c:v>
                </c:pt>
              </c:strCache>
            </c:strRef>
          </c:cat>
          <c:val>
            <c:numRef>
              <c:f>Sheet1!$C$2:$C$6</c:f>
              <c:numCache>
                <c:formatCode>0"%"</c:formatCode>
                <c:ptCount val="5"/>
                <c:pt idx="0">
                  <c:v>100</c:v>
                </c:pt>
                <c:pt idx="1">
                  <c:v>20</c:v>
                </c:pt>
                <c:pt idx="2">
                  <c:v>20</c:v>
                </c:pt>
                <c:pt idx="3">
                  <c:v>30</c:v>
                </c:pt>
                <c:pt idx="4">
                  <c:v>50</c:v>
                </c:pt>
              </c:numCache>
            </c:numRef>
          </c:val>
        </c:ser>
        <c:dLbls>
          <c:numFmt formatCode="0&quot;%&quot;" sourceLinked="0"/>
          <c:txPr>
            <a:bodyPr/>
            <a:lstStyle/>
            <a:p>
              <a:pPr>
                <a:defRPr sz="1200">
                  <a:latin typeface="Be Vietnam Pro"/>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axMin"/>
        </c:scaling>
        <c:delete val="0"/>
        <c:axPos val="l"/>
        <c:majorTickMark val="out"/>
        <c:minorTickMark val="none"/>
        <c:tickLblPos val="nextTo"/>
        <c:spPr>
          <a:ln>
            <a:solidFill>
              <a:srgbClr val="4B5A69"/>
            </a:solidFill>
          </a:ln>
        </c:spPr>
        <c:txPr>
          <a:bodyPr/>
          <a:lstStyle/>
          <a:p>
            <a:pPr>
              <a:defRPr sz="1300">
                <a:latin typeface="Be Vietnam Pro"/>
              </a:defRPr>
            </a:pPr>
          </a:p>
        </c:txPr>
        <c:crossAx val="-2113994440"/>
        <c:crosses val="autoZero"/>
        <c:auto val="1"/>
        <c:lblAlgn val="ctr"/>
        <c:lblOffset val="100"/>
        <c:noMultiLvlLbl val="0"/>
      </c:catAx>
      <c:valAx>
        <c:axId val="-2113994440"/>
        <c:scaling>
          <c:min val="0.0"/>
        </c:scaling>
        <c:delete val="0"/>
        <c:axPos val="b"/>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7. Sources of funding by city (million USD)</a:t>
            </a:r>
          </a:p>
        </c:rich>
      </c:tx>
      <c:layout/>
      <c:overlay val="0"/>
    </c:title>
    <c:autoTitleDeleted val="0"/>
    <c:plotArea>
      <c:barChart>
        <c:barDir val="col"/>
        <c:grouping val="stacked"/>
        <c:ser>
          <c:idx val="0"/>
          <c:order val="0"/>
          <c:tx>
            <c:strRef>
              <c:f>Sheet1!$B$1</c:f>
              <c:strCache>
                <c:ptCount val="1"/>
                <c:pt idx="0">
                  <c:v>IDA on-granted</c:v>
                </c:pt>
              </c:strCache>
            </c:strRef>
          </c:tx>
          <c:spPr>
            <a:solidFill>
              <a:srgbClr val="2E4257"/>
            </a:solidFill>
          </c:spPr>
          <c:dLbls>
            <c:numFmt formatCode="0.0"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Sheet1!$A$2:$A$5</c:f>
              <c:strCache>
                <c:ptCount val="4"/>
                <c:pt idx="0">
                  <c:v>Dong Hoi</c:v>
                </c:pt>
                <c:pt idx="1">
                  <c:v>Nha Trang</c:v>
                </c:pt>
                <c:pt idx="2">
                  <c:v>Phan Rang–Thap Cham</c:v>
                </c:pt>
                <c:pt idx="3">
                  <c:v>Quy Nhon</c:v>
                </c:pt>
              </c:strCache>
            </c:strRef>
          </c:cat>
          <c:val>
            <c:numRef>
              <c:f>Sheet1!$B$2:$B$5</c:f>
              <c:numCache>
                <c:formatCode>0.0</c:formatCode>
                <c:ptCount val="4"/>
                <c:pt idx="0">
                  <c:v>28.7</c:v>
                </c:pt>
                <c:pt idx="1">
                  <c:v>22.1</c:v>
                </c:pt>
                <c:pt idx="2">
                  <c:v>52.1</c:v>
                </c:pt>
                <c:pt idx="3">
                  <c:v>31.5</c:v>
                </c:pt>
              </c:numCache>
            </c:numRef>
          </c:val>
        </c:ser>
        <c:ser>
          <c:idx val="1"/>
          <c:order val="1"/>
          <c:tx>
            <c:strRef>
              <c:f>Sheet1!$C$1</c:f>
              <c:strCache>
                <c:ptCount val="1"/>
                <c:pt idx="0">
                  <c:v>IDA on-lent</c:v>
                </c:pt>
              </c:strCache>
            </c:strRef>
          </c:tx>
          <c:spPr>
            <a:solidFill>
              <a:srgbClr val="7F93A8"/>
            </a:solidFill>
          </c:spPr>
          <c:dLbls>
            <c:numFmt formatCode="0.0" sourceLinked="0"/>
            <c:txPr>
              <a:bodyPr/>
              <a:lstStyle/>
              <a:p>
                <a:pPr>
                  <a:defRPr sz="1200">
                    <a:solidFill>
                      <a:srgbClr val="2E4257"/>
                    </a:solidFill>
                  </a:defRPr>
                </a:pPr>
              </a:p>
            </c:txPr>
            <c:dLblPos val="ctr"/>
            <c:showLegendKey val="0"/>
            <c:showVal val="0"/>
            <c:showCatName val="0"/>
            <c:showSerName val="0"/>
            <c:showPercent val="0"/>
            <c:showBubbleSize val="0"/>
            <c:showLeaderLines val="1"/>
          </c:dLbls>
          <c:cat>
            <c:strRef>
              <c:f>Sheet1!$A$2:$A$5</c:f>
              <c:strCache>
                <c:ptCount val="4"/>
                <c:pt idx="0">
                  <c:v>Dong Hoi</c:v>
                </c:pt>
                <c:pt idx="1">
                  <c:v>Nha Trang</c:v>
                </c:pt>
                <c:pt idx="2">
                  <c:v>Phan Rang–Thap Cham</c:v>
                </c:pt>
                <c:pt idx="3">
                  <c:v>Quy Nhon</c:v>
                </c:pt>
              </c:strCache>
            </c:strRef>
          </c:cat>
          <c:val>
            <c:numRef>
              <c:f>Sheet1!$C$2:$C$5</c:f>
              <c:numCache>
                <c:formatCode>0.0</c:formatCode>
                <c:ptCount val="4"/>
                <c:pt idx="0">
                  <c:v>7.2</c:v>
                </c:pt>
                <c:pt idx="1">
                  <c:v>22.1</c:v>
                </c:pt>
                <c:pt idx="2">
                  <c:v>13.0</c:v>
                </c:pt>
                <c:pt idx="3">
                  <c:v>13.5</c:v>
                </c:pt>
              </c:numCache>
            </c:numRef>
          </c:val>
        </c:ser>
        <c:ser>
          <c:idx val="2"/>
          <c:order val="2"/>
          <c:tx>
            <c:strRef>
              <c:f>Sheet1!$D$1</c:f>
              <c:strCache>
                <c:ptCount val="1"/>
                <c:pt idx="0">
                  <c:v>IBRD (100% on-lent)</c:v>
                </c:pt>
              </c:strCache>
            </c:strRef>
          </c:tx>
          <c:spPr>
            <a:solidFill>
              <a:srgbClr val="C9B48A"/>
            </a:solidFill>
          </c:spPr>
          <c:cat>
            <c:strRef>
              <c:f>Sheet1!$A$2:$A$5</c:f>
              <c:strCache>
                <c:ptCount val="4"/>
                <c:pt idx="0">
                  <c:v>Dong Hoi</c:v>
                </c:pt>
                <c:pt idx="1">
                  <c:v>Nha Trang</c:v>
                </c:pt>
                <c:pt idx="2">
                  <c:v>Phan Rang–Thap Cham</c:v>
                </c:pt>
                <c:pt idx="3">
                  <c:v>Quy Nhon</c:v>
                </c:pt>
              </c:strCache>
            </c:strRef>
          </c:cat>
          <c:val>
            <c:numRef>
              <c:f>Sheet1!$D$2:$D$5</c:f>
              <c:numCache>
                <c:formatCode>0.0</c:formatCode>
                <c:ptCount val="4"/>
                <c:pt idx="0">
                  <c:v>14.3</c:v>
                </c:pt>
                <c:pt idx="1">
                  <c:v>16.4</c:v>
                </c:pt>
                <c:pt idx="2">
                  <c:v>10.2</c:v>
                </c:pt>
                <c:pt idx="3">
                  <c:v>5.1</c:v>
                </c:pt>
              </c:numCache>
            </c:numRef>
          </c:val>
        </c:ser>
        <c:ser>
          <c:idx val="3"/>
          <c:order val="3"/>
          <c:tx>
            <c:strRef>
              <c:f>Sheet1!$E$1</c:f>
              <c:strCache>
                <c:ptCount val="1"/>
                <c:pt idx="0">
                  <c:v>Counterpart funding</c:v>
                </c:pt>
              </c:strCache>
            </c:strRef>
          </c:tx>
          <c:spPr>
            <a:solidFill>
              <a:srgbClr val="B4432F"/>
            </a:solidFill>
          </c:spPr>
          <c:dLbls>
            <c:numFmt formatCode="0.0"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Sheet1!$A$2:$A$5</c:f>
              <c:strCache>
                <c:ptCount val="4"/>
                <c:pt idx="0">
                  <c:v>Dong Hoi</c:v>
                </c:pt>
                <c:pt idx="1">
                  <c:v>Nha Trang</c:v>
                </c:pt>
                <c:pt idx="2">
                  <c:v>Phan Rang–Thap Cham</c:v>
                </c:pt>
                <c:pt idx="3">
                  <c:v>Quy Nhon</c:v>
                </c:pt>
              </c:strCache>
            </c:strRef>
          </c:cat>
          <c:val>
            <c:numRef>
              <c:f>Sheet1!$E$2:$E$5</c:f>
              <c:numCache>
                <c:formatCode>0.0</c:formatCode>
                <c:ptCount val="4"/>
                <c:pt idx="0">
                  <c:v>8.2</c:v>
                </c:pt>
                <c:pt idx="1">
                  <c:v>11.4</c:v>
                </c:pt>
                <c:pt idx="2">
                  <c:v>12.7</c:v>
                </c:pt>
                <c:pt idx="3">
                  <c:v>5.2</c:v>
                </c:pt>
              </c:numCache>
            </c:numRef>
          </c:val>
        </c:ser>
        <c:dLbls>
          <c:numFmt formatCode="0.0" sourceLinked="0"/>
          <c:txPr>
            <a:bodyPr/>
            <a:lstStyle/>
            <a:p>
              <a:pPr>
                <a:defRPr sz="1200">
                  <a:latin typeface="Be Vietnam Pro"/>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Figure 8. Total funding by city: plan vs. adjusted (million USD)</a:t>
            </a:r>
          </a:p>
        </c:rich>
      </c:tx>
      <c:layout/>
      <c:overlay val="0"/>
    </c:title>
    <c:autoTitleDeleted val="0"/>
    <c:plotArea>
      <c:barChart>
        <c:barDir val="col"/>
        <c:grouping val="clustered"/>
        <c:ser>
          <c:idx val="0"/>
          <c:order val="0"/>
          <c:tx>
            <c:strRef>
              <c:f>Sheet1!$B$1</c:f>
              <c:strCache>
                <c:ptCount val="1"/>
                <c:pt idx="0">
                  <c:v>Plan</c:v>
                </c:pt>
              </c:strCache>
            </c:strRef>
          </c:tx>
          <c:spPr>
            <a:solidFill>
              <a:srgbClr val="2E4257"/>
            </a:solidFill>
          </c:spPr>
          <c:cat>
            <c:strRef>
              <c:f>Sheet1!$A$2:$A$5</c:f>
              <c:strCache>
                <c:ptCount val="4"/>
                <c:pt idx="0">
                  <c:v>Dong Hoi</c:v>
                </c:pt>
                <c:pt idx="1">
                  <c:v>Quy Nhon</c:v>
                </c:pt>
                <c:pt idx="2">
                  <c:v>Nha Trang</c:v>
                </c:pt>
                <c:pt idx="3">
                  <c:v>Phan Rang–Thap Cham</c:v>
                </c:pt>
              </c:strCache>
            </c:strRef>
          </c:cat>
          <c:val>
            <c:numRef>
              <c:f>Sheet1!$B$2:$B$5</c:f>
              <c:numCache>
                <c:formatCode>0.0</c:formatCode>
                <c:ptCount val="4"/>
                <c:pt idx="0">
                  <c:v>58.4</c:v>
                </c:pt>
                <c:pt idx="1">
                  <c:v>55.3</c:v>
                </c:pt>
                <c:pt idx="2">
                  <c:v>72.0</c:v>
                </c:pt>
                <c:pt idx="3">
                  <c:v>87.9</c:v>
                </c:pt>
              </c:numCache>
            </c:numRef>
          </c:val>
        </c:ser>
        <c:ser>
          <c:idx val="1"/>
          <c:order val="1"/>
          <c:tx>
            <c:strRef>
              <c:f>Sheet1!$C$1</c:f>
              <c:strCache>
                <c:ptCount val="1"/>
                <c:pt idx="0">
                  <c:v>Adjusted</c:v>
                </c:pt>
              </c:strCache>
            </c:strRef>
          </c:tx>
          <c:spPr>
            <a:solidFill>
              <a:srgbClr val="7F93A8"/>
            </a:solidFill>
          </c:spPr>
          <c:cat>
            <c:strRef>
              <c:f>Sheet1!$A$2:$A$5</c:f>
              <c:strCache>
                <c:ptCount val="4"/>
                <c:pt idx="0">
                  <c:v>Dong Hoi</c:v>
                </c:pt>
                <c:pt idx="1">
                  <c:v>Quy Nhon</c:v>
                </c:pt>
                <c:pt idx="2">
                  <c:v>Nha Trang</c:v>
                </c:pt>
                <c:pt idx="3">
                  <c:v>Phan Rang–Thap Cham</c:v>
                </c:pt>
              </c:strCache>
            </c:strRef>
          </c:cat>
          <c:val>
            <c:numRef>
              <c:f>Sheet1!$C$2:$C$5</c:f>
              <c:numCache>
                <c:formatCode>0.0</c:formatCode>
                <c:ptCount val="4"/>
                <c:pt idx="1">
                  <c:v>33.2</c:v>
                </c:pt>
                <c:pt idx="3">
                  <c:v>97.9</c:v>
                </c:pt>
              </c:numCache>
            </c:numRef>
          </c:val>
        </c:ser>
        <c:dLbls>
          <c:numFmt formatCode="0.0" sourceLinked="0"/>
          <c:txPr>
            <a:bodyPr/>
            <a:lstStyle/>
            <a:p>
              <a:pPr>
                <a:defRPr sz="1200">
                  <a:latin typeface="Be Vietnam Pr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E4257"/>
                </a:solidFill>
                <a:latin typeface="Be Vietnam Pro"/>
              </a:rPr>
              <a:t>CCSEP disbursement: PAD projection vs. reported by late 2022 (million USD)</a:t>
            </a:r>
          </a:p>
        </c:rich>
      </c:tx>
      <c:layout/>
      <c:overlay val="0"/>
    </c:title>
    <c:autoTitleDeleted val="0"/>
    <c:plotArea>
      <c:barChart>
        <c:barDir val="col"/>
        <c:grouping val="stacked"/>
        <c:ser>
          <c:idx val="0"/>
          <c:order val="0"/>
          <c:tx>
            <c:strRef>
              <c:f>Sheet1!$B$1</c:f>
              <c:strCache>
                <c:ptCount val="1"/>
                <c:pt idx="0">
                  <c:v>Total (PAD projection)</c:v>
                </c:pt>
              </c:strCache>
            </c:strRef>
          </c:tx>
          <c:spPr>
            <a:solidFill>
              <a:srgbClr val="2E4257"/>
            </a:solidFill>
          </c:spPr>
          <c:dLbls>
            <c:numFmt formatCode="0.00" sourceLinked="0"/>
            <c:txPr>
              <a:bodyPr/>
              <a:lstStyle/>
              <a:p>
                <a:pPr>
                  <a:defRPr sz="1200">
                    <a:solidFill>
                      <a:srgbClr val="FFFFFF"/>
                    </a:solidFill>
                  </a:defRPr>
                </a:pPr>
              </a:p>
            </c:txPr>
            <c:dLblPos val="ctr"/>
            <c:showLegendKey val="0"/>
            <c:showVal val="0"/>
            <c:showCatName val="0"/>
            <c:showSerName val="0"/>
            <c:showPercent val="0"/>
            <c:showBubbleSize val="0"/>
            <c:showLeaderLines val="1"/>
          </c:dLbls>
          <c:cat>
            <c:strRef>
              <c:f>Sheet1!$A$2:$A$3</c:f>
              <c:strCache>
                <c:ptCount val="2"/>
                <c:pt idx="0">
                  <c:v>PAD projection (end FY2022)</c:v>
                </c:pt>
                <c:pt idx="1">
                  <c:v>Disbursed by late 2022</c:v>
                </c:pt>
              </c:strCache>
            </c:strRef>
          </c:cat>
          <c:val>
            <c:numRef>
              <c:f>Sheet1!$B$2:$B$3</c:f>
              <c:numCache>
                <c:formatCode>0.00</c:formatCode>
                <c:ptCount val="2"/>
                <c:pt idx="0">
                  <c:v>212.3</c:v>
                </c:pt>
              </c:numCache>
            </c:numRef>
          </c:val>
        </c:ser>
        <c:ser>
          <c:idx val="1"/>
          <c:order val="1"/>
          <c:tx>
            <c:strRef>
              <c:f>Sheet1!$C$1</c:f>
              <c:strCache>
                <c:ptCount val="1"/>
                <c:pt idx="0">
                  <c:v>IBRD</c:v>
                </c:pt>
              </c:strCache>
            </c:strRef>
          </c:tx>
          <c:spPr>
            <a:solidFill>
              <a:srgbClr val="7F93A8"/>
            </a:solidFill>
          </c:spPr>
          <c:dLbls>
            <c:numFmt formatCode="0.00" sourceLinked="0"/>
            <c:txPr>
              <a:bodyPr/>
              <a:lstStyle/>
              <a:p>
                <a:pPr>
                  <a:defRPr sz="1200">
                    <a:solidFill>
                      <a:srgbClr val="2E4257"/>
                    </a:solidFill>
                  </a:defRPr>
                </a:pPr>
              </a:p>
            </c:txPr>
            <c:dLblPos val="ctr"/>
            <c:showLegendKey val="0"/>
            <c:showVal val="0"/>
            <c:showCatName val="0"/>
            <c:showSerName val="0"/>
            <c:showPercent val="0"/>
            <c:showBubbleSize val="0"/>
            <c:showLeaderLines val="1"/>
          </c:dLbls>
          <c:cat>
            <c:strRef>
              <c:f>Sheet1!$A$2:$A$3</c:f>
              <c:strCache>
                <c:ptCount val="2"/>
                <c:pt idx="0">
                  <c:v>PAD projection (end FY2022)</c:v>
                </c:pt>
                <c:pt idx="1">
                  <c:v>Disbursed by late 2022</c:v>
                </c:pt>
              </c:strCache>
            </c:strRef>
          </c:cat>
          <c:val>
            <c:numRef>
              <c:f>Sheet1!$C$2:$C$3</c:f>
              <c:numCache>
                <c:formatCode>0.00</c:formatCode>
                <c:ptCount val="2"/>
                <c:pt idx="1">
                  <c:v>16.47</c:v>
                </c:pt>
              </c:numCache>
            </c:numRef>
          </c:val>
        </c:ser>
        <c:ser>
          <c:idx val="2"/>
          <c:order val="2"/>
          <c:tx>
            <c:strRef>
              <c:f>Sheet1!$D$1</c:f>
              <c:strCache>
                <c:ptCount val="1"/>
                <c:pt idx="0">
                  <c:v>IDA</c:v>
                </c:pt>
              </c:strCache>
            </c:strRef>
          </c:tx>
          <c:spPr>
            <a:solidFill>
              <a:srgbClr val="C9B48A"/>
            </a:solidFill>
          </c:spPr>
          <c:cat>
            <c:strRef>
              <c:f>Sheet1!$A$2:$A$3</c:f>
              <c:strCache>
                <c:ptCount val="2"/>
                <c:pt idx="0">
                  <c:v>PAD projection (end FY2022)</c:v>
                </c:pt>
                <c:pt idx="1">
                  <c:v>Disbursed by late 2022</c:v>
                </c:pt>
              </c:strCache>
            </c:strRef>
          </c:cat>
          <c:val>
            <c:numRef>
              <c:f>Sheet1!$D$2:$D$3</c:f>
              <c:numCache>
                <c:formatCode>0.00</c:formatCode>
                <c:ptCount val="2"/>
                <c:pt idx="1">
                  <c:v>68.34</c:v>
                </c:pt>
              </c:numCache>
            </c:numRef>
          </c:val>
        </c:ser>
        <c:dLbls>
          <c:numFmt formatCode="0.00" sourceLinked="0"/>
          <c:txPr>
            <a:bodyPr/>
            <a:lstStyle/>
            <a:p>
              <a:pPr>
                <a:defRPr sz="1200">
                  <a:latin typeface="Be Vietnam Pro"/>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4B5A69"/>
            </a:solidFill>
          </a:ln>
        </c:spPr>
        <c:txPr>
          <a:bodyPr/>
          <a:lstStyle/>
          <a:p>
            <a:pPr>
              <a:defRPr sz="1200">
                <a:latin typeface="Be Vietnam Pro"/>
              </a:defRPr>
            </a:pPr>
          </a:p>
        </c:txPr>
        <c:crossAx val="-2113994440"/>
        <c:crosses val="autoZero"/>
        <c:auto val="1"/>
        <c:lblAlgn val="ctr"/>
        <c:lblOffset val="100"/>
        <c:noMultiLvlLbl val="0"/>
      </c:catAx>
      <c:valAx>
        <c:axId val="-2113994440"/>
        <c:scaling>
          <c:min val="0.0"/>
        </c:scaling>
        <c:delete val="0"/>
        <c:axPos val="l"/>
        <c:majorGridlines>
          <c:spPr>
            <a:ln>
              <a:solidFill>
                <a:srgbClr val="CFC6B0"/>
              </a:solidFill>
            </a:ln>
          </c:spPr>
        </c:majorGridlines>
        <c:majorTickMark val="out"/>
        <c:minorTickMark val="none"/>
        <c:tickLblPos val="nextTo"/>
        <c:spPr>
          <a:ln>
            <a:noFill/>
          </a:ln>
        </c:spPr>
        <c:txPr>
          <a:bodyPr/>
          <a:lstStyle/>
          <a:p>
            <a:pPr>
              <a:defRPr sz="1200">
                <a:latin typeface="Be Vietnam Pro"/>
              </a:defRPr>
            </a:pPr>
          </a:p>
        </c:txPr>
        <c:crossAx val="-2068027336"/>
        <c:crosses val="autoZero"/>
      </c:valAx>
    </c:plotArea>
    <c:legend>
      <c:legendPos val="b"/>
      <c:overlay val="0"/>
      <c:txPr>
        <a:bodyPr/>
        <a:lstStyle/>
        <a:p>
          <a:pPr>
            <a:defRPr sz="1300">
              <a:latin typeface="Be Vietnam Pro"/>
            </a:defRPr>
          </a:pPr>
        </a:p>
      </c:txPr>
    </c:legend>
    <c:dispBlanksAs val="gap"/>
  </c:chart>
  <c:txPr>
    <a:bodyPr/>
    <a:lstStyle/>
    <a:p>
      <a:pPr>
        <a:defRPr sz="1300">
          <a:solidFill>
            <a:srgbClr val="2E4257"/>
          </a:solidFill>
          <a:latin typeface="Be Vietnam Pr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cover · p. 1</a:t>
            </a:r>
          </a:p>
          <a:p/>
          <a:p>
            <a:r>
              <a:t>Cover (paper p. 1): National Economics University / AEP / Project Finance / IBRD and its Development Project Financing Activities in Vietnam / Group 6 / Đặng Việt Hoàng - 11232291 / Trần Lan Quyên - 11232506 / Đào Bảo Bình - 11230612 / Nguyễn Anh Đức - 11232399 / Lê Thị Yến Nhi - 11233123 / Class: Investment Economics 65 / Lecturer: [TO BE CONFIRMED] / Hanoi, 2026</a:t>
            </a:r>
          </a:p>
          <a:p/>
          <a:p>
            <a:r>
              <a:t>Lecturer line deliberately left as a placeholder — see ISSUES.md.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Contents · p. 8–9</a:t>
            </a:r>
          </a:p>
          <a:p/>
          <a:p>
            <a:r>
              <a:t>— Paper 6. Structure of the paper —</a:t>
            </a:r>
          </a:p>
          <a:p/>
          <a:p>
            <a:r>
              <a:t>[p. 8, ¶1] Apart from the Introduction, Conclusion and References, the paper consists of three chapters:</a:t>
            </a:r>
          </a:p>
          <a:p/>
          <a:p>
            <a:r>
              <a:t>[p. 8, ¶2] - Chapter 1: Overview of the IBRD</a:t>
            </a:r>
          </a:p>
          <a:p/>
          <a:p>
            <a:r>
              <a:t>[p. 8, ¶3] - Chapter 2: How the IBRD supports project financing</a:t>
            </a:r>
          </a:p>
          <a:p/>
          <a:p>
            <a:r>
              <a:t>[p. 9, ¶4] - Chapter 3: Case Studies of IBRD in Vietnam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Introduction</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The role of multilateral development finance · Paper § Introduction · 1.1 · p. 4</a:t>
            </a:r>
          </a:p>
          <a:p/>
          <a:p>
            <a:r>
              <a:t>— Paper 1.1 The role of multilateral development finance for developing economies —</a:t>
            </a:r>
          </a:p>
          <a:p/>
          <a:p>
            <a:r>
              <a:t>[p. 4, ¶1] For developing economies, the need for long-term investment in infrastructure, energy, health, and education far exceeds what domestic resources can provide. Savings are limited, and tax bases are narrow. Borrowing on international markets often comes at a high cost or with short maturities, if it is available at all. This is where multilateral development banks (MDBs) step in. Backed by member-state capital and strong credit ratings, they can raise funds cheaply in global markets and pass those advantages on to borrowing countries through longer maturities and lower interest rates.</a:t>
            </a:r>
          </a:p>
          <a:p/>
          <a:p>
            <a:r>
              <a:t>[p. 4, ¶2] MDBs' most direct contribution is stable, long-term capital, which suits infrastructure projects that may take decades to pay back. This stability matters most in times of crisis. During the 2008 financial crisis and the COVID-19 pandemic, private capital withdrew, while MDBs expanded their lending to keep essential investment going. Beyond their own funds, MDBs also play a catalytic role. By co-financing, offering guarantees and sharing risk, they make projects more attractive to commercial banks and private investors who might otherwise hold back.</a:t>
            </a:r>
          </a:p>
          <a:p/>
          <a:p>
            <a:r>
              <a:t>[p. 4, ¶3] Their value also goes beyond finance. Through project appraisal, technical assistance, and international standards on procurement and safeguards, MDBs help raise project quality and build the capacity of borrowing governments. Their multilateral nature also allows them to coordinate action on shared challenges such as climate change and regional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Vietnam's shift from IDA to IBRD · Paper § Introduction · 1.2 · p. 4</a:t>
            </a:r>
          </a:p>
          <a:p/>
          <a:p>
            <a:r>
              <a:t>— Paper 1.2 Why the IBRD matters for Vietnam after its shift from concessional IDA lending to IBRD lending —</a:t>
            </a:r>
          </a:p>
          <a:p/>
          <a:p>
            <a:r>
              <a:t>[p. 4, ¶1] For many years, Vietnam relied on IDA, the World Bank's window for low-income countries, which offers loans with very low interest rates and long repayment periods. As the economy grew, this changed. The Bank declared Vietnam IBRD-eligible in 2007, and the first IBRD loan, a US$500 million Public Investment Reform loan, was approved in December 2009 [1; 2]. Vietnam then graduated from IDA in July 2017 and no longer receives regular IDA credits. From 2018, it could borrow only from the IBRD and through non-concessional IDA terms, both at higher interest rates, with transitional support during the IDA18 period (FY18–20) [3]. In July 2026, the World Bank reclassified Vietnam as an upper-middle-income economy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Why the IBRD matters now · Paper § Introduction · 1.2 · p. 5</a:t>
            </a:r>
          </a:p>
          <a:p/>
          <a:p>
            <a:r>
              <a:t>— Paper 1.2 Why the IBRD matters for Vietnam after its shift from concessional IDA lending to IBRD lending —</a:t>
            </a:r>
          </a:p>
          <a:p/>
          <a:p>
            <a:r>
              <a:t>[p. 5, ¶2] This shift makes the IBRD Vietnam's main source of World Bank financing. IBRD loans are more expensive than IDA credits, but they are still cheaper and longer-term than most commercial loans. That matters because Vietnam's investment needs keep growing. According to the World Bank, official financing alone will not be enough to meet these needs, so Vietnam will also have to borrow on capital markets and pay more to do so [3]. In this setting, the IBRD offers a middle path: funding on reasonable terms for large, long-term projects that the market may not support on its own.</a:t>
            </a:r>
          </a:p>
          <a:p/>
          <a:p>
            <a:r>
              <a:t>[p. 5, ¶3] Higher borrowing costs also mean Vietnam must choose and manage projects more carefully. After graduation, the Government asked the Ministry of Planning and Investment to report on how to mobilize loans in the future, especially non-concessional loans. The IBRD can help here. Beyond money, it brings project appraisal, technical advice and international standards, which help Vietnam use each loan more effectively.</a:t>
            </a:r>
          </a:p>
          <a:p/>
          <a:p>
            <a:r>
              <a:t>[p. 5, ¶4] For these reasons, understanding how the IBRD works, including its lending terms, procedures and priorities, is important for Vietnam as it moves into a new stage of development finance.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Research problem and four questions · Paper § Introduction · 2 · p. 5–6</a:t>
            </a:r>
          </a:p>
          <a:p/>
          <a:p>
            <a:r>
              <a:t>— Paper 2. Research Problem and Questions —</a:t>
            </a:r>
          </a:p>
          <a:p/>
          <a:p>
            <a:r>
              <a:t>[p. 5, ¶1] Since graduating from IDA, Vietnam has relied more on the IBRD for World Bank financing. However, IBRD loans come with different terms and procedures from the concessional credits Vietnam was used to. A clear understanding of the IBRD is therefore needed for Vietnam to use this source of finance effectively.</a:t>
            </a:r>
          </a:p>
          <a:p/>
          <a:p>
            <a:r>
              <a:t>[p. 6, ¶2] The paper addresses four research questions:</a:t>
            </a:r>
          </a:p>
          <a:p/>
          <a:p>
            <a:r>
              <a:t>[p. 6, ¶3] 1. What is the IBRD, and how was it formed and developed?</a:t>
            </a:r>
          </a:p>
          <a:p/>
          <a:p>
            <a:r>
              <a:t>[p. 6, ¶4] 2. How is the IBRD organized and funded, and on what terms does it lend?</a:t>
            </a:r>
          </a:p>
          <a:p/>
          <a:p>
            <a:r>
              <a:t>[p. 6, ¶5] 3. How does the IBRD support project financing through financial, technical and training assistance?</a:t>
            </a:r>
          </a:p>
          <a:p/>
          <a:p>
            <a:r>
              <a:t>[p. 6, ¶6] 4. What results and limitations have selected IBRD-supported projects in Vietnam shown, and what lessons follow for Vietnam?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Research objectives · Paper § Introduction · 3 · p. 6–7</a:t>
            </a:r>
          </a:p>
          <a:p/>
          <a:p>
            <a:r>
              <a:t>— Paper 3.1. To analyze the mechanisms of IBRD involvement in project financing —</a:t>
            </a:r>
          </a:p>
          <a:p/>
          <a:p>
            <a:r>
              <a:t>[p. 6, ¶1] The first objective is to examine how the IBRD takes part in financing projects, from raising funds to supporting projects on the ground. On the funding side, the study looks at how the IBRD mobilizes capital through its member countries’ contributions and through bond issues on international markets, and how this allows it to lend at favorable terms. On the lending side, it reviews the main instruments the IBRD uses, such as investment project financing, development policy financing, program-for-results, and guarantees, and explains when each is applied.</a:t>
            </a:r>
          </a:p>
          <a:p/>
          <a:p>
            <a:r>
              <a:t>[p. 6, ¶2] The study also follows the IBRD project cycle, which includes identification, preparation, appraisal, negotiation and approval, implementation and supervision, and completion and evaluation. This helps show how the IBRD shares responsibilities with the borrowing government at each stage, and how it works with co-financiers and private investors to mobilize additional capital. Through this analysis, the study aims to clarify not only what the IBRD finances but also how its involvement shapes the quality and outcomes of projects.</a:t>
            </a:r>
          </a:p>
          <a:p/>
          <a:p>
            <a:r>
              <a:t>— Paper 3.2. To evaluate practical implementations through selected case studies in Vietnam —</a:t>
            </a:r>
          </a:p>
          <a:p/>
          <a:p>
            <a:r>
              <a:t>[p. 6, ¶1] The second objective is to see how the IBRD’s mechanisms work in practice in Vietnam. The study focuses on the Transmission Efficiency Project (2015-2021), a completed project fully financed by an IBRD loan, with clear results and official evaluation reports. Recent IBRD projects approved after IDA graduation, such as those in Binh Duong and the southern waterway network, are mentioned only as context, since their results are not yet available.</a:t>
            </a:r>
          </a:p>
          <a:p/>
          <a:p>
            <a:r>
              <a:t>[p. 7, ¶2] The case is evaluated based on four criteria: relevance to Vietnam’s development needs, effectiveness in reaching project goals, efficiency in using resources, and sustainability of results. The study also looks at the difficulties that arose during implementation and how they were handled. Through this, the study aims to show what IBRD financing can bring to Vietnam in its new stage of borrowing after IDA, and to draw lessons for future IBRD projects.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Research methodology · Paper § Introduction · 4 · p. 7–8</a:t>
            </a:r>
          </a:p>
          <a:p/>
          <a:p>
            <a:r>
              <a:t>— Paper 4. Research Methodology —</a:t>
            </a:r>
          </a:p>
          <a:p/>
          <a:p>
            <a:r>
              <a:t>[p. 7, ¶1] This study uses a qualitative approach that combines a literature review with case study analysis. It relies mainly on secondary data from official and publicly available sources.</a:t>
            </a:r>
          </a:p>
          <a:p/>
          <a:p>
            <a:r>
              <a:t>[p. 7, ¶2] The literature review builds the theoretical and institutional background for the study. Its main sources are World Bank websites and reports, including the IBRD’s descriptions of its financial products, Country Partnership Frameworks for Vietnam, project appraisal documents, and implementation completion reports. These are supported by documents from the Government of Vietnam, the Ministry of Finance, and the Ministry of Planning and Investment, which merged into the Ministry of Finance in 2025. These documents include legal regulations on ODA and concessional loans and reports on the use of foreign loans. Together, these sources help explain how the IBRD works and how Vietnam manages IBRD loans.</a:t>
            </a:r>
          </a:p>
          <a:p/>
          <a:p>
            <a:r>
              <a:t>[p. 7, ¶3] The case study analysis focuses on the Transmission Efficiency Project. The study compares the project’s planned targets with its actual results, using the four criteria set out in Section 3.2: relevance, effectiveness, efficiency and sustainability. To reduce bias, data from the World Bank’s own reports are checked against the Independent Evaluation Group’s assessment and against information from Vietnamese government sources.</a:t>
            </a:r>
          </a:p>
          <a:p/>
          <a:p>
            <a:r>
              <a:t>[p. 8, ¶4] The study has some limitations. Because it relies on secondary data, it cannot verify results through field surveys or interviews. In addition, some information depends on reports prepared by the World Bank itself. These limits are reduced by using several independent sources and by clearly stating where each piece of data comes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Research scope · Paper § Introduction · 5 · p. 8</a:t>
            </a:r>
          </a:p>
          <a:p/>
          <a:p>
            <a:r>
              <a:t>— Paper 5. Research scope —</a:t>
            </a:r>
          </a:p>
          <a:p/>
          <a:p>
            <a:r>
              <a:t>[p. 8, ¶1] Research subject. The study focuses on the IBRD and its involvement in project financing. Other members of the World Bank Group, such as IDA, IFC, and MIGA, are mentioned only for comparison or when they are needed to explain the IBRD’s role.</a:t>
            </a:r>
          </a:p>
          <a:p/>
          <a:p>
            <a:r>
              <a:t>[p. 8, ¶2] Content scope. The study covers the IBRD’s formation and development, its funding sources, its main lending instruments, its project cycle, and its financial, technical, and training support. It does not go into detailed technical aspects such as loan pricing formulas or the IBRD’s internal risk models.</a:t>
            </a:r>
          </a:p>
          <a:p/>
          <a:p>
            <a:r>
              <a:t>[p. 8, ¶3] Spatial scope. The study focuses on Vietnam. International examples are used only when they help explain how the IBRD works in general.</a:t>
            </a:r>
          </a:p>
          <a:p/>
          <a:p>
            <a:r>
              <a:t>[p. 8, ¶4] Time scope. The study covers the period from 2014 to the present. This period includes Vietnam’s transition from IDA to IBRD lending, with special attention to the years after 2017, when Vietnam graduated from IDA and IBRD loans became its main source of World Bank financing.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Overview of the IBRD · p. 10</a:t>
            </a:r>
          </a:p>
          <a:p/>
          <a:p>
            <a:r>
              <a:t>— Paper CHAPTER 1: OVERVIEW OF THE IBRD (p. 10)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Definition, mission and borrowers · Paper § 1.1.1 · p. 10</a:t>
            </a:r>
          </a:p>
          <a:p/>
          <a:p>
            <a:r>
              <a:t>— Paper 1.1.1. Definition, mission, and eligible borrowers —</a:t>
            </a:r>
          </a:p>
          <a:p/>
          <a:p>
            <a:r>
              <a:t>[p. 10, ¶1] The International Bank for Reconstruction and Development (IBRD) is a global development cooperative owned by 189 member countries. It is one of the five institutions of the World Bank Group and, together with IDA, forms what is commonly called the World Bank [7]. Although it is called a bank, the IBRD does not aim to maximize profit like a commercial bank. Instead, it raises funds on international capital markets and lends them to member countries for development purposes. Its role goes beyond lending: it provides loans, guarantees, risk management products and advisory services, and it also coordinates responses to regional and global challenges.</a:t>
            </a:r>
          </a:p>
          <a:p/>
          <a:p>
            <a:r>
              <a:t>[p. 10, ¶2] The IBRD shares the World Bank Group's mission, which is to end extreme poverty and boost shared prosperity on a livable planet. Job creation is now seen as central to this mission and as a key driver of sustainable development. In practice, this means the IBRD supports projects and reforms that help countries grow in a sustainable and inclusive way.</a:t>
            </a:r>
          </a:p>
          <a:p/>
          <a:p>
            <a:r>
              <a:t>[p. 10, ¶3] The IBRD's main borrowers are middle-income countries. It also lends to creditworthy poorer countries that are also eligible for IDA support, often through a mix of IBRD and IDA funding. Borrowers are usually national governments, but the IBRD can also lend to public enterprises or local authorities, provided that the national government guarantees the loan. A country's eligibility depends mainly on its income level and its creditworthiness. As a country grows richer, it moves from IDA to IBRD lending, as Vietnam did after 2017.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The five institutions (1/2) · Paper § 1.1.2 · p. 10–11</a:t>
            </a:r>
          </a:p>
          <a:p/>
          <a:p>
            <a:r>
              <a:t>— Paper 1.1.2. Position within the World Bank Group; distinguishing IBRD, IDA, IFC, MIGA, and ICSID —</a:t>
            </a:r>
          </a:p>
          <a:p/>
          <a:p>
            <a:r>
              <a:t>[p. 10, ¶1] The World Bank Group consists of five institutions. Each has its own role, but they work together toward the same goal. The IBRD is the oldest member of the Group, founded in 1944, and it is also the largest development bank in the world. Together with IDA, it forms the World Bank in the narrow sense. The IBRD aims to reduce poverty in middle-income and creditworthy poorer countries, while IDA focuses on the world's poorest countries. The other three institutions support this work: IFC and MIGA focus on the private sector, while ICSID deals with investment disputes. The main differences among the five institutions are summarized in Table 1.</a:t>
            </a:r>
          </a:p>
          <a:p/>
          <a:p>
            <a:r>
              <a:t>[p. 11] Table 1. The five institutions of the World Bank Group (full table, all cells verbatim)</a:t>
            </a:r>
          </a:p>
          <a:p/>
          <a:p>
            <a:r>
              <a:t>Institution | Year founded | Main clients | Main activities | Source of funds</a:t>
            </a:r>
          </a:p>
          <a:p/>
          <a:p>
            <a:r>
              <a:t>IBRD | 1944 | Governments of middle-income and creditworthy poorer countries | Loans, guarantees, risk management, advisory services | Bonds on international capital markets, member capital</a:t>
            </a:r>
          </a:p>
          <a:p/>
          <a:p>
            <a:r>
              <a:t>IDA | 1960 | Governments of the poorest countries | Grants and very low-interest or interest-free loans | Contributions from donor countries</a:t>
            </a:r>
          </a:p>
          <a:p/>
          <a:p>
            <a:r>
              <a:t>IFC | 1956 | Private enterprises in developing countries | Loans, equity investment, advisory services | Own capital and market borrowing</a:t>
            </a:r>
          </a:p>
          <a:p/>
          <a:p>
            <a:r>
              <a:t>MIGA | 1988 | Foreign investors and lenders | Insurance against political risks such as war or expropriation | Member capital and premiums</a:t>
            </a:r>
          </a:p>
          <a:p/>
          <a:p>
            <a:r>
              <a:t>ICSID | 1966 | Governments and foreign investors | Settling investment disputes through arbitration and conciliation | Contributions from the World Bank and fees</a:t>
            </a:r>
          </a:p>
          <a:p/>
          <a:p>
            <a:r>
              <a:t>Source: Authors' compilation from [7] and [8].</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The five institutions (2/2) · Paper § 1.1.2 · p. 11</a:t>
            </a:r>
          </a:p>
          <a:p/>
          <a:p>
            <a:r>
              <a:t>[p. 11] Table 1. The five institutions of the World Bank Group (full table, all cells verbatim)</a:t>
            </a:r>
          </a:p>
          <a:p/>
          <a:p>
            <a:r>
              <a:t>Institution | Year founded | Main clients | Main activities | Source of funds</a:t>
            </a:r>
          </a:p>
          <a:p/>
          <a:p>
            <a:r>
              <a:t>IBRD | 1944 | Governments of middle-income and creditworthy poorer countries | Loans, guarantees, risk management, advisory services | Bonds on international capital markets, member capital</a:t>
            </a:r>
          </a:p>
          <a:p/>
          <a:p>
            <a:r>
              <a:t>IDA | 1960 | Governments of the poorest countries | Grants and very low-interest or interest-free loans | Contributions from donor countries</a:t>
            </a:r>
          </a:p>
          <a:p/>
          <a:p>
            <a:r>
              <a:t>IFC | 1956 | Private enterprises in developing countries | Loans, equity investment, advisory services | Own capital and market borrowing</a:t>
            </a:r>
          </a:p>
          <a:p/>
          <a:p>
            <a:r>
              <a:t>MIGA | 1988 | Foreign investors and lenders | Insurance against political risks such as war or expropriation | Member capital and premiums</a:t>
            </a:r>
          </a:p>
          <a:p/>
          <a:p>
            <a:r>
              <a:t>ICSID | 1966 | Governments and foreign investors | Settling investment disputes through arbitration and conciliation | Contributions from the World Bank and fees</a:t>
            </a:r>
          </a:p>
          <a:p/>
          <a:p>
            <a:r>
              <a:t>Source: Authors' compilation from [7] and [8].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How the IBRD differs · Paper § 1.1.2 · p. 10–12</a:t>
            </a:r>
          </a:p>
          <a:p/>
          <a:p>
            <a:r>
              <a:t>— Paper 1.1.2. Position within the World Bank Group; distinguishing IBRD, IDA, IFC, MIGA, and ICSID —</a:t>
            </a:r>
          </a:p>
          <a:p/>
          <a:p>
            <a:r>
              <a:t>[p. 10, ¶1] The World Bank Group consists of five institutions. Each has its own role, but they work together toward the same goal. The IBRD is the oldest member of the Group, founded in 1944, and it is also the largest development bank in the world. Together with IDA, it forms the World Bank in the narrow sense. The IBRD aims to reduce poverty in middle-income and creditworthy poorer countries, while IDA focuses on the world's poorest countries. The other three institutions support this work: IFC and MIGA focus on the private sector, while ICSID deals with investment disputes. The main differences among the five institutions are summarized in Table 1.</a:t>
            </a:r>
          </a:p>
          <a:p/>
          <a:p>
            <a:r>
              <a:t>[p. 11, ¶2] The key difference between the IBRD and IDA lies in the type of borrower and the cost of funds. IBRD loans carry market-based interest rates, while IDA offers much cheaper terms because it is funded by donors. The IBRD and IFC differ mainly in their clients. The IBRD lends to governments or to entities guaranteed by governments, while IFC invests directly in private companies without a government guarantee. MIGA and ICSID do not provide finance directly. Instead, they reduce risks for investors and help settle disputes, which makes the investment climate more attractive.</a:t>
            </a:r>
          </a:p>
          <a:p/>
          <a:p>
            <a:r>
              <a:t>[p. 12, ¶3] In this structure, the IBRD acts as the main channel for public financing to middle-income countries. This is why it is especially important for Vietnam today.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History in four stages · Paper § 1.2 · p. 12–13</a:t>
            </a:r>
          </a:p>
          <a:p/>
          <a:p>
            <a:r>
              <a:t>— Paper 1.2. History and development —</a:t>
            </a:r>
          </a:p>
          <a:p/>
          <a:p>
            <a:r>
              <a:t>[p. 12, ¶1] The history of the IBRD can be divided into four main stages, each reflecting changes in the global economy and in the needs of member countries.</a:t>
            </a:r>
          </a:p>
          <a:p/>
          <a:p>
            <a:r>
              <a:t>[p. 12, ¶2] Founding and post-war reconstruction (1944–1950s). The IBRD was created at the Bretton Woods Conference in July 1944, together with the International Monetary Fund, as part of the effort to rebuild the world economy after the Second World War. It began operations in 1946. Its first loan, worth US$250 million, went to France in 1947 to support reconstruction [9]. In the same year, the IBRD issued its first bonds on the US market, laying the foundation for its funding model. However, when the United States launched the Marshall Plan in 1948, much of Europe's reconstruction was financed through that program. This led the IBRD to turn its attention to developing countries [8].</a:t>
            </a:r>
          </a:p>
          <a:p/>
          <a:p>
            <a:r>
              <a:t>[p. 12, ¶3] Shift to development and expansion (1950s–1970s). In this period, the IBRD mainly financed large infrastructure projects such as power plants, roads, railways and irrigation systems in Asia, Africa and Latin America. As its work grew, new institutions were created to meet different needs: IFC in 1956 to support the private sector, and IDA in 1960 to serve the poorest countries. This allowed the IBRD to focus on middle-income economies. From the late 1960s, under President Robert McNamara, the IBRD placed greater emphasis on poverty reduction, rural development, education and health, and its lending grew rapidly [8].</a:t>
            </a:r>
          </a:p>
          <a:p/>
          <a:p>
            <a:r>
              <a:t>[p. 12, ¶4] Crisis and reform (1980s–1990s). The debt crisis of the 1980s hit many developing countries hard. In response, the IBRD introduced structural adjustment lending, which provided funds in exchange for economic reforms such as reducing budget deficits and opening markets. These programs helped some countries stabilize but were also criticized for their social costs. In the 1990s, the IBRD paid more attention to governance, anti-corruption, the environment and social safeguards.</a:t>
            </a:r>
          </a:p>
          <a:p/>
          <a:p>
            <a:r>
              <a:t>[p. 13, ¶5] The 21st century (2000–present). The IBRD aligned its work with global development goals and played a counter-cyclical role during crises, sharply increasing lending during the 2008 global financial crisis and the COVID-19 pandemic. In 2013, the World Bank Group adopted two goals: ending extreme poverty and boosting shared prosperity. More recently, through its reform process, the IBRD has expanded its mission to address global challenges such as climate change. Today, its mission is to end extreme poverty and boost shared prosperity on a livable planet, with job creation at its center [8].</a:t>
            </a:r>
          </a:p>
          <a:p/>
          <a:p>
            <a:r>
              <a:t>[p. 13, ¶6] After more than 80 years, the IBRD has changed from a reconstruction bank for Europe into a global development institution. Its funding model of borrowing on capital markets and lending to member countries has stayed the same, while its focus has steadily widened to meet new development needs.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Governance: three levels · Paper § 1.3.1 · p. 13–14</a:t>
            </a:r>
          </a:p>
          <a:p/>
          <a:p>
            <a:r>
              <a:t>— Paper 1.3.1. Board of Governors, Board of Executive Directors, President —</a:t>
            </a:r>
          </a:p>
          <a:p/>
          <a:p>
            <a:r>
              <a:t>[p. 13, ¶1] Board of Governors. The Board of Governors is the highest decision-making body of the IBRD. Each member country appoints one Governor and one Alternate Governor, usually the minister of finance or the governor of the central bank. The Board meets once a year at the Annual Meetings of the World Bank Group and the IMF. It keeps the power to make the most important decisions, such as admitting new members, increasing or reducing capital, and approving the annual financial statements. Because it meets only once a year, it delegates most of its day-to-day powers to the Board of Executive Directors.</a:t>
            </a:r>
          </a:p>
          <a:p/>
          <a:p>
            <a:r>
              <a:t>[p. 13, ¶2] Board of Executive Directors. The Board of Executive Directors is made up of the President and 25 Executive Directors. It works at the IBRD's headquarters in Washington, D.C., and meets several times a week. The Board approves loans, guarantees and the annual budget, sets operational policies and reviews country strategies. A few large shareholders appoint their own Executive Director, while most member countries are grouped into constituencies that elect one Executive Director to represent them. Decisions are usually made by consensus, but formal votes are weighted by each country's shareholding.</a:t>
            </a:r>
          </a:p>
          <a:p/>
          <a:p>
            <a:r>
              <a:t>[p. 14, ¶3] President. The President chairs the Board of Executive Directors and leads the entire World Bank Group. The President is selected by the Executive Directors for a five-year term, which can be renewed. The President does not vote except to break a tie. The President is responsible for managing staff and daily operations, and also proposes loans and policies to the Board for approval. The current President is Ajay Banga, who began his term on 2 June 2023 [10].</a:t>
            </a:r>
          </a:p>
          <a:p/>
          <a:p>
            <a:r>
              <a:t>[p. 14, ¶4] In short, the Board of Governors sets the overall direction, the Board of Executive Directors turns it into policies and approves operations, and the President carries them out. This division of roles helps balance the interests of member countries with the need for efficient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Voting power follows shares · Paper § 1.3.2 · p. 14–15</a:t>
            </a:r>
          </a:p>
          <a:p/>
          <a:p>
            <a:r>
              <a:t>— Paper 1.3.2. Voting power based on shareholding and membership —</a:t>
            </a:r>
          </a:p>
          <a:p/>
          <a:p>
            <a:r>
              <a:t>[p. 14, ¶1] To become a member of the IBRD, a country must first be a member of the International Monetary Fund. It must then subscribe to shares of the IBRD's capital. The number of shares a country receives depends mainly on the size of its economy. Only a small part of this capital is actually paid in. The larger part is callable capital, which the IBRD can ask members to pay only if it cannot meet its own debt obligations. This callable capital acts as a guarantee that supports the IBRD's strong credit rating.</a:t>
            </a:r>
          </a:p>
          <a:p/>
          <a:p>
            <a:r>
              <a:t>[p. 14, ¶2] Voting power in the IBRD follows the principle of one share, one vote, rather than one country, one vote as in the United Nations. Each member's votes consist of two parts. The first part is basic votes, which are shared equally among all members to give smaller countries a minimum voice. The second part is share votes, with one vote for each share held. As a result, countries that contribute more capital have more influence over decisions.</a:t>
            </a:r>
          </a:p>
          <a:p/>
          <a:p>
            <a:r>
              <a:t>[p. 14, ¶3] This system gives the largest shareholders considerable power. The United States holds the largest share of votes, at around 15–16 percent, followed by Japan, China, Germany, France and the United Kingdom. Because some major decisions, such as amending the Articles of Agreement, require an 85 percent majority, the United States effectively has a veto over them. To make the system fairer, the IBRD carried out voting reforms in 2008–2010 and later capital increases. These raised basic votes and shifted more voting power to developing and transition countries.</a:t>
            </a:r>
          </a:p>
          <a:p/>
          <a:p>
            <a:r>
              <a:t>[p. 15, ¶4] Vietnam's voting power remains small. As of April 2026, Vietnam held 0.21 percent of IBRD votes [11]. In practice, Vietnam takes part in decisions through the constituency it belongs to, which shares one Executive Director on the Board. This means Vietnam's influence depends partly on cooperation with other members of its group.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Source of funds · Paper § 1.3.3 · p. 15–16</a:t>
            </a:r>
          </a:p>
          <a:p/>
          <a:p>
            <a:r>
              <a:t>— Paper 1.3.3. Source of funds: paid-in capital and bond issuance on capital markets —</a:t>
            </a:r>
          </a:p>
          <a:p/>
          <a:p>
            <a:r>
              <a:t>[p. 15, ¶1] The IBRD funds its lending mainly from two sources: capital from its member countries and money raised by issuing bonds on international capital markets. In addition, loan repayments and the IBRD's own earnings provide further resources.</a:t>
            </a:r>
          </a:p>
          <a:p/>
          <a:p>
            <a:r>
              <a:t>[p. 15, ¶2] Paid-in capital. When a country joins the IBRD, it subscribes to a certain number of shares. Only a small part of this subscribed capital is actually paid in cash. The rest is callable capital, which members promise to pay only if the IBRD cannot meet its obligations to bondholders. This call has never been made in the IBRD's history. Paid-in capital, together with retained earnings, forms the IBRD's equity. This equity acts as a cushion against losses and determines how much the IBRD can safely lend. When demand for lending grows, member countries can agree to a capital increase, as they did in 2018 [12].</a:t>
            </a:r>
          </a:p>
          <a:p/>
          <a:p>
            <a:r>
              <a:t>[p. 15, ¶3] Bond issuance. The largest source of funds comes from borrowing on international capital markets. The IBRD acts as a financial intermediary: it raises funds from global markets and lends them to its member countries. It issues bonds in many currencies and sells them to investors such as central banks, pension funds and insurance companies around the world. Because of its strong capital base, its callable capital and its careful financial management, the IBRD has held the highest credit rating (AAA) for decades. This allows it to borrow at very low interest rates and pass these savings on to borrowers through loans with long maturities and reasonable costs. In recent years, the IBRD has also issued sustainable development bonds and green bonds, linking investors' money to social and environmental goals [13].</a:t>
            </a:r>
          </a:p>
          <a:p/>
          <a:p>
            <a:r>
              <a:t>[p. 16, ¶4] Other sources. Loan repayments are recycled into new loans, and the IBRD's net income from lending and investments helps strengthen its capital. More recently, the IBRD has also tried new tools, such as hybrid capital and guarantees from shareholders, to increase its lending capacity without large capital increases.</a:t>
            </a:r>
          </a:p>
          <a:p/>
          <a:p>
            <a:r>
              <a:t>[p. 16, ¶5] This funding model is the main difference between the IBRD and IDA. IDA depends on regular donations from rich countries, while the IBRD can fund itself through the market. As a result, the IBRD can lend on a large scale at low cost, but its loans are more expensive than IDA credits.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Three lending instruments · Paper § 1.4.1 · p. 16–17</a:t>
            </a:r>
          </a:p>
          <a:p/>
          <a:p>
            <a:r>
              <a:t>— Paper 1.4. Financing instruments and loan conditions —</a:t>
            </a:r>
          </a:p>
          <a:p/>
          <a:p>
            <a:r>
              <a:t>[p. 16, ¶1] The IBRD lends through three instruments, each defined by what it finances and what triggers disbursement. A single loan product, the IBRD Flexible Loan, sets the price and repayment terms. Environmental, social and procurement rules then govern how the money may be spent.</a:t>
            </a:r>
          </a:p>
          <a:p/>
          <a:p>
            <a:r>
              <a:t>— Paper 1.4.1. Three main instruments: Investment Project Financing (IPF), Development Policy Financing (DPF) and Program-for-Results (PforR) —</a:t>
            </a:r>
          </a:p>
          <a:p/>
          <a:p>
            <a:r>
              <a:t>[p. 16, ¶1] Investment Project Financing (IPF) is the IBRD's traditional instrument. It finances a ring-fenced set of project activities, such as civil works, equipment and consulting services. Money is disbursed as the borrower incurs eligible project expenditures [14]. IPF suits physical infrastructure with a clear scope and timetable. Both case studies in Chapter 3, TEP and CCSEP, were financed through IPF.</a:t>
            </a:r>
          </a:p>
          <a:p/>
          <a:p>
            <a:r>
              <a:t>[p. 16, ¶2] Development Policy Financing (DPF) supports a set of policy and institutional reforms rather than a project. The borrower must complete agreed "prior actions" before the Board approves the loan. Funds then go to the general budget and are not traced to specific expenditures [14]. Vietnam's first IBRD loan was a DPF operation: a US$500 million Public Investment Reform loan approved in December 2009 and signed on 30 December 2009 [2].</a:t>
            </a:r>
          </a:p>
          <a:p/>
          <a:p>
            <a:r>
              <a:t>[p. 17, ¶3] Program-for-Results (PforR) was introduced in 2012. It was only the third financing instrument approved by the Bank's Board since 1944 [15]. PforR supports a government's own program and uses the country's own systems. Disbursement depends on the verified achievement of Disbursement-Linked Indicators (DLIs), not on individual expenditures [14].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Instruments compared · Paper § 1.4.1 · p. 17</a:t>
            </a:r>
          </a:p>
          <a:p/>
          <a:p>
            <a:r>
              <a:t>— Paper 1.4.1. Three main instruments: Investment Project Financing (IPF), Development Policy Financing (DPF) and Program-for-Results (PforR) —</a:t>
            </a:r>
          </a:p>
          <a:p/>
          <a:p>
            <a:r>
              <a:t>[p. 17, ¶4] The key difference lies in what the IBRD "buys" with each loan. Under IPF, it pays for inputs; under DPF, for reforms; under PforR, for results. This choice shapes the borrower's obligations, which Section 2.1.3 examines in practice.</a:t>
            </a:r>
          </a:p>
          <a:p/>
          <a:p>
            <a:r>
              <a:t>[p. 17] Table 2. The IBRD’s three lending instruments (full table, all cells verbatim)</a:t>
            </a:r>
          </a:p>
          <a:p/>
          <a:p>
            <a:r>
              <a:t>Instrument | What it finances | Disbursed against | Best suited to</a:t>
            </a:r>
          </a:p>
          <a:p/>
          <a:p>
            <a:r>
              <a:t>Investment Project Financing (IPF) | Ring-fenced project activities: works, goods, consulting services | Eligible expenditures actually incurred | Infrastructure and other projects with a defined scope</a:t>
            </a:r>
          </a:p>
          <a:p/>
          <a:p>
            <a:r>
              <a:t>Development Policy Financing (DPF) | A program of policy and institutional actions | Completion of agreed prior actions | Sector or economy-wide reforms; budget support</a:t>
            </a:r>
          </a:p>
          <a:p/>
          <a:p>
            <a:r>
              <a:t>Program-for-Results (PforR) | Part of a government’s own expenditure program | Verified achievement of Disbursement-Linked Indicators | Programs where results can be measured and verified</a:t>
            </a:r>
          </a:p>
          <a:p/>
          <a:p>
            <a:r>
              <a:t>Source: Authors’ compilation from Wes (2023) and Gelb et al. (2016).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Loan terms: price (1/2) · Paper § 1.4.2 · p. 17–18</a:t>
            </a:r>
          </a:p>
          <a:p/>
          <a:p>
            <a:r>
              <a:t>— Paper 1.4.2. Loan terms: interest rates, maturities and fees —</a:t>
            </a:r>
          </a:p>
          <a:p/>
          <a:p>
            <a:r>
              <a:t>[p. 17, ¶1] The IBRD Flexible Loan (IFL) is the Bank's leading loan product for public-sector borrowers in middle-income countries [16]. Its cost reflects the IBRD's AAA credit rating and has three parts: an interest rate, a front-end fee and a commitment fee [16].</a:t>
            </a:r>
          </a:p>
          <a:p/>
          <a:p>
            <a:r>
              <a:t>[p. 17, ¶2] The interest rate equals a market reference rate plus a spread. The reference rate was LIBOR until its phase-out; US dollar loans now use the Secured Overnight Financing Rate (SOFR). The spread combines a contractual lending spread and a maturity premium. The premium rises with the loan's average maturity and depends on the borrower's pricing group, set by income level [17]. The IBRD suspended its fixed-spread option in 2021, so new loans carry a variable spread [17].</a:t>
            </a:r>
          </a:p>
          <a:p/>
          <a:p>
            <a:r>
              <a:t>[p. 18, ¶5] The commitment fee has a practical consequence. Because it is charged on undisbursed balances, slow disbursement raises the effective cost of the loan. This links loan terms directly to the implementation problems discussed in Chapter 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Loan terms: maturity (2/2) · Paper § 1.4.2 · p. 18</a:t>
            </a:r>
          </a:p>
          <a:p/>
          <a:p>
            <a:r>
              <a:t>— Paper 1.4.2. Loan terms: interest rates, maturities and fees —</a:t>
            </a:r>
          </a:p>
          <a:p/>
          <a:p>
            <a:r>
              <a:t>[p. 18, ¶3] Maturities are long by market standards. In 2014, the maximum final maturity of a standard IFL was extended from 30 to 35 years, and the maximum average maturity from 18 to 20 years [18]. For some projects, the final maturity can now reach 50 years [19]. In October 2024, the IBRD added a Short Maturity Loan with a 7-year final maturity and a 20-basis-point discount on the spread [20].</a:t>
            </a:r>
          </a:p>
          <a:p/>
          <a:p>
            <a:r>
              <a:t>[p. 18, ¶4] Within these limits, the borrower chooses the currency, the grace period and the repayment schedule. TEP, for example, had a 26-year maturity with a 10-year grace period [21]. CCSEP's IBRD loan had a 29-year maturity with a 10-year grace period, while its IDA credit carried 25 years with a 5-year grace period (see Section 3.3.2).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Main terms of the IBRD Flexible Loan · Paper § 1.4.2 · p. 18</a:t>
            </a:r>
          </a:p>
          <a:p/>
          <a:p>
            <a:r>
              <a:t>[p. 18] Table 3. Main terms of the IBRD Flexible Loan (full table, all cells verbatim)</a:t>
            </a:r>
          </a:p>
          <a:p/>
          <a:p>
            <a:r>
              <a:t>Term | Current setting | Source</a:t>
            </a:r>
          </a:p>
          <a:p/>
          <a:p>
            <a:r>
              <a:t>Interest rate | Reference rate (SOFR for USD) + variable spread | World Bank Treasury (2020)</a:t>
            </a:r>
          </a:p>
          <a:p/>
          <a:p>
            <a:r>
              <a:t>Final maturity | Up to 35 years; up to 50 years for some projects | World Bank (2014b); IBRD (2025)</a:t>
            </a:r>
          </a:p>
          <a:p/>
          <a:p>
            <a:r>
              <a:t>Average maturity | Up to 20 years | World Bank (2014b)</a:t>
            </a:r>
          </a:p>
          <a:p/>
          <a:p>
            <a:r>
              <a:t>Short Maturity Loan | 7-year final maturity, 20 bps spread discount | World Bank Treasury (n.d.-b)</a:t>
            </a:r>
          </a:p>
          <a:p/>
          <a:p>
            <a:r>
              <a:t>Front-end fee | 0.25% of the committed amount, charged once | World Bank Treasury (n.d.-a)</a:t>
            </a:r>
          </a:p>
          <a:p/>
          <a:p>
            <a:r>
              <a:t>Commitment fee | 0.25% a year on the undisbursed balance, from 60 days after signing | World Bank Treasury (n.d.-a)</a:t>
            </a:r>
          </a:p>
          <a:p/>
          <a:p>
            <a:r>
              <a:t>Note: Terms are reviewed annually and may change; figures are as at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Safeguards and procurement · Paper § 1.4.3 · p. 19–20</a:t>
            </a:r>
          </a:p>
          <a:p/>
          <a:p>
            <a:r>
              <a:t>— Paper 1.4.3. Safeguard and procurement requirements (Environmental and Social Framework) —</a:t>
            </a:r>
          </a:p>
          <a:p/>
          <a:p>
            <a:r>
              <a:t>[p. 19, ¶1] IBRD financing comes with rules on environmental and social risks and on procurement. These rules apply mainly to IPF; DPF and PforR operations follow their own assessment procedures.</a:t>
            </a:r>
          </a:p>
          <a:p/>
          <a:p>
            <a:r>
              <a:t>[p. 19, ¶2] The Environmental and Social Framework (ESF) was approved by the Board on 4 August 2016. It applies to all IPF projects initiated on or after 1 October 2018 [22]. Earlier projects continue under the older Safeguard Policies, such as OP 4.12 on involuntary resettlement. The two systems are expected to run in parallel for about seven years [23]. This is why TEP and CCSEP, both prepared before 2018, followed the Safeguard Policies.</a:t>
            </a:r>
          </a:p>
          <a:p/>
          <a:p>
            <a:r>
              <a:t>[p. 19, ¶14] Procurement follows a separate framework. The Procurement Framework applies to projects with a concept note on or after 1 July 2016 [24]. It replaced the earlier Procurement Guidelines and allows procurement approaches tailored to each project. Each new project prepares a Project Procurement Strategy for Development (PPSD), as CCSEP did. TEP, approved in 2014, still followed the earlier guidelines.</a:t>
            </a:r>
          </a:p>
          <a:p/>
          <a:p>
            <a:r>
              <a:t>[p. 20, ¶15] These requirements are often stricter than domestic rules, especially on land compensation and resettlement. Where the two systems differ, projects face delays or, as in Nha Trang, the loss of financing (see Section 3.3.4).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Ten Environmental and Social Standards · Paper § 1.4.3 · p. 19</a:t>
            </a:r>
          </a:p>
          <a:p/>
          <a:p>
            <a:r>
              <a:t>— Paper 1.4.3. Safeguard and procurement requirements (Environmental and Social Framework) —</a:t>
            </a:r>
          </a:p>
          <a:p/>
          <a:p>
            <a:r>
              <a:t>[p. 19, ¶3] The ESF shifts more responsibility to the borrower. It sets out ten Environmental and Social Standards (ESSs) that borrowers must meet throughout the project [22]:</a:t>
            </a:r>
          </a:p>
          <a:p/>
          <a:p>
            <a:r>
              <a:t>[p. 19, ¶4] 1. ESS1: Assessment and Management of Environmental and Social Risks and Impacts</a:t>
            </a:r>
          </a:p>
          <a:p/>
          <a:p>
            <a:r>
              <a:t>[p. 19, ¶5] 2. ESS2: Labor and Working Conditions</a:t>
            </a:r>
          </a:p>
          <a:p/>
          <a:p>
            <a:r>
              <a:t>[p. 19, ¶6] 3. ESS3: Resource Efficiency and Pollution Prevention and Management</a:t>
            </a:r>
          </a:p>
          <a:p/>
          <a:p>
            <a:r>
              <a:t>[p. 19, ¶7] 4. ESS4: Community Health and Safety</a:t>
            </a:r>
          </a:p>
          <a:p/>
          <a:p>
            <a:r>
              <a:t>[p. 19, ¶8] 5. ESS5: Land Acquisition, Restrictions on Land Use and Involuntary Resettlement</a:t>
            </a:r>
          </a:p>
          <a:p/>
          <a:p>
            <a:r>
              <a:t>[p. 19, ¶9] 6. ESS6: Biodiversity Conservation and Sustainable Management of Living Natural Resources</a:t>
            </a:r>
          </a:p>
          <a:p/>
          <a:p>
            <a:r>
              <a:t>[p. 19, ¶10] 7. ESS7: Indigenous Peoples</a:t>
            </a:r>
          </a:p>
          <a:p/>
          <a:p>
            <a:r>
              <a:t>[p. 19, ¶11] 8. ESS8: Cultural Heritage</a:t>
            </a:r>
          </a:p>
          <a:p/>
          <a:p>
            <a:r>
              <a:t>[p. 19, ¶12] 9. ESS9: Financial Intermediaries</a:t>
            </a:r>
          </a:p>
          <a:p/>
          <a:p>
            <a:r>
              <a:t>[p. 19, ¶13] 10. ESS10: Stakeholder Engagement and Information Disclosure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How the IBRD supports project financing · p. 21</a:t>
            </a:r>
          </a:p>
          <a:p/>
          <a:p>
            <a:r>
              <a:t>— Paper CHAPTER 2. HOW THE IBRD SUPPORTS PROJECT FINANCING (p. 21) —</a:t>
            </a:r>
          </a:p>
          <a:p/>
          <a:p>
            <a:r>
              <a:t>— Paper 2.1. Financial support —</a:t>
            </a:r>
          </a:p>
          <a:p/>
          <a:p>
            <a:r>
              <a:t>[p. 21, ¶1] Financial support is the IBRD's core activity, but money reaches a project only through a fixed sequence of steps. This section follows that sequence: the project cycle, the way funds are paid out, and how each instrument works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The six-stage project cycle · Paper § 2.1.1 · p. 21</a:t>
            </a:r>
          </a:p>
          <a:p/>
          <a:p>
            <a:r>
              <a:t>— Paper 2.1.1. The project cycle: identification, preparation, appraisal, negotiation, approval, implementation and evaluation —</a:t>
            </a:r>
          </a:p>
          <a:p/>
          <a:p>
            <a:r>
              <a:t>[p. 21, ¶1] Every IBRD operation passes through a six-stage project cycle [25]. The Bank and the borrower work closely at each stage, but their roles differ. The borrower owns and implements the project; the Bank advises, appraises, finances and supervises.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Stages of the project cycle (1/2) · Paper § 2.1.1 · p. 21</a:t>
            </a:r>
          </a:p>
          <a:p/>
          <a:p>
            <a:r>
              <a:t>[p. 21] Table 4. Stages of the World Bank project cycle (full table, all cells verbatim)</a:t>
            </a:r>
          </a:p>
          <a:p/>
          <a:p>
            <a:r>
              <a:t>Stage | Main activities | Lead role | Key document</a:t>
            </a:r>
          </a:p>
          <a:p/>
          <a:p>
            <a:r>
              <a:t>1. Identification | Bank and government agree on a project concept consistent with the Country Partnership Framework | Borrower and Bank | Project Concept Note, Project Information Document</a:t>
            </a:r>
          </a:p>
          <a:p/>
          <a:p>
            <a:r>
              <a:t>2. Preparation | Feasibility studies, technical design, environmental and social instruments, procurement plan | Borrower, with Bank advice | Feasibility study, ESIA, resettlement plan</a:t>
            </a:r>
          </a:p>
          <a:p/>
          <a:p>
            <a:r>
              <a:t>3. Appraisal | Bank reviews technical, economic, financial, institutional and E&amp;S aspects | Bank | Project Appraisal Document (PAD)</a:t>
            </a:r>
          </a:p>
          <a:p/>
          <a:p>
            <a:r>
              <a:t>4. Negotiation and Board approval | Legal agreements negotiated; Board of Executive Directors approves; loan signed and declared effective | Borrower and Bank | Loan Agreement</a:t>
            </a:r>
          </a:p>
          <a:p/>
          <a:p>
            <a:r>
              <a:t>5. Implementation and supervision | Borrower carries out the project; Bank supervises and may restructure | Borrower; Bank supervises | Implementation Status and Results Report (ISR)</a:t>
            </a:r>
          </a:p>
          <a:p/>
          <a:p>
            <a:r>
              <a:t>6. Completion and evaluation | Results assessed; lessons recorded; independent validation | Bank, then IEG | Implementation Completion and Results Report (ICR)</a:t>
            </a:r>
          </a:p>
          <a:p/>
          <a:p>
            <a:r>
              <a:t>Source: Authors’ compilation from [25].</a:t>
            </a:r>
          </a:p>
          <a:p/>
          <a:p>
            <a:r>
              <a:t>Shortened on the slide: row 4, column 'Main activities'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Stages of the project cycle (2/2) · Paper § 2.1.1 · p. 21</a:t>
            </a:r>
          </a:p>
          <a:p/>
          <a:p>
            <a:r>
              <a:t>[p. 21] Table 4. Stages of the World Bank project cycle (full table, all cells verbatim)</a:t>
            </a:r>
          </a:p>
          <a:p/>
          <a:p>
            <a:r>
              <a:t>Stage | Main activities | Lead role | Key document</a:t>
            </a:r>
          </a:p>
          <a:p/>
          <a:p>
            <a:r>
              <a:t>1. Identification | Bank and government agree on a project concept consistent with the Country Partnership Framework | Borrower and Bank | Project Concept Note, Project Information Document</a:t>
            </a:r>
          </a:p>
          <a:p/>
          <a:p>
            <a:r>
              <a:t>2. Preparation | Feasibility studies, technical design, environmental and social instruments, procurement plan | Borrower, with Bank advice | Feasibility study, ESIA, resettlement plan</a:t>
            </a:r>
          </a:p>
          <a:p/>
          <a:p>
            <a:r>
              <a:t>3. Appraisal | Bank reviews technical, economic, financial, institutional and E&amp;S aspects | Bank | Project Appraisal Document (PAD)</a:t>
            </a:r>
          </a:p>
          <a:p/>
          <a:p>
            <a:r>
              <a:t>4. Negotiation and Board approval | Legal agreements negotiated; Board of Executive Directors approves; loan signed and declared effective | Borrower and Bank | Loan Agreement</a:t>
            </a:r>
          </a:p>
          <a:p/>
          <a:p>
            <a:r>
              <a:t>5. Implementation and supervision | Borrower carries out the project; Bank supervises and may restructure | Borrower; Bank supervises | Implementation Status and Results Report (ISR)</a:t>
            </a:r>
          </a:p>
          <a:p/>
          <a:p>
            <a:r>
              <a:t>6. Completion and evaluation | Results assessed; lessons recorded; independent validation | Bank, then IEG | Implementation Completion and Results Report (ICR)</a:t>
            </a:r>
          </a:p>
          <a:p/>
          <a:p>
            <a:r>
              <a:t>Source: Authors’ compilation from [25].</a:t>
            </a:r>
          </a:p>
          <a:p/>
          <a:p>
            <a:r>
              <a:t>Shortened on the slide: row 4, column 'Main activities'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The cycle does not end at approval · Paper § 2.1.1 · p. 22</a:t>
            </a:r>
          </a:p>
          <a:p/>
          <a:p>
            <a:r>
              <a:t>— Paper 2.1.1. The project cycle: identification, preparation, appraisal, negotiation, approval, implementation and evaluation —</a:t>
            </a:r>
          </a:p>
          <a:p/>
          <a:p>
            <a:r>
              <a:t>[p. 22, ¶2] The cycle does not end with approval. During implementation, a project can be restructured when its scope, costs or timing change. TEP was restructured in 2019 and extended by two years. CCSEP was restructured in 2022, when about US$45.6 million of loan funds were cancelled (see Sections 3.2.5 and 3.3.2).</a:t>
            </a:r>
          </a:p>
          <a:p/>
          <a:p>
            <a:r>
              <a:t>[p. 22, ¶3] In Vietnam, each stage also runs alongside domestic procedures: approval of the project proposal, the investment decision, the allocation of counterpart funds and, for local projects, on-lending agreements (see Section 3.1.4). Delays often arise at the joint between the two systems. CCSEP, for example, became effective about five and a half months later than planned (see Section 3.3.3).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Four disbursement methods · Paper § 2.1.2 · p. 22</a:t>
            </a:r>
          </a:p>
          <a:p/>
          <a:p>
            <a:r>
              <a:t>— Paper 2.1.2. Disbursement mechanisms and counterpart funding requirements —</a:t>
            </a:r>
          </a:p>
          <a:p/>
          <a:p>
            <a:r>
              <a:t>[p. 22, ¶1] Once a loan is effective, the IBRD releases funds through four disbursement methods, set out in each project's disbursement letter [26; 27].</a:t>
            </a:r>
          </a:p>
          <a:p/>
          <a:p>
            <a:r>
              <a:t>[p. 22] Table 5. IBRD disbursement methods for investment projects (full table, all cells verbatim)</a:t>
            </a:r>
          </a:p>
          <a:p/>
          <a:p>
            <a:r>
              <a:t>Method | How it works | Typical use</a:t>
            </a:r>
          </a:p>
          <a:p/>
          <a:p>
            <a:r>
              <a:t>Advance | Bank deposits funds in a borrower’s designated account; the borrower pays eligible expenses and documents them later | Many small and recurring payments</a:t>
            </a:r>
          </a:p>
          <a:p/>
          <a:p>
            <a:r>
              <a:t>Reimbursement | Borrower pays first from its own funds; the Bank then refunds eligible expenditures | Expenses the borrower can pre-finance</a:t>
            </a:r>
          </a:p>
          <a:p/>
          <a:p>
            <a:r>
              <a:t>Direct payment | Bank pays a supplier, contractor or consultant directly at the borrower’s request | Large contract payments</a:t>
            </a:r>
          </a:p>
          <a:p/>
          <a:p>
            <a:r>
              <a:t>Special commitment | Bank commits to pay a third party under a letter of credit opened by a commercial bank | Imported goods and equipment</a:t>
            </a:r>
          </a:p>
          <a:p/>
          <a:p>
            <a:r>
              <a:t>Source: Authors’ compilation from [26;27].</a:t>
            </a:r>
          </a:p>
          <a:p/>
          <a:p>
            <a:r>
              <a:t>Shortened on the slide: row 1, column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Counterpart funding as the constraint · Paper § 2.1.2 · p. 23</a:t>
            </a:r>
          </a:p>
          <a:p/>
          <a:p>
            <a:r>
              <a:t>— Paper 2.1.2. Disbursement mechanisms and counterpart funding requirements —</a:t>
            </a:r>
          </a:p>
          <a:p/>
          <a:p>
            <a:r>
              <a:t>[p. 23, ¶2] Each withdrawal must be supported by documents such as statements of expenditure or interim financial reports. The Bank also sets a minimum value for applications and a disbursement deadline, usually four months after the closing date [26]. CCSEP used all four methods, with a designated account for each province (see Section 3.3.2).</a:t>
            </a:r>
          </a:p>
          <a:p/>
          <a:p>
            <a:r>
              <a:t>[p. 23, ¶3] The IBRD rarely finances the whole project. The borrower contributes counterpart funding, which typically covers costs the Bank does not finance. In CCSEP, counterpart funds paid for land compensation, resettlement, project staff salaries, operating costs and training (see Section 3.3.2). In TEP, NPT provided US$231.25 million of the planned US$731.25 million [21].</a:t>
            </a:r>
          </a:p>
          <a:p/>
          <a:p>
            <a:r>
              <a:t>[p. 23, ¶4] Counterpart funding is often the binding constraint on disbursement. In CCSEP, provincial budget allocations began only in July 2019, so there was no disbursement in 2017 and 2018 (see Section 3.3.3). In such cases, IBRD money is available but cannot be used. Where loans are on-lent to provinces, local governments also take on real debt obligations, which adds to their caution.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Instruments in practice: IPF and PforR · Paper § 2.1.3 · p. 23–24</a:t>
            </a:r>
          </a:p>
          <a:p/>
          <a:p>
            <a:r>
              <a:t>— Paper 2.1.3. How each instrument works in practice: IPF (structure and disbursement), DPF (promoting policy reforms), PforR (linking funding to results) —</a:t>
            </a:r>
          </a:p>
          <a:p/>
          <a:p>
            <a:r>
              <a:t>[p. 23, ¶1] Investment Project Financing is organized around components, a results framework and an implementing agency. Each component has its own budget and financing source, and disbursement follows the progress of contracts. TEP illustrates the model: three components, implemented by NPT's regional project management boards, with IBRD funds paid against works and equipment (see Section 3.2.2). Because disbursement tracks physical progress, delays in land clearance or bidding slow the flow of funds directly.</a:t>
            </a:r>
          </a:p>
          <a:p/>
          <a:p>
            <a:r>
              <a:t>[p. 24, ¶3] Program-for-Results links money to measurable results. The borrower and the Bank agree on Disbursement-Linked Indicators, and funds are released only after an agreed agency verifies that each target is met. Because spending is not traced item by item, PforR relies on the country's own fiduciary and environmental systems, which are assessed beforehand. IEG has found that the choice of DLIs is critical: they must lead clearly to the program's development objective, and monitoring should not focus on DLIs alone [32].</a:t>
            </a:r>
          </a:p>
          <a:p/>
          <a:p>
            <a:r>
              <a:t>[p. 24, ¶4] The three instruments therefore answer different needs. IPF builds assets, DPF supports reforms, and PforR rewards the performance of existing programs. For Vietnam, which has mainly used IPF for infrastructure, the choice matters: a results-based design shifts more responsibility, and more risk, onto domestic agencies.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DPF in Vietnam: policy matrix to budget · Paper § 2.1.3 · p. 24</a:t>
            </a:r>
          </a:p>
          <a:p/>
          <a:p>
            <a:r>
              <a:t>— Paper 2.1.3. How each instrument works in practice: IPF (structure and disbursement), DPF (promoting policy reforms), PforR (linking funding to results) —</a:t>
            </a:r>
          </a:p>
          <a:p/>
          <a:p>
            <a:r>
              <a:t>[p. 24, ¶2] Development Policy Financing works through a policy matrix. The government completes prior actions, such as issuing a decree or adopting a new procedure, and the loan is then released to the budget. Vietnam's Public Investment Reform (PIR) series shows how this works. The first operation, a US$500 million IBRD loan, was approved in December 2009 as the first of two single-tranche operations [2]. The second, approved in May 2011, combined an IBRD loan of US$87.3 million with an IDA credit of US$262.7 million [28]. Its reforms aimed to strengthen the public investment cycle and the legal basis for public-private partnerships [29; 30]. A similar approach supported power-sector reform: in 2010, a DPF operation combined US$200 million from the IBRD with US$111.8 million from IDA [31].</a:t>
            </a:r>
          </a:p>
          <a:p/>
          <a:p>
            <a:r>
              <a:t>DPF operations named in Section 2.1.3 (million USD)</a:t>
            </a:r>
          </a:p>
          <a:p/>
          <a:p>
            <a:r>
              <a:t>Chart data basis: Section 2.1.3 text: PIR 1 US$500 million IBRD [2]; PIR 2 IBRD US$87.3 million + IDA US$262.7 million [28]; power-sector DPF US$200 million IBRD + US$111.8 million IDA [31]. Not a figure in the paper — a chart of figures stated in the text.</a:t>
            </a:r>
          </a:p>
          <a:p/>
          <a:p>
            <a:r>
              <a:t>Data: Section 2.1.3 of the paper ([2], [28], [31]).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Technical support: preparation · Paper § 2.2.1 · p. 24–25</a:t>
            </a:r>
          </a:p>
          <a:p/>
          <a:p>
            <a:r>
              <a:t>— Paper 2.2. Technical support —</a:t>
            </a:r>
          </a:p>
          <a:p/>
          <a:p>
            <a:r>
              <a:t>[p. 24, ¶1] Technical support is what distinguishes IBRD financing from a commercial loan. The Bank helps design the project before money is committed, advises on policy outside any single loan, and tracks results until well after completion.</a:t>
            </a:r>
          </a:p>
          <a:p/>
          <a:p>
            <a:r>
              <a:t>— Paper 2.2.1. Project preparation and feasibility studies —</a:t>
            </a:r>
          </a:p>
          <a:p/>
          <a:p>
            <a:r>
              <a:t>[p. 25, ¶1] During preparation, the borrower designs the project with advice from a Bank task team that includes technical, financial, procurement and safeguard specialists. The team helps define the components and check the technical design. It also tests the project's economic and financial viability. For TEP, the appraisal estimated an economic internal rate of return (EIRR) of 31.4% (see Section 3.2.4). Such analysis gives the borrower an independent check before it takes on debt.</a:t>
            </a:r>
          </a:p>
          <a:p/>
          <a:p>
            <a:r>
              <a:t>[p. 25, ¶2] Preparation also produces the environmental and social instruments required by the Bank's policies. These include impact assessments, resettlement plans and stakeholder consultations. CCSEP, for instance, prepared an environmental and social impact assessment for each city and a resettlement policy framework for all four [33]. Where preparation itself is costly, the borrower can use a Project Preparation Advance, which is later refinanced from the loan [27].</a:t>
            </a:r>
          </a:p>
          <a:p/>
          <a:p>
            <a:r>
              <a:t>[p. 25, ¶3] The quality of preparation shapes everything that follows. IEG concluded that more thorough advance preparation and regulatory coordination on TEP's smart-grid component would have avoided the need to extend the project (see Section 3.2.3).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Advisory Services and Analytics · Paper § 2.2.2 · p. 25</a:t>
            </a:r>
          </a:p>
          <a:p/>
          <a:p>
            <a:r>
              <a:t>— Paper 2.2.2. Analytical and Advisory Services (ASA) for policy formulation —</a:t>
            </a:r>
          </a:p>
          <a:p/>
          <a:p>
            <a:r>
              <a:t>[p. 25, ¶1] Advisory Services and Analytics (ASA) are the Bank's non-lending activities that help clients advance a development objective. Their outputs include analytical reports, policy notes, hands-on advice and knowledge-sharing workshops [34]. ASA can inform a country's policies directly, or prepare the ground for later loans.</a:t>
            </a:r>
          </a:p>
          <a:p/>
          <a:p>
            <a:r>
              <a:t>[p. 25, ¶2] ASA is funded in three ways. In 2023, analytical and advisory disbursements totalled US$991 million: 26% from the Bank's administrative budget, 68% from donor trust funds and 6% from Reimbursable Advisory Services [35]. Under Reimbursable Advisory Services (RAS), a client requests and pays for the advice under a legal agreement [34]. RAS is offered mainly to middle- and high-income countries, which makes it increasingly relevant to Vietnam [36].</a:t>
            </a:r>
          </a:p>
          <a:p/>
          <a:p>
            <a:r>
              <a:t>[p. 25, ¶3] In Vietnam, analytical work has supported several of the reforms later financed by loans. The Public Investment Reform series, for example, rested on policy dialogue about the public investment cycle [2]. At project level, CCSEP drew on technical assistance from PPIAF (US$350,000) and GIZ to support institutional reform under Decree No. 80/2014/ND-CP (see Section 3.3.3).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Monitoring and evaluation: three levels · Paper § 2.2.3 · p. 26</a:t>
            </a:r>
          </a:p>
          <a:p/>
          <a:p>
            <a:r>
              <a:t>— Paper 2.2.3. Monitoring and evaluation (M&amp;E) frameworks —</a:t>
            </a:r>
          </a:p>
          <a:p/>
          <a:p>
            <a:r>
              <a:t>[p. 26, ¶1] Every IBRD project is monitored against a results framework set at appraisal. The framework defines the project development objective (PDO), its outcome indicators, intermediate indicators, baselines and targets. CCSEP, for example, set three key outcome indicators: about 290,000 direct beneficiaries, 256,000 people with sewer connections, and 100% cost recovery (see Section 3.3.1).</a:t>
            </a:r>
          </a:p>
          <a:p/>
          <a:p>
            <a:r>
              <a:t>[p. 26, ¶2] M&amp;E then works at three levels:</a:t>
            </a:r>
          </a:p>
          <a:p/>
          <a:p>
            <a:r>
              <a:t>[p. 26, ¶3] 1. Supervision: the Bank prepares regular Implementation Status and Results Reports (ISRs), rating progress towards the PDO and implementation performance (World Bank, n.d.-c).</a:t>
            </a:r>
          </a:p>
          <a:p/>
          <a:p>
            <a:r>
              <a:t>[p. 26, ¶4] 2. Completion: at closing, the Bank prepares an Implementation Completion and Results Report (ICR) comparing results with targets.</a:t>
            </a:r>
          </a:p>
          <a:p/>
          <a:p>
            <a:r>
              <a:t>[p. 26, ¶5] 3. Independent evaluation: the Independent Evaluation Group (IEG) validates the ICR and, for selected projects, prepares a more detailed Project Performance Assessment Report (PPAR).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What M&amp;E shows and its limits · Paper § 2.2.3 · p. 26</a:t>
            </a:r>
          </a:p>
          <a:p/>
          <a:p>
            <a:r>
              <a:t>— Paper 2.2.3. Monitoring and evaluation (M&amp;E) frameworks —</a:t>
            </a:r>
          </a:p>
          <a:p/>
          <a:p>
            <a:r>
              <a:t>[p. 26, ¶6] This system produces evidence that the borrower can use. TEP's PPAR rated the outcome highly satisfactory, Bank performance satisfactory and the quality of M&amp;E substantial [37]. Ratings during implementation also act as an early warning. In 2022, CCSEP's likelihood of achieving its PDO was downgraded to moderately unsatisfactory, which led to restructuring (see Section 3.3.3).</a:t>
            </a:r>
          </a:p>
          <a:p/>
          <a:p>
            <a:r>
              <a:t>[p. 26, ¶7] M&amp;E has limits. Many indicators, such as transmission losses, measure the whole system rather than the project alone. IEG therefore warned that some of TEP's improvements cannot be attributed to the project alone (see Section 3.2.4). For projects without a published ICR, such as CCSEP, the assessment must rely on interim reports.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Training project management units · Paper § 2.3.1 · p. 27</a:t>
            </a:r>
          </a:p>
          <a:p/>
          <a:p>
            <a:r>
              <a:t>— Paper 2.3. Training and Capacity Building —</a:t>
            </a:r>
          </a:p>
          <a:p/>
          <a:p>
            <a:r>
              <a:t>[p. 27, ¶1] Training and capacity building aim to leave the borrower able to manage similar investments without outside help. They work at three levels: the people in project units, the technical skills those people apply, and the institutions they work for.</a:t>
            </a:r>
          </a:p>
          <a:p/>
          <a:p>
            <a:r>
              <a:t>— Paper 2.3.1. Human resource development for project management units (PMUs) —</a:t>
            </a:r>
          </a:p>
          <a:p/>
          <a:p>
            <a:r>
              <a:t>[p. 27, ¶1] In Vietnam, IBRD projects are run by project management units (PMUs) or boards attached to the implementing agency. TEP was implemented through NPT's northern, central and southern project management boards. CCSEP used one PMU in each province (see Sections 3.2.1 and 3.3.1).</a:t>
            </a:r>
          </a:p>
          <a:p/>
          <a:p>
            <a:r>
              <a:t>[p. 27, ¶2] The Bank supports these units with training in project management, financial management, procurement and safeguards. Much of this is delivered through the World Bank's Open Learning Campus, which offers self-paced and blended courses. Its project orientation courses, for example, cover Bank expectations, project and financial management, procurement, environmental and social risk management, and M&amp;E [38].</a:t>
            </a:r>
          </a:p>
          <a:p/>
          <a:p>
            <a:r>
              <a:t>[p. 27, ¶3] Training is most effective when staff stay with the unit. CCSEP built on PMUs inherited from an earlier project, and the new PMU in Phan Rang drew 10 of its 12 staff from other ODA units (see Section 3.3.3). Even so, weak PMU capacity remained a main cause of delay, and the Bank recommended adding qualified staff after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Knowledge transfer by doing · Paper § 2.3.2 · p. 27–28</a:t>
            </a:r>
          </a:p>
          <a:p/>
          <a:p>
            <a:r>
              <a:t>— Paper 2.3.2. Knowledge transfer in procurement and environmental safeguards —</a:t>
            </a:r>
          </a:p>
          <a:p/>
          <a:p>
            <a:r>
              <a:t>[p. 27, ¶1] Much of the knowledge transfer happens through doing. Borrower staff apply the Bank's procurement rules and safeguard policies on real contracts, while Bank specialists review key steps. Over time, this builds skills in bidding, contract management and risk assessment.</a:t>
            </a:r>
          </a:p>
          <a:p/>
          <a:p>
            <a:r>
              <a:t>[p. 27, ¶2] The Bank also runs dedicated programs. In 2014, it launched what it described as the world's first massive open online course (MOOC) on public procurement, with more than 540 certified learners [39]. E-procurement courses on the Open Learning Campus offer certification to participants who pass an examination [40].</a:t>
            </a:r>
          </a:p>
          <a:p/>
          <a:p>
            <a:r>
              <a:t>[p. 28, ¶3] TEP shows the cumulative effect. IEG found that NPT's regional boards had built capabilities in procurement, contract administration, financial management, safeguards and reporting, partly from earlier World Bank projects [37]. Safeguards proved harder to transfer. Nha Trang shows that knowing the Bank's resettlement standards is not enough when local compensation rules and land prices differ (see Section 3.3.4).</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Institutional reform in the two cases · Paper § 2.3.3 · p. 28</a:t>
            </a:r>
          </a:p>
          <a:p/>
          <a:p>
            <a:r>
              <a:t>— Paper 2.3.3. Strengthening institutional governance in beneficiary sectors —</a:t>
            </a:r>
          </a:p>
          <a:p/>
          <a:p>
            <a:r>
              <a:t>[p. 28, ¶1] The third level targets institutions rather than individuals. Here, IBRD projects include components that change how a sector agency or utility is run.</a:t>
            </a:r>
          </a:p>
          <a:p/>
          <a:p>
            <a:r>
              <a:t>[p. 28] Table 6. Institutional reform activities in the two case studies (full table, all cells verbatim)</a:t>
            </a:r>
          </a:p>
          <a:p/>
          <a:p>
            <a:r>
              <a:t>Project | Reform activity | Position at the latest report</a:t>
            </a:r>
          </a:p>
          <a:p/>
          <a:p>
            <a:r>
              <a:t>TEP | Asset management system for NPT | Fully operational; used for investment and maintenance decisions</a:t>
            </a:r>
          </a:p>
          <a:p/>
          <a:p>
            <a:r>
              <a:t>TEP | Cost-reflective transmission tariff, IFRS reporting, testing laboratory | Carried out mainly with NPT/EVN funds</a:t>
            </a:r>
          </a:p>
          <a:p/>
          <a:p>
            <a:r>
              <a:t>CCSEP | Public Service Management Units in each city | Established</a:t>
            </a:r>
          </a:p>
          <a:p/>
          <a:p>
            <a:r>
              <a:t>CCSEP | Wastewater tariff roadmaps, household connection policies | Approved or issued; implementation varies by city</a:t>
            </a:r>
          </a:p>
          <a:p/>
          <a:p>
            <a:r>
              <a:t>CCSEP | Performance-based service contracts | Largely not yet in use, except at the Nha Trang treatment plant</a:t>
            </a:r>
          </a:p>
          <a:p/>
          <a:p>
            <a:r>
              <a:t>Source: Sections 3.2.3 and 3.3.3, based on World Bank (2022a, 2022b, 2022c, 2023).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Reform depends on the borrower · Paper § 2.3.3 · p. 28</a:t>
            </a:r>
          </a:p>
          <a:p/>
          <a:p>
            <a:r>
              <a:t>— Paper 2.3.3. Strengthening institutional governance in beneficiary sectors —</a:t>
            </a:r>
          </a:p>
          <a:p/>
          <a:p>
            <a:r>
              <a:t>[p. 28, ¶2] Development Policy Financing pursues the same goal at national level. The Public Investment Reform series, for example, supported measures to strengthen how public investment projects are selected and implemented [2].</a:t>
            </a:r>
          </a:p>
          <a:p/>
          <a:p>
            <a:r>
              <a:t>[p. 28, ¶3] Institutional reform depends heavily on the borrower's own commitment. In TEP, US$5.50 million of the capacity-building component's US$5.74 million actual cost came from NPT, and only US$0.24 million from the IBRD (see Section 3.2.2). In CCSEP, the whole of Component 4 was financed by counterpart funds, and many reforms stopped at the setup stage (see Section 3.3.3). The IBRD can design and advise on reform, but the borrower must fund and sustain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Three forms of support across the cycle · Paper § 2.4 · p. 29</a:t>
            </a:r>
          </a:p>
          <a:p/>
          <a:p>
            <a:r>
              <a:t>— Paper 2.4. Overall assessment —</a:t>
            </a:r>
          </a:p>
          <a:p/>
          <a:p>
            <a:r>
              <a:t>[p. 29, ¶1] The three forms of support are designed as one package: finance pays for the investment, technical support makes it sound, and training makes it last. Each covers a weakness of the others, and each appears at every stage of the project cycle.</a:t>
            </a:r>
          </a:p>
          <a:p/>
          <a:p>
            <a:r>
              <a:t>[p. 29] Table 7. The three forms of IBRD support across the project cycle (full table, all cells verbatim)</a:t>
            </a:r>
          </a:p>
          <a:p/>
          <a:p>
            <a:r>
              <a:t>Stage | Financial support | Technical support | Training and capacity building</a:t>
            </a:r>
          </a:p>
          <a:p/>
          <a:p>
            <a:r>
              <a:t>Preparation and appraisal | Loan size, instrument and terms agreed; Project Preparation Advance if needed | Feasibility, economic analysis, safeguard instruments, results framework | Assessment of the implementing agency’s capacity</a:t>
            </a:r>
          </a:p>
          <a:p/>
          <a:p>
            <a:r>
              <a:t>Implementation | Disbursement against eligible expenditures or results | Supervision, ISRs, restructuring when needed | PMU training in procurement, financial management and safeguards</a:t>
            </a:r>
          </a:p>
          <a:p/>
          <a:p>
            <a:r>
              <a:t>Completion and after | Loan repayment; savings cancelled | ICR and IEG evaluation; lessons for new projects | Systems and institutions left in place (e.g. TEP’s asset management system)</a:t>
            </a:r>
          </a:p>
          <a:p/>
          <a:p>
            <a:r>
              <a:t>Source: Authors’ synthesis of Sections 2.1-2.3.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One package, one dependency · Paper § 2.4 · p. 29–30</a:t>
            </a:r>
          </a:p>
          <a:p/>
          <a:p>
            <a:r>
              <a:t>— Paper 2.4. Overall assessment —</a:t>
            </a:r>
          </a:p>
          <a:p/>
          <a:p>
            <a:r>
              <a:t>[p. 29, ¶2] The forms reinforce one another in three ways. First, money gives weight to advice: a borrower is more likely to adopt the Bank’s procurement and safeguard standards when they are conditions of a loan. Second, advice protects the money: appraisal and supervision reduce the risk that funds are wasted on a poorly designed project. Third, training protects the results: assets built with IBRD funds keep working only if local institutions can operate and maintain them.</a:t>
            </a:r>
          </a:p>
          <a:p/>
          <a:p>
            <a:r>
              <a:t>[p. 30, ¶3] The package, however, depends on the borrower. The evidence in Chapter 3 shows that the binding constraints usually lie on the domestic side: counterpart funding, land acquisition and PMU capacity. When these fail, IBRD money stays undisbursed, technical advice cannot be applied, and training stops at setup. The value of the IBRD therefore lies less in any single form of support than in their combination, and that combination works only when domestic systems are ready to absorb it. Chapter 3 tests this argument against two projects in Vietnam.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The IBRD and selected projects in Vietnam · p. 31</a:t>
            </a:r>
          </a:p>
          <a:p/>
          <a:p>
            <a:r>
              <a:t>— Paper CHAPTER 3. THE IBRD AND SELECTED PROJECTS IN VIETNAM (p. 31) —</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Vietnam and the World Bank since 1993 · Paper § 3.1 · 3.1.1 · p. 31–32</a:t>
            </a:r>
          </a:p>
          <a:p/>
          <a:p>
            <a:r>
              <a:t>— Paper 3.1. Context of Vietnam-World Bank Relations —</a:t>
            </a:r>
          </a:p>
          <a:p/>
          <a:p>
            <a:r>
              <a:t>[p. 31, ¶1] In the following analysis, monetary amounts are expressed in USD. Appraisal figures refer to planned financing, whereas amounts at project closing describe reported expenditure or disbursement. Distinguishing these measures is essential when assessing the IBRD contribution to project financing [44; 41; 37].</a:t>
            </a:r>
          </a:p>
          <a:p/>
          <a:p>
            <a:r>
              <a:t>— Paper 3.1.1. Resumption of the partnership in 1993 —</a:t>
            </a:r>
          </a:p>
          <a:p/>
          <a:p>
            <a:r>
              <a:t>[p. 31, ¶1] The present lending relationship between Vietnam and the World Bank took shape when the Bank resumed lending in October 1993, following the resolution of arrears and the re-establishment of external financial relations. Two IDA credits were approved that month: approximately USD 70 million for primary education and USD 158.5 million for highway rehabilitation. The Bank opened its resident office in Hanoi in 1994. This re-engagement coincided with the early institutional and market reforms introduced under Đổi Mới and signalled the return of large-scale multilateral financing for infrastructure and human development [45; 46].</a:t>
            </a:r>
          </a:p>
          <a:p/>
          <a:p>
            <a:r>
              <a:t>— Paper 3.1.2. IDA graduation in July 2017 and the transition to IBRD lending —</a:t>
            </a:r>
          </a:p>
          <a:p/>
          <a:p>
            <a:r>
              <a:t>[p. 31, ¶1] Vietnam graduated from regular IDA eligibility with effect from 1 July 2017. In operational terms, graduation marked a change in the expected composition and terms of new sovereign borrowing rather than an immediate termination of all IDA-related activity. The World Bank's 2019 Performance and Learning Review records transitional IDA18 support of SDR 1.593 billion (approximately USD 2.3 billion before a subsequent allocation reduction), alongside continuing access to IBRD financing [3]. Existing IDA-financed projects therefore continued into subsequent years.</a:t>
            </a:r>
          </a:p>
          <a:p/>
          <a:p>
            <a:r>
              <a:t>[p. 32, ¶2] The transition is relevant to project financing because IBRD lending is generally closer to market-based pricing than traditional IDA credits, making debt-service capacity, project selection, economic returns and fiscal risk more prominent considerations. Yet the transition did not establish IBRD as an entirely new lender to Vietnam. The Transmission Efficiency Project examined in Section 3.2 was approved for an IBRD loan on 7 August 2014, almost three years before IDA graduation. It therefore demonstrates that an IBRD-financed project could coexist with an active IDA portfolio before the formal graduation date [44; 41].</a:t>
            </a:r>
          </a:p>
          <a:p/>
          <a:p>
            <a:r>
              <a:t>[p. 32, ¶3] Graduation should consequently be described as a shift in lending mix and financing conditions rather than a simple substitution of every IDA project by an IBRD project. Differences between the two institutions are most meaningful when traced to actual financing agreements, counterpart obligations and project results, rather than broad labels such as "soft loan" or "commercial loan". The World Bank Group reclassified Vietnam as an upper-middle-income economy in July 2026, a country-income classification distinct from its 2017 IDA graduation [4].</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 A shift in lending mix · Paper § 3.1.1 · 3.1.2 · p. 31–32</a:t>
            </a:r>
          </a:p>
          <a:p/>
          <a:p>
            <a:r>
              <a:t>— Paper 3.1. Context of Vietnam-World Bank Relations —</a:t>
            </a:r>
          </a:p>
          <a:p/>
          <a:p>
            <a:r>
              <a:t>[p. 31, ¶1] In the following analysis, monetary amounts are expressed in USD. Appraisal figures refer to planned financing, whereas amounts at project closing describe reported expenditure or disbursement. Distinguishing these measures is essential when assessing the IBRD contribution to project financing [44; 41; 37].</a:t>
            </a:r>
          </a:p>
          <a:p/>
          <a:p>
            <a:r>
              <a:t>— Paper 3.1.1. Resumption of the partnership in 1993 —</a:t>
            </a:r>
          </a:p>
          <a:p/>
          <a:p>
            <a:r>
              <a:t>[p. 31, ¶2] During the following two decades, the World Bank's role extended beyond the provision of capital. IDA-financed operations supported physical infrastructure, education, poverty reduction and public-sector institutions, while policy analysis and project-level technical assistance helped public agencies manage complex investments. The historical distinction matters for this paper: "World Bank financing" is an umbrella description; the institutional source of a particular loan may be IDA or IBRD and must be identified from the project's appraisal and legal documentation rather than inferred from the World Bank name.</a:t>
            </a:r>
          </a:p>
          <a:p/>
          <a:p>
            <a:r>
              <a:t>— Paper 3.1.2. IDA graduation in July 2017 and the transition to IBRD lending —</a:t>
            </a:r>
          </a:p>
          <a:p/>
          <a:p>
            <a:r>
              <a:t>[p. 32, ¶2] The transition is relevant to project financing because IBRD lending is generally closer to market-based pricing than traditional IDA credits, making debt-service capacity, project selection, economic returns and fiscal risk more prominent considerations. Yet the transition did not establish IBRD as an entirely new lender to Vietnam. The Transmission Efficiency Project examined in Section 3.2 was approved for an IBRD loan on 7 August 2014, almost three years before IDA graduation. It therefore demonstrates that an IBRD-financed project could coexist with an active IDA portfolio before the formal graduation date [44; 41].</a:t>
            </a:r>
          </a:p>
          <a:p/>
          <a:p>
            <a:r>
              <a:t>[p. 32, ¶3] Graduation should consequently be described as a shift in lending mix and financing conditions rather than a simple substitution of every IDA project by an IBRD project. Differences between the two institutions are most meaningful when traced to actual financing agreements, counterpart obligations and project results, rather than broad labels such as "soft loan" or "commercial loan". The World Bank Group reclassified Vietnam as an upper-middle-income economy in July 2026, a country-income classification distinct from its 2017 IDA graduation [4].</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49 · A late IDA project: SAHEP (2017) · Paper § 3.1.3 · p. 32</a:t>
            </a:r>
          </a:p>
          <a:p/>
          <a:p>
            <a:r>
              <a:t>— Paper 3.1.3. Comparison with a late IDA-financed project: SAHEP (2017) —</a:t>
            </a:r>
          </a:p>
          <a:p/>
          <a:p>
            <a:r>
              <a:t>[p. 32, ¶1] The Support for Autonomous Higher Education Project (SAHEP, P156849) provides a useful near-graduation comparison. Approved by the World Bank's Board on 15 May 2017, SAHEP was financed through an IDA credit of SDR 114.3 million, equivalent to USD 155 million at appraisal. Its total estimated project cost was USD 174.60 million, including USD 19.60 million of counterpart financing. The project sought to improve the research, teaching and institutional capacity of selected autonomous universities and strengthen national higher-education management [47].</a:t>
            </a:r>
          </a:p>
          <a:p/>
          <a:p>
            <a:r>
              <a:t>[p. 32, ¶2] SAHEP is illustrative of the late IDA pipeline, not evidence that IDA disbursements stopped in July 2017 or that SAHEP was necessarily the final IDA-approved project. Moreover, its education-sector outputs cannot be compared directly with the electrical network indicators of TEP. The comparison is institutional: in 2017 an IDA credit was approved for university and governance investments, whereas TEP had already used an IBRD loan to support a large network-investment program in 2014.</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50 · TEP and SAHEP at appraisal (1/2) · Paper § 3.1.3 · p. 33</a:t>
            </a:r>
          </a:p>
          <a:p/>
          <a:p>
            <a:r>
              <a:t>[p. 33] Table 8. Selected project financing characteristics at appraisal: TEP and SAHEP (full table, all cells verbatim)</a:t>
            </a:r>
          </a:p>
          <a:p/>
          <a:p>
            <a:r>
              <a:t>Indicator | Transmission Efficiency Project (TEP) | Support for Autonomous Higher Education Project (SAHEP)</a:t>
            </a:r>
          </a:p>
          <a:p/>
          <a:p>
            <a:r>
              <a:t>World Bank project ID | P131558 | P156849</a:t>
            </a:r>
          </a:p>
          <a:p/>
          <a:p>
            <a:r>
              <a:t>Approval date | 7 August 2014 | 15 May 2017</a:t>
            </a:r>
          </a:p>
          <a:p/>
          <a:p>
            <a:r>
              <a:t>Financing institution | IBRD (loan 8417-VN) | IDA (credit 6036-VN)</a:t>
            </a:r>
          </a:p>
          <a:p/>
          <a:p>
            <a:r>
              <a:t>World Bank financing (million USD) | 500.00 | 155.00</a:t>
            </a:r>
          </a:p>
          <a:p/>
          <a:p>
            <a:r>
              <a:t>Counterpart financing (million USD) | 231.25 | 19.60</a:t>
            </a:r>
          </a:p>
          <a:p/>
          <a:p>
            <a:r>
              <a:t>Total appraisal cost (million USD) | 731.25 | 174.60</a:t>
            </a:r>
          </a:p>
          <a:p/>
          <a:p>
            <a:r>
              <a:t>Primary sector | Electricity transmission | Higher education</a:t>
            </a:r>
          </a:p>
          <a:p/>
          <a:p>
            <a:r>
              <a:t>Source: Authors’ compilation from World Bank (2014, 2017), project appraisal documents.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51 · TEP and SAHEP at appraisal (2/2) · Paper § 3.1.3 · p. 33</a:t>
            </a:r>
          </a:p>
          <a:p/>
          <a:p>
            <a:r>
              <a:t>[p. 33] Table 8. Selected project financing characteristics at appraisal: TEP and SAHEP (full table, all cells verbatim)</a:t>
            </a:r>
          </a:p>
          <a:p/>
          <a:p>
            <a:r>
              <a:t>Indicator | Transmission Efficiency Project (TEP) | Support for Autonomous Higher Education Project (SAHEP)</a:t>
            </a:r>
          </a:p>
          <a:p/>
          <a:p>
            <a:r>
              <a:t>World Bank project ID | P131558 | P156849</a:t>
            </a:r>
          </a:p>
          <a:p/>
          <a:p>
            <a:r>
              <a:t>Approval date | 7 August 2014 | 15 May 2017</a:t>
            </a:r>
          </a:p>
          <a:p/>
          <a:p>
            <a:r>
              <a:t>Financing institution | IBRD (loan 8417-VN) | IDA (credit 6036-VN)</a:t>
            </a:r>
          </a:p>
          <a:p/>
          <a:p>
            <a:r>
              <a:t>World Bank financing (million USD) | 500.00 | 155.00</a:t>
            </a:r>
          </a:p>
          <a:p/>
          <a:p>
            <a:r>
              <a:t>Counterpart financing (million USD) | 231.25 | 19.60</a:t>
            </a:r>
          </a:p>
          <a:p/>
          <a:p>
            <a:r>
              <a:t>Total appraisal cost (million USD) | 731.25 | 174.60</a:t>
            </a:r>
          </a:p>
          <a:p/>
          <a:p>
            <a:r>
              <a:t>Primary sector | Electricity transmission | Higher education</a:t>
            </a:r>
          </a:p>
          <a:p/>
          <a:p>
            <a:r>
              <a:t>Source: Authors’ compilation from World Bank (2014, 2017), project appraisal documents.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52 · Two overlapping legal systems · Paper § 3.1.4 · p. 33–35</a:t>
            </a:r>
          </a:p>
          <a:p/>
          <a:p>
            <a:r>
              <a:t>— Paper 3.1.4. Legal framework governing ODA and concessional external loans —</a:t>
            </a:r>
          </a:p>
          <a:p/>
          <a:p>
            <a:r>
              <a:t>[p. 33, ¶1] Multilateral borrowing is implemented within two overlapping systems: Vietnamese public-investment and public-debt rules, and the World Bank requirements incorporated in the relevant financing agreement and project documentation. The domestic framework governs such matters as project approval, external-loan administration, on-lending and allocation of counterpart funds. The Bank framework addresses eligible expenditure, procurement, financial management, reporting, safeguards and supervision. A project can encounter implementation difficulties where the timing and documentation requirements of these systems do not align.</a:t>
            </a:r>
          </a:p>
          <a:p/>
          <a:p>
            <a:r>
              <a:t>[p. 34, ¶2] The legislation must be read as of the relevant period. At the time of TEP approval in 2014, the overarching ODA and concessional-loan decree was Decree No. 38/2013/ND-CP [48]. It was subsequently replaced by Decree No. 16/2016/ND-CP [49], and later by Decree No. 56/2020/ND-CP [50]. Decree No. 114/2021/ND-CP, as amended by Decree No. 20/2023/ND-CP, is useful for understanding an earlier phase of ODA administration but should not be presented as the current principal decree [51; 52].</a:t>
            </a:r>
          </a:p>
          <a:p/>
          <a:p>
            <a:r>
              <a:t>[p. 34, ¶3] As at October 2026, Decree No. 242/2025/ND-CP (effective 10 September 2025), as amended by Decree No. 119/2026/ND-CP (issued 3 April 2026), forms the principal current decree-level framework [53; 54]. The 2026 amendment contains transitional provisions, making the date at which a project proposal or investment decision was approved material to procedural treatment. Since TEP closed on 31 December 2021, this contemporary regime is contextual rather than a basis for retrospectively judging the project's 2014 legal compliance.</a:t>
            </a:r>
          </a:p>
          <a:p/>
          <a:p>
            <a:r>
              <a:t>[p. 35, ¶4] The World Bank's environmental and social regime also changed over time. Its Environmental and Social Framework (ESF) applies to new investment project financing initiated on or after 1 October 2018 [22]. TEP, initiated before that date and classified as a Category B project, was governed by the earlier safeguard policies and related project instruments. Applying the later ESF standards retroactively to the 2014 operation would be methodologically incorrect [44].</a:t>
            </a:r>
          </a:p>
          <a:p/>
          <a:p>
            <a:r>
              <a:t>[p. 35, ¶5] This historical and regulatory context provides the basis for assessing the IBRD in practice. The first case concerns an energy-transmission investment approved before IDA graduation, allowing the analysis to distinguish the financing mechanism from the timing of Vietnam's transition to IBRD borrowing.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53 · Regulatory milestones · Paper § 3.1.4 · p. 34</a:t>
            </a:r>
          </a:p>
          <a:p/>
          <a:p>
            <a:r>
              <a:t>[p. 34] Table 9. Selected milestones in Vietnam’s regulatory framework for ODA and concessional loans (full table, all cells verbatim)</a:t>
            </a:r>
          </a:p>
          <a:p/>
          <a:p>
            <a:r>
              <a:t>Instrument | Effective date / period | Relevance for the analysis</a:t>
            </a:r>
          </a:p>
          <a:p/>
          <a:p>
            <a:r>
              <a:t>Decree 38/2013/ND-CP | Issued 23 April 2013 | Principal ODA framework at TEP approval in 2014</a:t>
            </a:r>
          </a:p>
          <a:p/>
          <a:p>
            <a:r>
              <a:t>Decree 16/2016/ND-CP | Effective 2 May 2016 | Replaced Decree 38/2013; historical implementation period</a:t>
            </a:r>
          </a:p>
          <a:p/>
          <a:p>
            <a:r>
              <a:t>Decree 56/2020/ND-CP | Effective 25 May 2020 | Replaced Decree 16/2016; pre-2021 ODA framework</a:t>
            </a:r>
          </a:p>
          <a:p/>
          <a:p>
            <a:r>
              <a:t>Decree 114/2021/ND-CP and Decree 20/2023/ND-CP | 2021-9 September 2025 | Subsequent ODA framework; superseded</a:t>
            </a:r>
          </a:p>
          <a:p/>
          <a:p>
            <a:r>
              <a:t>Decree 242/2025/ND-CP | Effective 10 September 2025 | Current principal decree as at October 2026</a:t>
            </a:r>
          </a:p>
          <a:p/>
          <a:p>
            <a:r>
              <a:t>Decree 119/2026/ND-CP | Issued 3 Apr 2026; effective 1 Jan 2026 | Amends Decree 242/2025; includes transition rules</a:t>
            </a:r>
          </a:p>
          <a:p/>
          <a:p>
            <a:r>
              <a:t>Source: Authors’ compilation from Government of Viet Nam (2013, 2016, 2020, 2021, 2023, 2025, 2026).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54 · Case study 1: Transmission Efficiency Project · p. 35</a:t>
            </a:r>
          </a:p>
          <a:p/>
          <a:p>
            <a:r>
              <a:t>— Paper 3.2. Case study 1: Transmission Efficiency Project (TEP), energy sector (p. 35) —</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55 · TEP: project overview · Paper § 3.2.1 · p. 35</a:t>
            </a:r>
          </a:p>
          <a:p/>
          <a:p>
            <a:r>
              <a:t>— Paper 3.2.1. Project overview —</a:t>
            </a:r>
          </a:p>
          <a:p/>
          <a:p>
            <a:r>
              <a:t>[p. 35, ¶1] The Transmission Efficiency Project (TEP; P131558; IBRD loan 8417-VN) was approved on 7 August 2014 and became effective on 10 February 2015. The original closing date of 31 December 2019 was extended to 31 December 2021. Its formal development objective was to improve the capacity, efficiency and reliability of electricity transmission services in selected parts of Vietnam's network. TEP was financed using Investment Project Financing (IPF), rather than a development-policy or results-based lending instrument [44; 41; 37].</a:t>
            </a:r>
          </a:p>
          <a:p/>
          <a:p>
            <a:r>
              <a:t>[p. 35, ¶2] The Socialist Republic of Vietnam was the borrower. The National Power Transmission Corporation (NPT), a subsidiary of Vietnam Electricity (EVN), served as the responsible implementing entity, with implementation distributed across the northern, central and southern regional project management boards. The Ministry of Industry and Trade was responsible for sector policy and relevant technical approvals. The investment program covered 220-kV and 500-kV lines and substations in the greater Hanoi region, the greater Ho Chi Minh City and Mekong Delta areas, and central Vietnam [44; 37].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56 · TEP profile and milestones (1/2) · Paper § 3.2.1 · p. 36</a:t>
            </a:r>
          </a:p>
          <a:p/>
          <a:p>
            <a:r>
              <a:t>[p. 36] Table 10. TEP: basic project profile and implementation milestones (full table, all cells verbatim)</a:t>
            </a:r>
          </a:p>
          <a:p/>
          <a:p>
            <a:r>
              <a:t>Item | Verified information</a:t>
            </a:r>
          </a:p>
          <a:p/>
          <a:p>
            <a:r>
              <a:t>Project name / ID | Transmission Efficiency Project (TEP) / P131558</a:t>
            </a:r>
          </a:p>
          <a:p/>
          <a:p>
            <a:r>
              <a:t>Loan number / instrument | IBRD loan 8417-VN / Investment Project Financing</a:t>
            </a:r>
          </a:p>
          <a:p/>
          <a:p>
            <a:r>
              <a:t>Borrower / responsible agency | Socialist Republic of Viet Nam / NPT (EVN subsidiary)</a:t>
            </a:r>
          </a:p>
          <a:p/>
          <a:p>
            <a:r>
              <a:t>Approval / effectiveness | 7 August 2014 / 10 February 2015</a:t>
            </a:r>
          </a:p>
          <a:p/>
          <a:p>
            <a:r>
              <a:t>Original / actual closing | 31 December 2019 / 31 December 2021</a:t>
            </a:r>
          </a:p>
          <a:p/>
          <a:p>
            <a:r>
              <a:t>Appraisal IBRD loan | USD 500.00 million</a:t>
            </a:r>
          </a:p>
          <a:p/>
          <a:p>
            <a:r>
              <a:t>Appraisal borrower contribution | USD 231.25 million</a:t>
            </a:r>
          </a:p>
          <a:p/>
          <a:p>
            <a:r>
              <a:t>Appraisal total project cost | USD 731.25 million</a:t>
            </a:r>
          </a:p>
          <a:p/>
          <a:p>
            <a:r>
              <a:t>Actual total project cost at closing | USD 517.53 million</a:t>
            </a:r>
          </a:p>
          <a:p/>
          <a:p>
            <a:r>
              <a:t>Source: Authors’ compilation from World Bank (2014, Project Data Sheet), World Bank (2022a, pp. 1-3, 49), and World Bank (2023, pp. v-vi).</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57 · TEP profile and milestones (2/2) · Paper § 3.2.1 · p. 36</a:t>
            </a:r>
          </a:p>
          <a:p/>
          <a:p>
            <a:r>
              <a:t>— Paper 3.2.1. Project overview —</a:t>
            </a:r>
          </a:p>
          <a:p/>
          <a:p>
            <a:r>
              <a:t>[p. 36, ¶3] At appraisal, the overall project cost was estimated at USD 731.25 million, including a USD 500.00 million IBRD loan and USD 231.25 million in borrower resources. These amounts describe the planned financing envelope, not the amount drawn from IBRD or spent on physical works. The loan also included a USD 1.25 million front-end fee, so the figure for investment components alone must not be equated with the complete financing total [44; 41].</a:t>
            </a:r>
          </a:p>
          <a:p/>
          <a:p>
            <a:r>
              <a:t>[p. 36] Table 10. TEP: basic project profile and implementation milestones (full table, all cells verbatim)</a:t>
            </a:r>
          </a:p>
          <a:p/>
          <a:p>
            <a:r>
              <a:t>Item | Verified information</a:t>
            </a:r>
          </a:p>
          <a:p/>
          <a:p>
            <a:r>
              <a:t>Project name / ID | Transmission Efficiency Project (TEP) / P131558</a:t>
            </a:r>
          </a:p>
          <a:p/>
          <a:p>
            <a:r>
              <a:t>Loan number / instrument | IBRD loan 8417-VN / Investment Project Financing</a:t>
            </a:r>
          </a:p>
          <a:p/>
          <a:p>
            <a:r>
              <a:t>Borrower / responsible agency | Socialist Republic of Viet Nam / NPT (EVN subsidiary)</a:t>
            </a:r>
          </a:p>
          <a:p/>
          <a:p>
            <a:r>
              <a:t>Approval / effectiveness | 7 August 2014 / 10 February 2015</a:t>
            </a:r>
          </a:p>
          <a:p/>
          <a:p>
            <a:r>
              <a:t>Original / actual closing | 31 December 2019 / 31 December 2021</a:t>
            </a:r>
          </a:p>
          <a:p/>
          <a:p>
            <a:r>
              <a:t>Appraisal IBRD loan | USD 500.00 million</a:t>
            </a:r>
          </a:p>
          <a:p/>
          <a:p>
            <a:r>
              <a:t>Appraisal borrower contribution | USD 231.25 million</a:t>
            </a:r>
          </a:p>
          <a:p/>
          <a:p>
            <a:r>
              <a:t>Appraisal total project cost | USD 731.25 million</a:t>
            </a:r>
          </a:p>
          <a:p/>
          <a:p>
            <a:r>
              <a:t>Actual total project cost at closing | USD 517.53 million</a:t>
            </a:r>
          </a:p>
          <a:p/>
          <a:p>
            <a:r>
              <a:t>Source: Authors’ compilation from World Bank (2014, Project Data Sheet), World Bank (2022a, pp. 1-3, 49), and World Bank (2023, pp. v-vi).</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58 · Three components · Paper § 3.2.2 · p. 36</a:t>
            </a:r>
          </a:p>
          <a:p/>
          <a:p>
            <a:r>
              <a:t>— Paper 3.2.2. Project components and financial structure —</a:t>
            </a:r>
          </a:p>
          <a:p/>
          <a:p>
            <a:r>
              <a:t>[p. 36, ¶1] TEP's first component financed construction, rehabilitation and upgrading of high-voltage transmission infrastructure. By increasing the power-transfer capacity of critical corridors and substations, these investments sought to ease load constraints, reduce system losses and improve reliability. Its second component financed the modernization of monitoring, control and protection equipment in selected substations through smart-grid technology. Such equipment was intended principally to improve operational information and fault management; the second component did not itself constitute the construction of additional transmission capacity [44; 42].</a:t>
            </a:r>
          </a:p>
          <a:p/>
          <a:p>
            <a:r>
              <a:t>[p. 36, ¶2] At appraisal, the infrastructure component accounted for USD 625.00 million of total project cost, compared with USD 80.00 million for smart-grid investments and USD 25.00 million for capacity building. Actual closing costs were lower in each category. The component-level breakdown is particularly informative because it distinguishes the physical and digital assets created by the project from its smaller institutional reform agenda [41].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59 · Cost by component (million USD) · Paper § 3.2.2 · p. 37</a:t>
            </a:r>
          </a:p>
          <a:p/>
          <a:p>
            <a:r>
              <a:t>— Paper 3.2.2. Project components and financial structure —</a:t>
            </a:r>
          </a:p>
          <a:p/>
          <a:p>
            <a:r>
              <a:t>[p. 37, ¶3] Table 11 reproduces the component cost figures published in the World Bank completion report. Table 12 then separates the IBRD contribution from the borrower-financed portion, providing the financial breakdown needed to assess the project's financing mechanism.</a:t>
            </a:r>
          </a:p>
          <a:p/>
          <a:p>
            <a:r>
              <a:t>[p. 37] Table 11. TEP project cost by component at approval and at closing (million USD) (full table, all cells verbatim)</a:t>
            </a:r>
          </a:p>
          <a:p/>
          <a:p>
            <a:r>
              <a:t>Project component | Amount at approval | Actual at closing | Actual / approval (%)</a:t>
            </a:r>
          </a:p>
          <a:p/>
          <a:p>
            <a:r>
              <a:t>Enhancing Transmission Infrastructure | 625.00 | 464.53 | 74.30</a:t>
            </a:r>
          </a:p>
          <a:p/>
          <a:p>
            <a:r>
              <a:t>Developing Smart Grid Network | 80.00 | 46.01 | 57.50</a:t>
            </a:r>
          </a:p>
          <a:p/>
          <a:p>
            <a:r>
              <a:t>Capacity Building | 25.00 | 5.74 | 22.96</a:t>
            </a:r>
          </a:p>
          <a:p/>
          <a:p>
            <a:r>
              <a:t>Front-end fee | 1.25 | 1.25 | 100.00</a:t>
            </a:r>
          </a:p>
          <a:p/>
          <a:p>
            <a:r>
              <a:t>Total project cost | 731.25 | 517.53 | 70.77</a:t>
            </a:r>
          </a:p>
          <a:p/>
          <a:p>
            <a:r>
              <a:t>Source: World Bank (2022a, Annex 3, Table 3.1, p. 48). Figures transcribed from the original table; the fee row is labeled using the PAD (World Bank, 2014).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60 · Financing by source: totals (1/2) · Paper § 3.2.2 · p. 37</a:t>
            </a:r>
          </a:p>
          <a:p/>
          <a:p>
            <a:r>
              <a:t>[p. 37] Table 12. TEP component financing by source: appraisal versus actual (million USD) (full table, all cells verbatim)</a:t>
            </a:r>
          </a:p>
          <a:p/>
          <a:p>
            <a:r>
              <a:t>Component | Appraisal total | Actual total | Appraisal IBRD | Actual IBRD</a:t>
            </a:r>
          </a:p>
          <a:p/>
          <a:p>
            <a:r>
              <a:t>1. Transmission infrastructure | 625.00 | 464.53 | 429.45 | 289.03</a:t>
            </a:r>
          </a:p>
          <a:p/>
          <a:p>
            <a:r>
              <a:t>2. Smart-grid network | 80.00 | 46.01 | 55.00 | 28.01</a:t>
            </a:r>
          </a:p>
          <a:p/>
          <a:p>
            <a:r>
              <a:t>3. Capacity building | 25.00 | 5.74 | 14.30 | 0.24</a:t>
            </a:r>
          </a:p>
          <a:p/>
          <a:p>
            <a:r>
              <a:t>Front-end fee | 1.25 | 1.25 | 1.25 | 1.25</a:t>
            </a:r>
          </a:p>
          <a:p/>
          <a:p>
            <a:r>
              <a:t>TOTAL | 731.25 | 517.53 | 500.00 | 318.53</a:t>
            </a:r>
          </a:p>
          <a:p/>
          <a:p>
            <a:r>
              <a:t>Source: Adapted from World Bank (2022a, Annex 3, Table 3.2, p. 49). IBRD component allocations and actual costs are taken from the original table.</a:t>
            </a:r>
          </a:p>
          <a:p/>
          <a:p>
            <a:r>
              <a:t>Figure 2. TEP expenditure by investment component at appraisal and at closing (million USD)</a:t>
            </a:r>
          </a:p>
          <a:p/>
          <a:p>
            <a:r>
              <a:t>Chart data basis: Table 11 / Table 12 (component rows).</a:t>
            </a:r>
          </a:p>
          <a:p/>
          <a:p>
            <a:r>
              <a:t>Source: Chart prepared by the authors using data from World Bank (2022a, Annex 3, Table 3.1). The USD 1.25 million front-end fee is excluded from the three component bars but included in total project costs.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61 · Financing by source: IBRD (2/2) · Paper § 3.2.2 · p. 37</a:t>
            </a:r>
          </a:p>
          <a:p/>
          <a:p>
            <a:r>
              <a:t>[p. 37] Table 12. TEP component financing by source: appraisal versus actual (million USD) (full table, all cells verbatim)</a:t>
            </a:r>
          </a:p>
          <a:p/>
          <a:p>
            <a:r>
              <a:t>Component | Appraisal total | Actual total | Appraisal IBRD | Actual IBRD</a:t>
            </a:r>
          </a:p>
          <a:p/>
          <a:p>
            <a:r>
              <a:t>1. Transmission infrastructure | 625.00 | 464.53 | 429.45 | 289.03</a:t>
            </a:r>
          </a:p>
          <a:p/>
          <a:p>
            <a:r>
              <a:t>2. Smart-grid network | 80.00 | 46.01 | 55.00 | 28.01</a:t>
            </a:r>
          </a:p>
          <a:p/>
          <a:p>
            <a:r>
              <a:t>3. Capacity building | 25.00 | 5.74 | 14.30 | 0.24</a:t>
            </a:r>
          </a:p>
          <a:p/>
          <a:p>
            <a:r>
              <a:t>Front-end fee | 1.25 | 1.25 | 1.25 | 1.25</a:t>
            </a:r>
          </a:p>
          <a:p/>
          <a:p>
            <a:r>
              <a:t>TOTAL | 731.25 | 517.53 | 500.00 | 318.53</a:t>
            </a:r>
          </a:p>
          <a:p/>
          <a:p>
            <a:r>
              <a:t>Source: Adapted from World Bank (2022a, Annex 3, Table 3.2, p. 49). IBRD component allocations and actual costs are taken from the original table.</a:t>
            </a:r>
          </a:p>
          <a:p/>
          <a:p>
            <a:r>
              <a:t>Figure 1. TEP financing structure: committed/appraised resources versus actual closing expenditure (million USD)</a:t>
            </a:r>
          </a:p>
          <a:p/>
          <a:p>
            <a:r>
              <a:t>Chart data basis: Table 12 (Total row): appraisal 731.25 = IBRD 500.00 + borrower 231.25; actual 517.53 = IBRD 318.53 + borrower 199.00 (calculated: 517.53 − 318.53; the paper states “approximately USD 199.00 million”, Section 3.2.5).</a:t>
            </a:r>
          </a:p>
          <a:p/>
          <a:p>
            <a:r>
              <a:t>Source: Chart prepared by the authors using data from World Bank (2022a, Annex 3, Table 3.2). Actual expenditure is not equivalent to contractual loan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62 · What the closing accounts show · Paper § 3.2.2 · p. 38–39</a:t>
            </a:r>
          </a:p>
          <a:p/>
          <a:p>
            <a:r>
              <a:t>— Paper 3.2.2. Project components and financial structure —</a:t>
            </a:r>
          </a:p>
          <a:p/>
          <a:p>
            <a:r>
              <a:t>[p. 38, ¶4] The closing accounts record USD 289.03 million of IBRD financing for transmission infrastructure and USD 28.01 million for smart-grid works. The capacity-building component was financed overwhelmingly from counterpart resources: USD 5.50 million of its USD 5.74 million actual cost came from the borrower, compared with only USD 0.24 million from the IBRD loan. Thus, describing all institutional activities as "IBRD-financed training" would incorrectly attribute borrower-funded expenditure to the Bank [41].</a:t>
            </a:r>
          </a:p>
          <a:p/>
          <a:p>
            <a:r>
              <a:t>[p. 39, ¶5] Financing was accompanied by contractual disciplines. The Bank's IPF arrangement linked eligible expenditure to procurement, financial management, technical supervision and social and environmental obligations. IEG found that competitive bidding under the Bank's procurement guidelines generated savings and that NPT's regional project boards benefited from previous implementation experience. At the same time, the conditions attached to reallocation of loan savings reduced flexibility to redirect funds to additional works during the project [37, pp. ix–xi, 17].</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63 · Capacity building narrowed to the AMS · Paper § 3.2.3 · p. 39</a:t>
            </a:r>
          </a:p>
          <a:p/>
          <a:p>
            <a:r>
              <a:t>— Paper 3.2.3. Project implementation: technical support and capacity building —</a:t>
            </a:r>
          </a:p>
          <a:p/>
          <a:p>
            <a:r>
              <a:t>[p. 39, ¶1] The third component was intended to strengthen NPT's transition towards a more capable and commercially sustainable transmission utility. At design stage, it comprised four strands: an asset management system (AMS), assistance on cost-reflective transmission tariffs, improvement in financial reporting under International Financial Reporting Standards (IFRS), and improvements to the electrical testing laboratory. The project's financing and implementation experience, however, was considerably narrower than this original list suggests [44; 41; 37].</a:t>
            </a:r>
          </a:p>
          <a:p/>
          <a:p>
            <a:r>
              <a:t>[p. 39, ¶2] The IBRD contribution ultimately concentrated on the AMS. That system became fully operational and was used to inform investment and maintenance decisions by assessing the balance among costs, benefits and technical risks. The remaining tariff, IFRS and laboratory activities were largely taken forward using NPT/EVN resources, while an originally envisaged upgrade of the operations and equipment information system was cancelled. The metering/data-system activity was also funded from the counterpart side. In interpreting the outcome, these financing changes should be treated as substantive modifications to the original division of responsibilities, not as evidence that all activities were completed with IBRD money [41, Annex 3; 42, pp. 2–3].</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64 · Institutional and digital workstreams · Paper § 3.2.3 · p. 39</a:t>
            </a:r>
          </a:p>
          <a:p/>
          <a:p>
            <a:r>
              <a:t>[p. 39] Table 13. Selected institutional and digital systems activities under TEP (full table, all cells verbatim)</a:t>
            </a:r>
          </a:p>
          <a:p/>
          <a:p>
            <a:r>
              <a:t>Workstream | Original purpose | Position by project closing</a:t>
            </a:r>
          </a:p>
          <a:p/>
          <a:p>
            <a:r>
              <a:t>Asset management system (AMS) | Data-supported maintenance and capital-investment decisions | Operational; actual subcomponent cost USD 2.24 million, including USD 0.24 million IBRD</a:t>
            </a:r>
          </a:p>
          <a:p/>
          <a:p>
            <a:r>
              <a:t>Cost-reflective transmission tariff | Support financial sustainability and tariff-related analysis | USD 0.20 million actual cost; financed by NPT/borrower</a:t>
            </a:r>
          </a:p>
          <a:p/>
          <a:p>
            <a:r>
              <a:t>IFRS-related reporting capacity | Improve financial reporting and governance | USD 0.30 million actual cost; financed by NPT/borrower</a:t>
            </a:r>
          </a:p>
          <a:p/>
          <a:p>
            <a:r>
              <a:t>Electrical testing laboratory | Improve capacity for specialised testing | Partial upgrade; USD 3.00 million actual cost; financed by NPT/borrower</a:t>
            </a:r>
          </a:p>
          <a:p/>
          <a:p>
            <a:r>
              <a:t>Operation/equipment information system (Component 2) | Upgrade related digital management information system | Cancelled after existing system judged adequate</a:t>
            </a:r>
          </a:p>
          <a:p/>
          <a:p>
            <a:r>
              <a:t>Source: Authors’ synthesis of World Bank (2022a, Annex 3, Table 3.2, p. 49) and World Bank (2022b, pp. 2-3).</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65 · Learning platform and technology friction · Paper § 3.2.3 · p. 40</a:t>
            </a:r>
          </a:p>
          <a:p/>
          <a:p>
            <a:r>
              <a:t>— Paper 3.2.3. Project implementation: technical support and capacity building —</a:t>
            </a:r>
          </a:p>
          <a:p/>
          <a:p>
            <a:r>
              <a:t>[p. 40, ¶3] The project also operated as a learning platform for regional project management boards. IEG's 2023 field assessment reported accumulated capabilities in procurement, contract administration, financial management, quality assurance, monitoring and reporting, and safeguards. These gains should be interpreted as institutional capacity supported partly through TEP and partly through prior World Bank and other donor operations; the evaluation does not provide a separate training-participant count or a statistically identified contribution of TEP to staff skills. Reporting an invented number of trainees would therefore be inappropriate [37, pp. ix–x, 15–16].</a:t>
            </a:r>
          </a:p>
          <a:p/>
          <a:p>
            <a:r>
              <a:t>[p. 40, ¶4] Technology transfer proved to be a significant source of friction as well as a source of learning. The selection of smart-grid technology, approval of national technical arrangements and assessment of the implications of temporarily disconnecting substations took much longer than initially planned. IEG concluded that more thorough advance preparation and regulatory coordination would have reduced the need for an extension of the project period [37, pp. x–xi].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66 · Physical outputs vs targets · Paper § 3.2.4 · p. 41</a:t>
            </a:r>
          </a:p>
          <a:p/>
          <a:p>
            <a:r>
              <a:t>— Paper 3.2.4. Results and project outcomes —</a:t>
            </a:r>
          </a:p>
          <a:p/>
          <a:p>
            <a:r>
              <a:t>[p. 41, ¶1] The evaluation record supports a favourable assessment of the main physical outputs. IEG reported 981 km of new high-voltage lines and 261 km of rehabilitated lines, against targets of 920 km and 120 km, respectively. A total of 4,263 MW of transformer capacity was installed against a target of 3,950 MW. Five 500-kV substations were upgraded with smart-grid technology, meeting the original target; the project achieved 10 of 11 targeted 220-kV upgrades. The omitted Ninh Binh upgrade was cancelled because that substation was scheduled for dismantling [42, pp. 2–3; 37, pp. viii–ix, 8].</a:t>
            </a:r>
          </a:p>
          <a:p/>
          <a:p>
            <a:r>
              <a:t>[p. 41] Table 14. TEP selected physical outputs: original target and independently reported achievement (full table, all cells verbatim)</a:t>
            </a:r>
          </a:p>
          <a:p/>
          <a:p>
            <a:r>
              <a:t>Indicator | Target | Actual | Achieved / target</a:t>
            </a:r>
          </a:p>
          <a:p/>
          <a:p>
            <a:r>
              <a:t>New transmission lines | 920 km | 981 km | 106.6%</a:t>
            </a:r>
          </a:p>
          <a:p/>
          <a:p>
            <a:r>
              <a:t>Rehabilitated transmission lines | 120 km | 261 km | 217.5%</a:t>
            </a:r>
          </a:p>
          <a:p/>
          <a:p>
            <a:r>
              <a:t>Additional transformer capacity | 3,950 MW | 4,263 MW | 107.9%</a:t>
            </a:r>
          </a:p>
          <a:p/>
          <a:p>
            <a:r>
              <a:t>500-kV smart-grid substations | 5 | 5 | 100.0%</a:t>
            </a:r>
          </a:p>
          <a:p/>
          <a:p>
            <a:r>
              <a:t>220-kV smart-grid substations | 11 | 10 | 90.9%</a:t>
            </a:r>
          </a:p>
          <a:p/>
          <a:p>
            <a:r>
              <a:t>Source: World Bank (2023, pp. viii-ix, 8); achievement percentages calculated by the authors.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67 · Output achievement (%) · Paper § 3.2.4 · p. 41</a:t>
            </a:r>
          </a:p>
          <a:p/>
          <a:p>
            <a:r>
              <a:t>— Paper 3.2.4. Results and project outcomes —</a:t>
            </a:r>
          </a:p>
          <a:p/>
          <a:p>
            <a:r>
              <a:t>[p. 41, ¶1] The evaluation record supports a favourable assessment of the main physical outputs. IEG reported 981 km of new high-voltage lines and 261 km of rehabilitated lines, against targets of 920 km and 120 km, respectively. A total of 4,263 MW of transformer capacity was installed against a target of 3,950 MW. Five 500-kV substations were upgraded with smart-grid technology, meeting the original target; the project achieved 10 of 11 targeted 220-kV upgrades. The omitted Ninh Binh upgrade was cancelled because that substation was scheduled for dismantling [42, pp. 2–3; 37, pp. viii–ix, 8].</a:t>
            </a:r>
          </a:p>
          <a:p/>
          <a:p>
            <a:r>
              <a:t>Figure 3. TEP output achievement relative to original results targets (%)</a:t>
            </a:r>
          </a:p>
          <a:p/>
          <a:p>
            <a:r>
              <a:t>Chart data basis: Table 14, column “Achieved / target” (percentages calculated by the authors of the paper).</a:t>
            </a:r>
          </a:p>
          <a:p/>
          <a:p>
            <a:r>
              <a:t>Source: Chart calculated by the authors from World Bank (2023, p. 8). A value of 100% means that the original output target was met, not that all project-wide economic benefits were realised.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68 · Capacity and electricity transmitted · Paper § 3.2.4 · p. 42</a:t>
            </a:r>
          </a:p>
          <a:p/>
          <a:p>
            <a:r>
              <a:t>— Paper 3.2.4. Results and project outcomes —</a:t>
            </a:r>
          </a:p>
          <a:p/>
          <a:p>
            <a:r>
              <a:t>[p. 42, ¶2] IEG further reported that transmission capacity in the selected project areas had risen by almost 80% by the closing date and by 85.6% relative to the project baseline by March 2023, following completion of remaining work. For the broader NPT system, electricity transmitted was 184.50 TWh in 2018, 200.86 TWh in 2021 and 211.47 TWh in 2022. The latter national-level series is useful contextual evidence of system development, but should not be presented as a measure of electricity supplied solely because of TEP [37, pp. viii–ix, 8–9].</a:t>
            </a:r>
          </a:p>
          <a:p/>
          <a:p>
            <a:r>
              <a:t>Electricity transmitted by the NPT system (TWh)</a:t>
            </a:r>
          </a:p>
          <a:p/>
          <a:p>
            <a:r>
              <a:t>Chart data basis: Section 3.2.4 text [37, pp. viii–ix, 8–9]. National-level context, not a TEP-only result.</a:t>
            </a:r>
          </a:p>
          <a:p/>
          <a:p>
            <a:r>
              <a:t>Data: Section 3.2.4 of the paper ([37, pp. viii–ix, 8–9]). Not a measure of electricity supplied solely because of TEP.</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69 · System-level service indicators · Paper § 3.2.4 · p. 42</a:t>
            </a:r>
          </a:p>
          <a:p/>
          <a:p>
            <a:r>
              <a:t>— Paper 3.2.4. Results and project outcomes —</a:t>
            </a:r>
          </a:p>
          <a:p/>
          <a:p>
            <a:r>
              <a:t>[p. 42, ¶3] Operational-efficiency indicators were also encouraging at closure. Average operation and maintenance expenditure per MWh transmitted fell from USD 0.87 at baseline to USD 0.67 in 2021, compared with a target of USD 0.83. The amount of unserved energy associated with transmission-system failures declined from 4,875 MWh at the end of 2012 to 817 MWh at closure. Average interruption duration and frequency decreased between 2018 and 2021. These indicators are consistent with improved asset operation and system reliability, although the IEG assessment explicitly warns that several performance measures relate to the entire grid and cannot be isolated to project sub-areas [37, pp. 9–11].</a:t>
            </a:r>
          </a:p>
          <a:p/>
          <a:p>
            <a:r>
              <a:t>[p. 42] Table 15. Selected system-level service and efficiency indicators around TEP completion (full table, all cells verbatim)</a:t>
            </a:r>
          </a:p>
          <a:p/>
          <a:p>
            <a:r>
              <a:t>Indicator | Earlier observation | Later observation | Interpretation / scope</a:t>
            </a:r>
          </a:p>
          <a:p/>
          <a:p>
            <a:r>
              <a:t>O&amp;M cost per energy transmitted | USD 0.87/MWh (baseline) | USD 0.67/MWh (2021 and 2022) | Lower unit costs; NPT-wide</a:t>
            </a:r>
          </a:p>
          <a:p/>
          <a:p>
            <a:r>
              <a:t>Unserved energy caused by transmission failures | 4,875 MWh (2012) | 817 MWh (2021) | Large reduction; system indicator</a:t>
            </a:r>
          </a:p>
          <a:p/>
          <a:p>
            <a:r>
              <a:t>Avg. interruption duration per customer | 724.28 min (2018) | 356.12 min (2021) | Improved reliability indicator</a:t>
            </a:r>
          </a:p>
          <a:p/>
          <a:p>
            <a:r>
              <a:t>Avg. interruption frequency per customer | 4.97 times (2018) | 3.11 times (2021) | Improved reliability indicator</a:t>
            </a:r>
          </a:p>
          <a:p/>
          <a:p>
            <a:r>
              <a:t>Transmission losses | 2.34% (2015) | 2.29% (2021); 2.54% (2022) | Improved by closing then worsened</a:t>
            </a:r>
          </a:p>
          <a:p/>
          <a:p>
            <a:r>
              <a:t>Source: Authors’ compilation from World Bank (2023, pp. 9-11, Tables 2.2-2.3; underlying EVN data).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70 · Transmission losses, 2015-2022 (%) · Paper § 3.2.4 · p. 44</a:t>
            </a:r>
          </a:p>
          <a:p/>
          <a:p>
            <a:r>
              <a:t>— Paper 3.2.4. Results and project outcomes —</a:t>
            </a:r>
          </a:p>
          <a:p/>
          <a:p>
            <a:r>
              <a:t>[p. 44, ¶4] The post-completion trend limits a simplistic success narrative. Transmission losses fell to 2.15% in 2019 but subsequently rose to 2.29% in 2021 and 2.54% in 2022. IEG linked the more recent increase to changes in grid flows associated with expanding wind and solar generation, congestion in the central and southern regions, and insufficient new transmission investment. At the same time, the number of 500-kV transmission-line faults fell from 42 in 2018 to 29 in 2022, while the corresponding 220-kV fault count rose from 135 to 159; therefore reliability improvements were not uniform across all indicators [37, pp. 11–13].</a:t>
            </a:r>
          </a:p>
          <a:p/>
          <a:p>
            <a:r>
              <a:t>Figure 4. Vietnam’s electricity transmission loss ratio, 2015-2022 (%)</a:t>
            </a:r>
          </a:p>
          <a:p/>
          <a:p>
            <a:r>
              <a:t>Chart data basis: 2015 (2.34), 2019 (2.15), 2021 (2.29) and 2022 (2.54) are stated in Table 15 and Section 3.2.4. 2016 (2.36), 2017 (2.45), 2018 (2.44) and 2020 (2.23) are the data labels printed on the paper’s own Figure 4.</a:t>
            </a:r>
          </a:p>
          <a:p/>
          <a:p>
            <a:r>
              <a:t>Source: Chart prepared by the authors from World Bank (2023, Table 2.3, p. 11), which cites EVN as the underlying data source. The system-wide transmission loss ratio is not a TEP-only impact estimate. The IEG executive summary reports 2.50% for 2022, whereas Table 2.3 reports 2.54%.</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71 · Renewables and economic return · Paper § 3.2.4 · p. 44</a:t>
            </a:r>
          </a:p>
          <a:p/>
          <a:p>
            <a:r>
              <a:t>— Paper 3.2.4. Results and project outcomes —</a:t>
            </a:r>
          </a:p>
          <a:p/>
          <a:p>
            <a:r>
              <a:t>[p. 44, ¶5] Renewable-energy integration should be treated with particular care. TEP's greater transfer capacity and digital substation controls improved the technical conditions for accommodating intermittent generation. IEG cites, among other examples, the Quang Ngai–Quy Nhon 220-kV line's contribution to better use of electricity from the Thuong Kon Tum hydropower plant. However, the evaluation does not quantify the additional megawatt-hours of solar or wind power integrated solely as a result of TEP. The same assessment documents continued curtailment and congestion as the supply mix changed. Accordingly, the defensible conclusion is that TEP supported the network's capability to integrate renewables, not that it eliminated renewable curtailment or achieved a verified numerical increase in renewable generation [37, pp. 8–13].</a:t>
            </a:r>
          </a:p>
          <a:p/>
          <a:p>
            <a:r>
              <a:t>[p. 44, ¶6] The World Bank's 2022 completion report re-estimated an aggregate economic internal rate of return (EIRR) of 52.6%, compared with 31.4% in its appraisal economic analysis, with an economic net present value of around USD 1,089 million at the assumed 10% discount rate. These estimates are results of a cost-benefit model and not an observed cash return to IBRD or a guaranteed financial rate of return for NPT. The ICR associated the higher re-estimated EIRR partly with substantially lower capital cost; the results are sensitive to the analytical assumptions, including the monetary value assigned to avoid supply interruptions [41, Annex 4].</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72 · Commitment vs disbursement · Paper § 3.2.5 · p. 44–45</a:t>
            </a:r>
          </a:p>
          <a:p/>
          <a:p>
            <a:r>
              <a:t>— Paper 3.2.5. Implementation challenges and financing limitations —</a:t>
            </a:r>
          </a:p>
          <a:p/>
          <a:p>
            <a:r>
              <a:t>[p. 44, ¶1] The distinction between the approved loan and actual IBRD-financed expenditure is central to the financing evaluation. Against the USD 500.00 million original commitment, the closing accounts report IBRD disbursement of USD 318.53 million, or 63.7% of the original amount. The arithmetic difference is USD 181.47 million (36.3%). Meanwhile, actual total project cost was USD 517.53 million, USD 213.72 million below appraisal. The original counterpart allocation of USD 231.25 million and the final amount of approximately USD 199.00 million are also different [41, Annex 3; 37, p. v].</a:t>
            </a:r>
          </a:p>
          <a:p/>
          <a:p>
            <a:r>
              <a:t>[p. 45, ¶2] The size of the unused envelope should not automatically be labeled an implementation failure. Lower steel prices, competition in procurement and reductions in planned activities all contributed to the smaller financing requirement. IEG specifically refers to approximately USD 160 million of loan savings cancelled at closure; this is a reported cancellation figure, not a substitute for the USD 181.47 million calculated difference between the original commitment and actual disbursement. Those two numbers describe different accounting concepts and should not be treated as interchangeable without a full reconciliation of loan-account transactions [37, pp. x, 17].</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73 · Financing gap: definitions (1/2) · Paper § 3.2.5 · p. 45</a:t>
            </a:r>
          </a:p>
          <a:p/>
          <a:p>
            <a:r>
              <a:t>[p. 45] Table 16. TEP financing gap: definitions and derived comparisons (million USD) (full table, all cells verbatim)</a:t>
            </a:r>
          </a:p>
          <a:p/>
          <a:p>
            <a:r>
              <a:t>Measure | million USD | Meaning</a:t>
            </a:r>
          </a:p>
          <a:p/>
          <a:p>
            <a:r>
              <a:t>IBRD amount committed at appraisal | 500.00 | Original approved financing envelope</a:t>
            </a:r>
          </a:p>
          <a:p/>
          <a:p>
            <a:r>
              <a:t>IBRD amount actually disbursed | 318.53 | World Bank financing used through project closing</a:t>
            </a:r>
          </a:p>
          <a:p/>
          <a:p>
            <a:r>
              <a:t>Commitment minus disbursement | 181.47 | Derived arithmetic gap: 36.3% of commitment</a:t>
            </a:r>
          </a:p>
          <a:p/>
          <a:p>
            <a:r>
              <a:t>Loan savings reported cancelled by IEG | ~160.00 | Separate approximate cancellation figure in IEG assessment</a:t>
            </a:r>
          </a:p>
          <a:p/>
          <a:p>
            <a:r>
              <a:t>Total project cost at appraisal | 731.25 | Initial budget; includes fee</a:t>
            </a:r>
          </a:p>
          <a:p/>
          <a:p>
            <a:r>
              <a:t>Total actual project cost | 517.53 | Closing expenditure</a:t>
            </a:r>
          </a:p>
          <a:p/>
          <a:p>
            <a:r>
              <a:t>Appraisal minus actual project cost | 213.72 | Derived reduction in overall project cost (29.2%)</a:t>
            </a:r>
          </a:p>
          <a:p/>
          <a:p>
            <a:r>
              <a:t>Source: Authors’ compilation and calculations from World Bank (2022a, Annex 3, Table 3.2) and World Bank (2023, pp. v, x, 17).</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74 · Financing gap: definitions (2/2) · Paper § 3.2.5 · p. 45</a:t>
            </a:r>
          </a:p>
          <a:p/>
          <a:p>
            <a:r>
              <a:t>[p. 45] Table 16. TEP financing gap: definitions and derived comparisons (million USD) (full table, all cells verbatim)</a:t>
            </a:r>
          </a:p>
          <a:p/>
          <a:p>
            <a:r>
              <a:t>Measure | million USD | Meaning</a:t>
            </a:r>
          </a:p>
          <a:p/>
          <a:p>
            <a:r>
              <a:t>IBRD amount committed at appraisal | 500.00 | Original approved financing envelope</a:t>
            </a:r>
          </a:p>
          <a:p/>
          <a:p>
            <a:r>
              <a:t>IBRD amount actually disbursed | 318.53 | World Bank financing used through project closing</a:t>
            </a:r>
          </a:p>
          <a:p/>
          <a:p>
            <a:r>
              <a:t>Commitment minus disbursement | 181.47 | Derived arithmetic gap: 36.3% of commitment</a:t>
            </a:r>
          </a:p>
          <a:p/>
          <a:p>
            <a:r>
              <a:t>Loan savings reported cancelled by IEG | ~160.00 | Separate approximate cancellation figure in IEG assessment</a:t>
            </a:r>
          </a:p>
          <a:p/>
          <a:p>
            <a:r>
              <a:t>Total project cost at appraisal | 731.25 | Initial budget; includes fee</a:t>
            </a:r>
          </a:p>
          <a:p/>
          <a:p>
            <a:r>
              <a:t>Total actual project cost | 517.53 | Closing expenditure</a:t>
            </a:r>
          </a:p>
          <a:p/>
          <a:p>
            <a:r>
              <a:t>Appraisal minus actual project cost | 213.72 | Derived reduction in overall project cost (29.2%)</a:t>
            </a:r>
          </a:p>
          <a:p/>
          <a:p>
            <a:r>
              <a:t>Source: Authors’ compilation and calculations from World Bank (2022a, Annex 3, Table 3.2) and World Bank (2023, pp. v, x, 17).</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75 · Delays, safeguards, sustainability · Paper § 3.2.5 · p. 46</a:t>
            </a:r>
          </a:p>
          <a:p/>
          <a:p>
            <a:r>
              <a:t>— Paper 3.2.5. Implementation challenges and financing limitations —</a:t>
            </a:r>
          </a:p>
          <a:p/>
          <a:p>
            <a:r>
              <a:t>[p. 46, ¶3] The schedule overrun was more directly connected to implementation shortcomings. The selection and regulatory approval of smart-grid technology, including concerns about taking substations offline during upgrades, required roughly four years; Component 2 had made little progress by the 2019 restructuring. Some line and substation works were also delayed by bidding-related processing and compensation and land acquisition. The project therefore closed two years later than originally planned. The independent assessment nevertheless rated the overall outcome highly satisfactory because the principal capacity, efficiency and reliability objectives were substantially achieved [42, pp. 3, 12; 37, pp. x–xi, 17–18].</a:t>
            </a:r>
          </a:p>
          <a:p/>
          <a:p>
            <a:r>
              <a:t>[p. 46, ¶4] Environmental and social issues remained material. The independent assessment records approximately 2,500 affected households, including 80 relocated households, and notes unresolved compensation or resettlement cases subject to post-closure follow-up. This evidence supports a differentiated assessment: the project's engineering and economic results were strong, while safeguards, land access and inter-agency coordination caused important administrative costs. Progress on physical outputs alone did not resolve these institutional constraints [37, pp. x–xi, Appendix B].</a:t>
            </a:r>
          </a:p>
          <a:p/>
          <a:p>
            <a:r>
              <a:t>[p. 46, ¶5] Finally, sustainability depends on factors outside the project boundary. IEG warned that NPT's ability to maintain and expand the network would depend on more adequate transmission tariffs and timely subsequent capital investment, particularly as variable renewable generation expanded. Thus the TEP experience illustrates the complementary role of finance, technical assistance and managerial capacity, but also the limits of project-specific investment when national network planning and tariffs lag demand and generation growth [37, pp. 18–20].</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76 · TEP: overall assessment · Paper § 3.2.6 · p. 46</a:t>
            </a:r>
          </a:p>
          <a:p/>
          <a:p>
            <a:r>
              <a:t>— Paper 3.2.6. Overall assessment of the TEP case —</a:t>
            </a:r>
          </a:p>
          <a:p/>
          <a:p>
            <a:r>
              <a:t>[p. 46, ¶1] TEP shows how a sovereign IBRD investment loan can combine high-voltage capital expenditure with technology modernization and targeted institutional development. Its strongest demonstrable achievements were in physical outputs and improved operating indicators. It also delivered a useful reduction in measured capital costs relative to the appraisal budget. These strengths should be weighed against the lengthy smart-grid preparation process, the large difference between loan commitment and final disbursement, the concentration of capacity-building costs on the counterpart side, and continuing sector-wide network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77 · Three conclusions from TEP · Paper § 3.2.6 · p. 47</a:t>
            </a:r>
          </a:p>
          <a:p/>
          <a:p>
            <a:r>
              <a:t>— Paper 3.2.6. Overall assessment of the TEP case —</a:t>
            </a:r>
          </a:p>
          <a:p/>
          <a:p>
            <a:r>
              <a:t>[p. 47, ¶2] For the broader research question, three conclusions follow. First, IBRD participation existed alongside IDA before the 2017 graduation date and cannot be treated as a purely post-IDA arrangement. Second, the financing mechanism should be evaluated using both approved and disbursed funds, with borrower expenditure shown separately. Third, the project's successful outputs do not establish that all subsequent improvements in Vietnam's transmission system, or the integration of a specific quantity of renewable generation, were caused by TEP. These distinctions make the case study an evidence-based foundation for the comparison with the urban and environmental project in Section 3.3.</a:t>
            </a:r>
          </a:p>
          <a:p/>
          <a:p>
            <a:r>
              <a:t>[p. 47, ¶3] In the next case study, the Coastal Cities Sustainable Environment Project is examined as a contrasting urban and environmental operation. Whereas TEP relied on a large IBRD loan and was implemented through NPT, CCSEP combined IBRD and IDA financing with decentralized provincial implementation. The comparison therefore highlights how funding structure, counterpart obligations and institutional capacity influence implementation across sectors.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78 · Case study 2: Coastal Cities Sustainable Environment Project · p. 47</a:t>
            </a:r>
          </a:p>
          <a:p/>
          <a:p>
            <a:r>
              <a:t>— Paper 3.3. Case study 2: Coastal Cities Sustainable Environment Project (CCSEP), urban and environment sector (p. 47) —</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79 · Why CCSEP was needed · Paper § 3.3.1 · p. 47</a:t>
            </a:r>
          </a:p>
          <a:p/>
          <a:p>
            <a:r>
              <a:t>— Paper 3.3.1. Project overview —</a:t>
            </a:r>
          </a:p>
          <a:p/>
          <a:p>
            <a:r>
              <a:t>[p. 47, ¶1] In the 2010s, rapid urbanization, combined with limited financial resources in a lower-middle-income economy, placed severe strain on technical infrastructure systems and environmental sanitation services in Vietnam. At that time, only about 10% of urban wastewater was treated, and combined drainage systems frequently overflowed during the rainy season, discharging untreated wastewater onto the streets and beaches of coastal cities. The sector's investment requirement was estimated at around USD 771 million per year, while expected funding covered only about 27% [33]. Facing this gap, the project required long-term capital from the World Bank, combining an IBRD loan with IDA concessional credits to provide provinces with sufficient upfront investment capital.</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80 · CCSEP: project overview · Paper § 3.3.1 · p. 48</a:t>
            </a:r>
          </a:p>
          <a:p/>
          <a:p>
            <a:r>
              <a:t>— Paper 3.3.1. Project overview —</a:t>
            </a:r>
          </a:p>
          <a:p/>
          <a:p>
            <a:r>
              <a:t>[p. 48, ¶2] Against this backdrop, the Vietnam Coastal Cities Sustainable Environment Project (CCSEP, P156143) was appraised by the World Bank in April 2017 under the Investment Project Financing mechanism. It continued the earlier Coastal Cities Environmental Sanitation Project (CCESP, 2007–2014) in Dong Hoi, Quy Nhon and Nha Trang, while expanding to Phan Rang–Thap Cham. The project was approved by the World Bank on 5 May 2017; the financing agreement was signed on 27 October 2017 and became effective on 18 January 2018. According to the appraisal schedule, the project was planned to run from 5 May 2017 to 30 June 2022, with loan closing on 31 December 2022. However, this deadline was later extended, and the loan officially closed on 30 June 2024. The total project cost at appraisal was USD 273.6 million. The borrower was the Government of Vietnam, the World Bank served as the financier, and implementation was decentralized to the four provinces of Quang Binh, Binh Dinh, Khanh Hoa and Ninh Thuan through Project Management Units (PMUs) under the direction of provincial People's Committees [33; 43].</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81 · Planned and actual timeline · Paper § 3.3.1 · p. 48</a:t>
            </a:r>
          </a:p>
          <a:p/>
          <a:p>
            <a:r>
              <a:t>[p. 48] Table 17. Planned and actual project implementation timeline (full table, all cells verbatim)</a:t>
            </a:r>
          </a:p>
          <a:p/>
          <a:p>
            <a:r>
              <a:t>Milestone | Planned | Actual</a:t>
            </a:r>
          </a:p>
          <a:p/>
          <a:p>
            <a:r>
              <a:t>Approval | 5/5/2017 | 5/5/2017</a:t>
            </a:r>
          </a:p>
          <a:p/>
          <a:p>
            <a:r>
              <a:t>Agreement signing | - | 27/10/2017</a:t>
            </a:r>
          </a:p>
          <a:p/>
          <a:p>
            <a:r>
              <a:t>Effectiveness date | 3/8/2017 | 18/1/2018</a:t>
            </a:r>
          </a:p>
          <a:p/>
          <a:p>
            <a:r>
              <a:t>Implementation start | 5/5/2017 | 18/1/2018</a:t>
            </a:r>
          </a:p>
          <a:p/>
          <a:p>
            <a:r>
              <a:t>Implementation end | 30/6/2022 | -</a:t>
            </a:r>
          </a:p>
          <a:p/>
          <a:p>
            <a:r>
              <a:t>Loan closing | 31/12/2022 | 30/6/2024</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82 · Objective and key indicators · Paper § 3.3.1 · p. 48</a:t>
            </a:r>
          </a:p>
          <a:p/>
          <a:p>
            <a:r>
              <a:t>— Paper 3.3.1. Project overview —</a:t>
            </a:r>
          </a:p>
          <a:p/>
          <a:p>
            <a:r>
              <a:t>[p. 48, ¶3] The project development objective was to increase access to sanitation services and improve the operational efficiency of service providers in the four project cities. This objective was pursued through infrastructure investments including flood control, wastewater collection and treatment, solid waste management and urban connectivity, alongside institutional reforms under Decree No. 80/2014/ND-CP [56], comprising performance-based service contracts and cost-reflective service tariff roadmaps. Expected outcomes were measured by three main indicators: approximately 290,000 direct beneficiaries, 256,000 people gaining access to sanitation via household sewer connections, and a 100% service cost recovery level [33].</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83 · A blended financing package · Paper § 3.3.2 · p. 49</a:t>
            </a:r>
          </a:p>
          <a:p/>
          <a:p>
            <a:r>
              <a:t>— Paper 3.3.2. Project components and financial structure —</a:t>
            </a:r>
          </a:p>
          <a:p/>
          <a:p>
            <a:r>
              <a:t>[p. 49, ¶1] CCSEP was designed as an Investment Project Financing operation, financing specific investment items rather than policy reforms or results, as the other two instruments do [33, Data Sheet]. Total project cost at appraisal was USD 273.6 million, of which World Bank financing was USD 236.2 million (86.3%) and counterpart funding from Vietnam was USD 37.4 million (13.7%) [33, Data Sheet, para. 43]. The World Bank portion was a blended financing package: an IBRD loan of USD 46 million (16.8%) alongside an IDA credit of USD 190.2 million (69.5%) [33, para. 66]. This combination reflected Vietnam's status at the time as a lower-middle-income country on blend terms, shortly before its IDA graduation [33, paras. 1, 44].</a:t>
            </a:r>
          </a:p>
          <a:p/>
          <a:p>
            <a:r>
              <a:t>Figure 5. Project financing structure as planned at appraisal</a:t>
            </a:r>
          </a:p>
          <a:p/>
          <a:p>
            <a:r>
              <a:t>Chart data basis: Section 3.3.2: IBRD USD 46 million (16.8%), IDA USD 190.2 million (69.5%), counterpart USD 37.4 million (13.7%).</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84 · Two sources, two sets of terms · Paper § 3.3.2 · p. 49</a:t>
            </a:r>
          </a:p>
          <a:p/>
          <a:p>
            <a:r>
              <a:t>— Paper 3.3.2. Project components and financial structure —</a:t>
            </a:r>
          </a:p>
          <a:p/>
          <a:p>
            <a:r>
              <a:t>[p. 49, ¶2] The terms of the two financing sources differed significantly. The IBRD loan was denominated in USD, with a floating interest rate then based on LIBOR, a 29-year maturity including a 10-year grace period, and equal principal repayments. The IDA credit was denominated in SDR, with a 25-year maturity including a 5-year grace period, an interest rate of 2% per annum (0.75% service charge and 1.25% interest), a commitment fee of 0.5% per annum, and no front-end fee [33, para. 44]. Under the Government's ODA on-lending policy, the entire IBRD loan was on-lent to the four provinces, whereas the IDA credit was split into on-granting and on-lending portions depending on the economic conditions of each province: 80% on-granted to Dong Hoi and Phan Rang, 70% to Quy Nhon, and 50% to Nha Trang [33, para. 45]. As a result, approximately 49.1% of the total project cost was on-granted to local authorities, 37.2% was on-lent, and 13.7% was counterpart funding [33, Annex 5, Table 5.1]. For the provinces, the on-lent funds, namely the entire IBRD loan and about 29.4% of the IDA credit (about USD 101.8 million in total), represented genuine debt service obligations. The PAD warned that the project would significantly increase the debt burden of all four provinces, with Binh Dinh projected to slightly exceed its debt ceiling during 2018–2021 [33, paras. 66, 75–76, Annex 5].</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85 · On-granting vs on-lending · Paper § 3.3.2 · p. 49</a:t>
            </a:r>
          </a:p>
          <a:p/>
          <a:p>
            <a:r>
              <a:t>— Paper 3.3.2. Project components and financial structure —</a:t>
            </a:r>
          </a:p>
          <a:p/>
          <a:p>
            <a:r>
              <a:t>[p. 49, ¶2] The terms of the two financing sources differed significantly. The IBRD loan was denominated in USD, with a floating interest rate then based on LIBOR, a 29-year maturity including a 10-year grace period, and equal principal repayments. The IDA credit was denominated in SDR, with a 25-year maturity including a 5-year grace period, an interest rate of 2% per annum (0.75% service charge and 1.25% interest), a commitment fee of 0.5% per annum, and no front-end fee [33, para. 44]. Under the Government's ODA on-lending policy, the entire IBRD loan was on-lent to the four provinces, whereas the IDA credit was split into on-granting and on-lending portions depending on the economic conditions of each province: 80% on-granted to Dong Hoi and Phan Rang, 70% to Quy Nhon, and 50% to Nha Trang [33, para. 45]. As a result, approximately 49.1% of the total project cost was on-granted to local authorities, 37.2% was on-lent, and 13.7% was counterpart funding [33, Annex 5, Table 5.1]. For the provinces, the on-lent funds, namely the entire IBRD loan and about 29.4% of the IDA credit (about USD 101.8 million in total), represented genuine debt service obligations. The PAD warned that the project would significantly increase the debt burden of all four provinces, with Binh Dinh projected to slightly exceed its debt ceiling during 2018–2021 [33, paras. 66, 75–76, Annex 5].</a:t>
            </a:r>
          </a:p>
          <a:p/>
          <a:p>
            <a:r>
              <a:t>Figure 6. Share of on-granting and on-lending by financing source</a:t>
            </a:r>
          </a:p>
          <a:p/>
          <a:p>
            <a:r>
              <a:t>Chart data basis: Section 3.3.2: entire IBRD loan on-lent; IDA on-granted 80% (Dong Hoi, Phan Rang), 70% (Quy Nhon), 50% (Nha Trang). On-lent shares = 100 − on-granted (calculated).</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86 · Four components · Paper § 3.3.2 · p. 50</a:t>
            </a:r>
          </a:p>
          <a:p/>
          <a:p>
            <a:r>
              <a:t>— Paper 3.3.2. Project components and financial structure —</a:t>
            </a:r>
          </a:p>
          <a:p/>
          <a:p>
            <a:r>
              <a:t>[p. 50, ¶3] The project comprised four components. Component 1 (Sanitation Infrastructure Expansion, USD 140.7 million base cost) included flood control works, drainage and wastewater collection networks, wastewater treatment plants, school and public sanitation facilities, revolving funds for household connections, and solid waste management [33, para. 31]. Component 2 (Urban Connectivity Improvement, USD 31.2 million) constructed over 7 km of roads and 5 bridges along canals and rivers to alleviate traffic congestion while sharing corridors with drainage works [33, paras. 20, 33]. Component 3 (Compensation and Site Clearance, USD 25.1 million) covered compensation, land acquisition and resettlement costs [33, para. 34]. Component 4 (Implementation Support and Institutional Reform, USD 11.7 million) focused on capacity building for PMUs and supporting the implementation of Decree No. 80/2014/ND-CP regarding service contracts, cost-reflective tariff roadmaps and connection policies [33, para. 35]. Notably, each financing source was linked to specific components. IBRD funds fully financed Component 2, the IDA credit financed Component 1 and the technical infrastructure of the resettlement site in Phan Rang under Component 3, while counterpart funding covered compensation, site clearance, resettlement and the entirety of Component 4 [33, para. 34, Annex 2 Table 2.1, Annex 5 Table 5.2].</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87 · Components by source (1/2) · Paper § 3.3.2 · p. 51</a:t>
            </a:r>
          </a:p>
          <a:p/>
          <a:p>
            <a:r>
              <a:t>[p. 51] Table 18. Project components and financing sources (base cost, million USD) (full table, all cells verbatim)</a:t>
            </a:r>
          </a:p>
          <a:p/>
          <a:p>
            <a:r>
              <a:t>Component | Total | IDA | IBRD | Counterpart funding</a:t>
            </a:r>
          </a:p>
          <a:p/>
          <a:p>
            <a:r>
              <a:t>1. Sanitation Infrastructure Expansion | 140,7 | 140,7 | - | -</a:t>
            </a:r>
          </a:p>
          <a:p/>
          <a:p>
            <a:r>
              <a:t>2. Urban Connectivity Improvement | 31,2 | - | 31,2 | -</a:t>
            </a:r>
          </a:p>
          <a:p/>
          <a:p>
            <a:r>
              <a:t>3. Compensation and Site Clearance | 25,1 | 3,4 | - | 21,7</a:t>
            </a:r>
          </a:p>
          <a:p/>
          <a:p>
            <a:r>
              <a:t>4. Implementation Support and Institutional Reform | 11,7 | - | - | 11,7</a:t>
            </a:r>
          </a:p>
          <a:p/>
          <a:p>
            <a:r>
              <a:t>Total Base Cost | 208,7 | 144,1 | 31,2 | 33,4</a:t>
            </a:r>
          </a:p>
          <a:p/>
          <a:p>
            <a:r>
              <a:t>Source: projects.worldbank.org</a:t>
            </a:r>
          </a:p>
          <a:p/>
          <a:p>
            <a:r>
              <a:t>Note: The table shows base costs only. The difference from the total project cost comes from contingencies (USD 37.9 million), VAT (USD 22.3 million), and capitalized fees and interest (USD 4.8 million), which are also financed by the three sources. This is why the IBRD total is USD 46.0 million, against USD 31.2 million of base cost for Component 2 (World Bank, 2017, Annex 2, Table 2.1). Minor differences in totals are due to rounding in the PAD.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88 · Components by source (2/2) · Paper § 3.3.2 · p. 51</a:t>
            </a:r>
          </a:p>
          <a:p/>
          <a:p>
            <a:r>
              <a:t>[p. 51] Table 18. Project components and financing sources (base cost, million USD) (full table, all cells verbatim)</a:t>
            </a:r>
          </a:p>
          <a:p/>
          <a:p>
            <a:r>
              <a:t>Component | Total | IDA | IBRD | Counterpart funding</a:t>
            </a:r>
          </a:p>
          <a:p/>
          <a:p>
            <a:r>
              <a:t>1. Sanitation Infrastructure Expansion | 140,7 | 140,7 | - | -</a:t>
            </a:r>
          </a:p>
          <a:p/>
          <a:p>
            <a:r>
              <a:t>2. Urban Connectivity Improvement | 31,2 | - | 31,2 | -</a:t>
            </a:r>
          </a:p>
          <a:p/>
          <a:p>
            <a:r>
              <a:t>3. Compensation and Site Clearance | 25,1 | 3,4 | - | 21,7</a:t>
            </a:r>
          </a:p>
          <a:p/>
          <a:p>
            <a:r>
              <a:t>4. Implementation Support and Institutional Reform | 11,7 | - | - | 11,7</a:t>
            </a:r>
          </a:p>
          <a:p/>
          <a:p>
            <a:r>
              <a:t>Total Base Cost | 208,7 | 144,1 | 31,2 | 33,4</a:t>
            </a:r>
          </a:p>
          <a:p/>
          <a:p>
            <a:r>
              <a:t>Source: projects.worldbank.org</a:t>
            </a:r>
          </a:p>
          <a:p/>
          <a:p>
            <a:r>
              <a:t>Note: The table shows base costs only. The difference from the total project cost comes from contingencies (USD 37.9 million), VAT (USD 22.3 million), and capitalized fees and interest (USD 4.8 million), which are also financed by the three sources. This is why the IBRD total is USD 46.0 million, against USD 31.2 million of base cost for Component 2 (World Bank, 2017, Annex 2, Table 2.1). Minor differences in totals are due to rounding in the PAD.</a:t>
            </a:r>
          </a:p>
          <a:p/>
          <a:p>
            <a:r>
              <a:t>— Paper 3.3.2. Project components and financial structure —</a:t>
            </a:r>
          </a:p>
          <a:p/>
          <a:p>
            <a:r>
              <a:t>[p. 51, ¶4] Note: The table shows base costs only. The difference from the total project cost comes from contingencies (USD 37.9 million), VAT (USD 22.3 million), and capitalized fees and interest (USD 4.8 million), which are also financed by the three sources. This is why the IBRD total is USD 46.0 million, against USD 31.2 million of base cost for Component 2 (World Bank, 2017, Annex 2, Table 2.1). Minor differences in totals are due to rounding in the PAD.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89 · Funding by city as planned · Paper § 3.3.2 · p. 51</a:t>
            </a:r>
          </a:p>
          <a:p/>
          <a:p>
            <a:r>
              <a:t>— Paper 3.3.2. Project components and financial structure —</a:t>
            </a:r>
          </a:p>
          <a:p/>
          <a:p>
            <a:r>
              <a:t>[p. 51, ¶5] Funds were allocated across the four cities at varying scales. Phan Rang–Thap Cham received the largest share (USD 87.9 million), followed by Nha Trang (USD 72.0 million), Dong Hoi (USD 58.4 million) and Quy Nhon (USD 55.3 million) [33, Annex 2, Tables 2.2–2.5]. Phan Rang was a new participating locality with its own dedicated resettlement site, and its PMU managed the largest investment program among the four cities [33, paras. 34, 63]. Under the IBRD portion, Nha Trang (USD 16.4 million) and Dong Hoi (USD 14.3 million) received the largest allocations, corresponding to major roads and bridges under Component 2 in these two cities [33, para. 46, Table 1].</a:t>
            </a:r>
          </a:p>
          <a:p/>
          <a:p>
            <a:r>
              <a:t>Figure 7. Sources of funding by city (million USD)</a:t>
            </a:r>
          </a:p>
          <a:p/>
          <a:p>
            <a:r>
              <a:t>Chart data basis: Data labels printed on the paper’s own Figure 7. Cross-check with Section 3.3.2: city totals 58.4 / 72.0 / 87.9 / 55.3; IBRD Nha Trang 16.4, Dong Hoi 14.3. The printed Phan Rang labels sum to 88.0 (text: 87.9) — rounding, see ISSUES.md.</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90 · Decentralized disbursement · Paper § 3.3.2 · p. 52</a:t>
            </a:r>
          </a:p>
          <a:p/>
          <a:p>
            <a:r>
              <a:t>— Paper 3.3.2. Project components and financial structure —</a:t>
            </a:r>
          </a:p>
          <a:p/>
          <a:p>
            <a:r>
              <a:t>[p. 52, ¶6] Disbursement mechanisms were decentralized to each province. Each province opened a designated USD account at a commercial bank, with ceiling amounts adjusting based on three-month financial forecasts [33, Annex 3, para. 21]. The project used four disbursement methods: advances, reimbursements, special commitments and direct payments [33, Annex 3, para. 22]. The World Bank financed 100% of eligible expenditures, including taxes, for goods, works and consulting services, while counterpart funding covered compensation, resettlement, project staff salaries, incremental operating costs, training and workshops [33, Annex 3, para. 24]. Fund withdrawals were subject to three conditions: approval of on-lending agreements by the Ministry of Finance and provincial governments, approval of counterpart funding allocations by provincial People's Committees, and approval of wastewater tariff roadmaps by provincial People's Committees [33, Data Sheet, para. 62]. This indicates that from the design stage, World Bank disbursements were closely tied to local financial commitments and institutional reforms.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91 · Plan vs adjusted: amounts (1/2) · Paper § 3.3.2 · p. 52</a:t>
            </a:r>
          </a:p>
          <a:p/>
          <a:p>
            <a:r>
              <a:t>— Paper 3.3.2. Project components and financial structure —</a:t>
            </a:r>
          </a:p>
          <a:p/>
          <a:p>
            <a:r>
              <a:t>[p. 52, ¶7] The capital structure outlined above was the plan at the time of appraisal. During implementation, this structure was adjusted to reduce loan capital and increase counterpart funding. On 23 November 2022, at the request of the borrower, the World Bank cancelled USD 11.8 million of IBRD funding and approximately USD 34 million of IDA funding (SDR 25.592 million). The reasons given were savings after the bidding process, changes in the source of payment for IBRD fees and interest as stipulated by the Government, and the depreciation of the SDR, while the project scope remained unchanged [43].</a:t>
            </a:r>
          </a:p>
          <a:p/>
          <a:p>
            <a:r>
              <a:t>[p. 52] Table 19. Funding structure: plan vs. adjusted (million USD) (full table, all cells verbatim)</a:t>
            </a:r>
          </a:p>
          <a:p/>
          <a:p>
            <a:r>
              <a:t>Funding source | Appraisal amount | Appraisal share | Adjusted amount | Adjusted share | Difference</a:t>
            </a:r>
          </a:p>
          <a:p/>
          <a:p>
            <a:r>
              <a:t>Total WB financing | 236,2 | 86,33% | 190,6 | 79,22% | 45,6</a:t>
            </a:r>
          </a:p>
          <a:p/>
          <a:p>
            <a:r>
              <a:t>IBRD | 46 | 16,81% | 34,2 | 14,21% | 11,8</a:t>
            </a:r>
          </a:p>
          <a:p/>
          <a:p>
            <a:r>
              <a:t>IDA | 190,2 | 69,52% | 156,4 | 65,00% | 33,8</a:t>
            </a:r>
          </a:p>
          <a:p/>
          <a:p>
            <a:r>
              <a:t>Counterpart funding | 37,4 | 13,67% | 50 | 20,78% | -12,6</a:t>
            </a:r>
          </a:p>
          <a:p/>
          <a:p>
            <a:r>
              <a:t>Total project cost | 273,6 | 100,00% | 240,6 | 100,00% | 33</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92 · Plan vs adjusted: shares (2/2) · Paper § 3.3.2 · p. 52</a:t>
            </a:r>
          </a:p>
          <a:p/>
          <a:p>
            <a:r>
              <a:t>[p. 52] Table 19. Funding structure: plan vs. adjusted (million USD) (full table, all cells verbatim)</a:t>
            </a:r>
          </a:p>
          <a:p/>
          <a:p>
            <a:r>
              <a:t>Funding source | Appraisal amount | Appraisal share | Adjusted amount | Adjusted share | Difference</a:t>
            </a:r>
          </a:p>
          <a:p/>
          <a:p>
            <a:r>
              <a:t>Total WB financing | 236,2 | 86,33% | 190,6 | 79,22% | 45,6</a:t>
            </a:r>
          </a:p>
          <a:p/>
          <a:p>
            <a:r>
              <a:t>IBRD | 46 | 16,81% | 34,2 | 14,21% | 11,8</a:t>
            </a:r>
          </a:p>
          <a:p/>
          <a:p>
            <a:r>
              <a:t>IDA | 190,2 | 69,52% | 156,4 | 65,00% | 33,8</a:t>
            </a:r>
          </a:p>
          <a:p/>
          <a:p>
            <a:r>
              <a:t>Counterpart funding | 37,4 | 13,67% | 50 | 20,78% | -12,6</a:t>
            </a:r>
          </a:p>
          <a:p/>
          <a:p>
            <a:r>
              <a:t>Total project cost | 273,6 | 100,00% | 240,6 | 100,00% | 33</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93 · Adjusted commitments by city · Paper § 3.3.2 · p. 53</a:t>
            </a:r>
          </a:p>
          <a:p/>
          <a:p>
            <a:r>
              <a:t>— Paper 3.3.2. Project components and financial structure —</a:t>
            </a:r>
          </a:p>
          <a:p/>
          <a:p>
            <a:r>
              <a:t>[p. 53, ¶8] The total loan capital therefore decreased from USD 236.2 million to USD 190.6 million, and the total investment decreased from USD 273.6 million to USD 240.6 million. Counterpart funding increased from USD 37.4 million to USD 50.0 million, raising its share from 13.7% to 20.8% [33, Annex 2; 43]. Adjustments varied among cities. Quy Nhon saw the sharpest decrease, from USD 55.3 million to USD 33.2 million, while Phan Rang–Thap Cham was the only city to increase, from USD 87.9 million to USD 97.9 million, with counterpart funding increasing from USD 12.7 million to USD 28.4 million. The adjusted figures represent adjusted commitments, not disbursed amounts.</a:t>
            </a:r>
          </a:p>
          <a:p/>
          <a:p>
            <a:r>
              <a:t>Figure 8. Total funding by city: plan vs. adjusted (million USD)</a:t>
            </a:r>
          </a:p>
          <a:p/>
          <a:p>
            <a:r>
              <a:t>Chart data basis: Section 3.3.2 text only: plan totals for all four cities; adjusted totals are stated only for Quy Nhon (33.2) and Phan Rang–Thap Cham (97.9). Dong Hoi and Nha Trang adjusted values appear only as unlabeled bars in the paper’s figure and are NOT estimated here; the original figure is shown beside the chart.</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94 · Slow start, slow disbursement · Paper § 3.3.3 · p. 54</a:t>
            </a:r>
          </a:p>
          <a:p/>
          <a:p>
            <a:r>
              <a:t>— Paper 3.3.3. Project implementation —</a:t>
            </a:r>
          </a:p>
          <a:p/>
          <a:p>
            <a:r>
              <a:t>[p. 54, ¶1] The project implementation process was slower than planned in terms of both timeline and disbursement. The financing agreement became effective on 18 January 2018, about five and a half months behind the original schedule of 3 August 2017, and the loan closing date had to be extended by 18 months, from 31 December 2022 to 30 June 2024 (Table 3.3.1.1) [33; 55; 43]. Disbursement lagged even further behind. The PAD projected a cumulative disbursement of USD 212.3 million by the end of FY2022; however, by late 2022 the IBRD had disbursed only USD 16.47 million and IDA USD 68.34 million, totalling approximately USD 84.8 million, equivalent to 36% of the original loan capital. The root cause of this delay was counterpart funding: budget allocations were made only from July 2019, resulting in zero disbursement in 2017 and 2018, while compensation, site clearance and contractor capacity issues continued to slow progress in subsequent years. Although signed contracts reached USD 160.9 million, physical construction volume accounted for only about 45% of total contract value [43]. Thus, World Bank capital was not lacking but could not be disbursed because of bottlenecks in counterpart funding and contract execution. The actual figures in this section are as of 31 October 2022, the restructuring date, as the project completion report has not yet been published.</a:t>
            </a:r>
          </a:p>
          <a:p/>
          <a:p>
            <a:r>
              <a:t>CCSEP disbursement: PAD projection vs. reported by late 2022 (million USD)</a:t>
            </a:r>
          </a:p>
          <a:p/>
          <a:p>
            <a:r>
              <a:t>Chart data basis: Section 3.3.3 text [43]: PAD projected USD 212.3 million by end FY2022; IBRD 16.47 + IDA 68.34 ≈ USD 84.8 million (36% of original loan capital).</a:t>
            </a:r>
          </a:p>
          <a:p/>
          <a:p>
            <a:r>
              <a:t>Data: Section 3.3.3 of the paper ([33; 55; 43]).</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95 · Timeline (Table 20) · Paper § 3.3.3 · p. 55</a:t>
            </a:r>
          </a:p>
          <a:p/>
          <a:p>
            <a:r>
              <a:t>[p. 55] Table 20. Planned and actual project implementation timeline (full table, all cells verbatim)</a:t>
            </a:r>
          </a:p>
          <a:p/>
          <a:p>
            <a:r>
              <a:t>Milestone | Planned | Actual</a:t>
            </a:r>
          </a:p>
          <a:p/>
          <a:p>
            <a:r>
              <a:t>Approval | 5/5/2017 | 5/5/2017</a:t>
            </a:r>
          </a:p>
          <a:p/>
          <a:p>
            <a:r>
              <a:t>Agreement signing | - | 27/10/2017</a:t>
            </a:r>
          </a:p>
          <a:p/>
          <a:p>
            <a:r>
              <a:t>Effectiveness date | 3/8/2017 | 18/1/2018</a:t>
            </a:r>
          </a:p>
          <a:p/>
          <a:p>
            <a:r>
              <a:t>Implementation start | 5/5/2017 | 18/1/2018</a:t>
            </a:r>
          </a:p>
          <a:p/>
          <a:p>
            <a:r>
              <a:t>Implementation end | 30/6/2022 | -</a:t>
            </a:r>
          </a:p>
          <a:p/>
          <a:p>
            <a:r>
              <a:t>Loan closing | 31/12/2022 | 30/6/2024</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96 · Technical support and delay factors · Paper § 3.3.3 · p. 54</a:t>
            </a:r>
          </a:p>
          <a:p/>
          <a:p>
            <a:r>
              <a:t>— Paper 3.3.3. Project implementation —</a:t>
            </a:r>
          </a:p>
          <a:p/>
          <a:p>
            <a:r>
              <a:t>[p. 54, ¶2] Technical support. The project was classified as Category A for environmental and social safeguards, subject to the involuntary resettlement policy OP 4.12 and procurement under World Bank guidelines [33]. The World Bank provided support through appraisal, periodic supervision, progress ratings and restructuring decisions as needed. At the end of 2022, implementation progress was rated Moderately Satisfactory, but the likelihood of achieving the development objective was downgraded to Moderately Unsatisfactory. Procurement, financial management and safeguards were all rated Moderately Satisfactory, and legal covenants were fully complied with [43]. The project was delayed by a combination of factors: slow site clearance and compensation, particularly in Nha Trang and Phan Rang; weak consultant and contractor capacity; major storms in 2020; the COVID-19 pandemic in 2020–2021; and weak contract management reflected in delayed contract extensions, payments and completion certificates.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97 · Resettlement: the main bottleneck · Paper § 3.3.3 · p. 55</a:t>
            </a:r>
          </a:p>
          <a:p/>
          <a:p>
            <a:r>
              <a:t>— Paper 3.3.3. Project implementation —</a:t>
            </a:r>
          </a:p>
          <a:p/>
          <a:p>
            <a:r>
              <a:t>[p. 55, ¶3] Component 3 on resettlement experienced the most significant bottlenecks. The PAD estimated 1,486 affected households, of which 329 required relocation [33]. In reality, in Nha Trang, the Ngoc Hiep resettlement site was only in phase 1 of construction, and only 160 out of 585 compensation plans had been approved. A third of the approved plans were rejected by residents, causing construction to halt on most Component 2 contracts. Consequently, package NT-2.1 was partially cancelled and NT-2.2 was completely cancelled, reducing the number of affected households by approximately 35% and relocated households by about 43%. In Phan Rang, the Phan Dang Luu resettlement site was completed, with 1,400 out of 1,586 compensation plans approved, while Dong Hoi and Quy Nhon largely completed their resettlement activities [43].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98 · Key indicators at 31/10/2022 · Paper § 3.3.3 · p. 56</a:t>
            </a:r>
          </a:p>
          <a:p/>
          <a:p>
            <a:r>
              <a:t>[p. 56] Table 21. Progress on key performance indicators as of 31/10/2022 (full table, all cells verbatim)</a:t>
            </a:r>
          </a:p>
          <a:p/>
          <a:p>
            <a:r>
              <a:t>Indicator | Target (PAD) | Actual | Ratio</a:t>
            </a:r>
          </a:p>
          <a:p/>
          <a:p>
            <a:r>
              <a:t>Direct beneficiaries | 290.000 | 185.559 | 64%</a:t>
            </a:r>
          </a:p>
          <a:p/>
          <a:p>
            <a:r>
              <a:t>People with access to sewer connections | 256.000 | 97.400 | 38%</a:t>
            </a:r>
          </a:p>
          <a:p/>
          <a:p>
            <a:r>
              <a:t>Cost recovery level | 100% | 98% | 98%</a:t>
            </a:r>
          </a:p>
          <a:p/>
          <a:p>
            <a:r>
              <a:t>Roads (km) | 22 | 4,38 | 20%</a:t>
            </a:r>
          </a:p>
          <a:p/>
          <a:p>
            <a:r>
              <a:t>Bridges | 5 | 3 | 60%</a:t>
            </a:r>
          </a:p>
          <a:p/>
          <a:p>
            <a:r>
              <a:t>Source: projects.worldbank.org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99 · Training and institutional reform · Paper § 3.3.3 · p. 55–56</a:t>
            </a:r>
          </a:p>
          <a:p/>
          <a:p>
            <a:r>
              <a:t>— Paper 3.3.3. Project implementation —</a:t>
            </a:r>
          </a:p>
          <a:p/>
          <a:p>
            <a:r>
              <a:t>[p. 55, ¶4] Training and capacity building. This area also revealed gaps between planning and implementation. Plans relied on PMUs inherited from the CCESP project, except for Phan Rang, which established a new PMU with 10 of its 12 staff transferred from water-sector ODA units. This was accompanied by training in procurement, financial management and safeguards; internal audit teams; financial management manuals; governance and integrity action plans; and technical assistance from PPIAF (USD 350,000) and GIZ for institutional reform under Decree No. 80/2014/ND-CP. The goal was for each city to have a service management unit, and for the project to deliver 14 performance-based service contracts, 4 service tariff roadmaps and 4 connection policies [33].</a:t>
            </a:r>
          </a:p>
          <a:p/>
          <a:p>
            <a:r>
              <a:t>[p. 56, ¶5] In practice, PMU capacity remained a key cause of progress delays. After the restructuring, the World Bank recommended adding qualified staff, improving coordination between PMUs and provincial departments, amending contract terms with contractors and consultants, increasing supervision frequency, and holding monthly progress meetings alongside biweekly site clearance meetings [43]. Institutionally, Public Service Management Units (PSMUs) were established in each city. Drainage and wastewater assets were transferred to People's Committees, road assets to transport departments, connection policies and septic tank sludge management plans were issued, and tariff roadmaps were approved, though implementation levels varied by locality. Performance-based service contracts remained largely unexecuted, with the exception of the Nha Trang wastewater treatment plant. Training and institutional reform efforts thus largely stopped at the setup stage without becoming fully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100 · Same bottleneck for all three forms · Paper § 3.3.3 · p. 56</a:t>
            </a:r>
          </a:p>
          <a:p/>
          <a:p>
            <a:r>
              <a:t>— Paper 3.3.3. Project implementation —</a:t>
            </a:r>
          </a:p>
          <a:p/>
          <a:p>
            <a:r>
              <a:t>[p. 56, ¶6] The three forms of support complemented one another but ran into the same bottleneck. World Bank funds were available but could not be disbursed while counterpart funding arrived late. Technical support helped identify resettlement risks early and address them through restructuring, but weak PMU capacity slowed compensation and contract management. Training bore fruit only when PMUs had enough staff and contracts were ready for implementation. By late 2022, the project had disbursed about 36% of its original loan capital, cancelled about USD 45.6 million, scaled back its scope in Nha Trang and needed an 18-month extension. The case also shows the limited weight of the IBRD within a blended package. The IBRD loan was only 16.8% of the planned cost (14.2% after adjustment) and fully financed Component 2, while the larger IDA credit financed the sanitation infrastructure [33, Annex 2, Table 2.1; 43].</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101 · Results so far · Paper § 3.3.4 · p. 57</a:t>
            </a:r>
          </a:p>
          <a:p/>
          <a:p>
            <a:r>
              <a:t>— Paper 3.3.4. Results and challenges —</a:t>
            </a:r>
          </a:p>
          <a:p/>
          <a:p>
            <a:r>
              <a:t>[p. 57, ¶1] The project loan closed on 30 June 2024, but to date an Implementation Completion and Results Report (ICR) has not been published. The information below therefore evaluates progress based on the latest publicly available data, mainly figures as of 31 October 2022 from the Restructuring Paper, supplemented by milestones for 2023–2025 from the Inspection Panel records.</a:t>
            </a:r>
          </a:p>
          <a:p/>
          <a:p>
            <a:r>
              <a:t>[p. 57, ¶2] On these figures, the project delivered tangible results in drainage and sanitation but remained well below its appraisal targets. As Table 3.3.3.1 shows, direct beneficiaries reached 64% of the target and sewer access only 38%, while cost recovery stood at 98% of the 100% target [33; 43]. Works in Dong Hoi and Quy Nhon were largely completed, while those in Nha Trang and Phan Rang remained incomplete because of resettlement delays. Disbursement continued to rise after the restructuring and, according to the Inspection Panel, stood at 57.43% in August 2023, when the request for inspection was received [57, paras. 6, 55]. This rate may be calculated on a different base from the 36% reported in Section 3.3.3, so the two figures are not directly comparable.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102 · Climate resilience and institutions · Paper § 3.3.4 · p. 57</a:t>
            </a:r>
          </a:p>
          <a:p/>
          <a:p>
            <a:r>
              <a:t>— Paper 3.3.4. Results and challenges —</a:t>
            </a:r>
          </a:p>
          <a:p/>
          <a:p>
            <a:r>
              <a:t>[p. 57, ¶3] Regarding climate resilience, the PAD set a target to reduce flood risks for approximately 44,000 people and to construct 17 km of embankments, 22 km of roads and 5 bridges [33]. According to the latest published figures, only 4.38 km of roads and 3 bridges have been completed, while figures for embankments and the number of people with reduced flood risks are not yet publicly available. Flood reduction benefits are therefore currently demonstrated only through completed works, and full target achievement cannot yet be confirmed. More sustainable results lie in institutional capacity building. Each city established a PSMU; drainage and wastewater assets were handed over to local People's Committees; road assets were transferred to transport departments; household connection policies and septic tank sludge management plans were issued; and tariff roadmaps were approved [43]. The Nha Trang wastewater treatment plant was an exception, as it already operated under a performance-based service contract. The 38% coverage rate indicates that the benefits of drainage infrastructure are fully realized only when networks and household connections are completed.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103 · Nha Trang: resettlement bottleneck · Paper § 3.3.4 · p. 58</a:t>
            </a:r>
          </a:p>
          <a:p/>
          <a:p>
            <a:r>
              <a:t>— Paper 3.3.4. Results and challenges —</a:t>
            </a:r>
          </a:p>
          <a:p/>
          <a:p>
            <a:r>
              <a:t>[p. 58, ¶4] The single largest bottleneck was resettlement in Nha Trang, whose course is described in Section 3.3.3. Of the 585 households originally identified for compensation, only 160 had approved plans after the restructuring, and two work packages were delayed and then cancelled, so the works could not be completed within the project period [57, executive summary, paras. 10, 29]. The Management Response puts the number of households affected by project works in Nha Trang at about 464 [57, executive summary]. The land concerned comprises about 5 ha not yet acquired, about 6 ha acquired in 2018 and about 2.5 ha acquired in 2021 [57, paras. 11, 63]. World Bank Management cited "technical reasons" for the cancellations and stated that they would not affect achievement of the project development objective [57, paras. 49, 59].</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104 · From bottleneck to formal complaint · Paper § 3.3.4 · p. 58</a:t>
            </a:r>
          </a:p>
          <a:p/>
          <a:p>
            <a:r>
              <a:t>— Paper 3.3.4. Results and challenges —</a:t>
            </a:r>
          </a:p>
          <a:p/>
          <a:p>
            <a:r>
              <a:t>[p. 58, ¶5] This bottleneck later led to a formal complaint. According to a request submitted by 31 residents of Ngoc Hiep Ward to the Inspection Panel on 27 August 2023, residents faced land use and construction restrictions since 2016, inconsistent resettlement policies, inadequate land compensation prices, and security pressure due to police presence [57, paras. 13, 17, 19, 23]. These represent allegations by the complainants and do not constitute conclusions. World Bank Management reviewed 222 compensation plans and identified 19 non-compliant cases, which it referred to the PMU for correction in June 2023. Eighteen of them involved low land prices and were being revised. The compensation plan for the 5 ha area was officially revoked in late August 2023 [57, paras. 37, 40, 41]. The World Bank's Board of Executive Directors approved the investigation on 5 February 2024. The dispute resolution process concluded on 7 August 2025 without a signed agreement, producing only a confidential memorandum signed on 2 March 2025. As the complainants withdrew from the process, the case returned to the Inspection Panel, and no final findings have been issued to date [58].</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105 · Three direct causes · Paper § 3.3.4 · p. 59</a:t>
            </a:r>
          </a:p>
          <a:p/>
          <a:p>
            <a:r>
              <a:t>— Paper 3.3.4. Results and challenges —</a:t>
            </a:r>
          </a:p>
          <a:p/>
          <a:p>
            <a:r>
              <a:t>[p. 59, ¶6] Three direct causes lie behind these problems, as analyzed in Section 3.3.3: disagreements over land prices and compensation, which led one-third of the approved plans to be rejected; land-use restrictions imposed since 2016 without completed acquisition, which prolonged residents' waiting; and weak PMU capacity and coordination with provincial authorities, which delayed compensation and contract execution [43]. Resettlement was thus a precondition for the drainage infrastructure to operate, not an auxiliary component, and its delay carried over to sanitation and flood-control results, disbursement and contract schedules.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106 · Achievements · Paper § 3.4.1 · p. 59</a:t>
            </a:r>
          </a:p>
          <a:p/>
          <a:p>
            <a:r>
              <a:t>— Paper 3.4.1. Achievements: financial mobilization, higher technical and management standards —</a:t>
            </a:r>
          </a:p>
          <a:p/>
          <a:p>
            <a:r>
              <a:t>[p. 59, ¶1] Financial mobilization. IBRD loans gave Vietnam long-term capital on terms that domestic markets could not easily match. TEP received USD 500 million with a 26-year maturity and a 10-year grace period [21], and CCSEP's IBRD loan carried a 29-year maturity [33]. Both projects also mobilized counterpart resources: NPT committed USD 231.25 million to TEP, and CCSEP's counterpart share rose to 20.8% after restructuring. In TEP, competitive bidding under Bank rules lowered capital costs, so the same objectives were achieved with less borrowing [37].</a:t>
            </a:r>
          </a:p>
          <a:p/>
          <a:p>
            <a:r>
              <a:t>[p. 59, ¶2] Higher technical standards. TEP introduced smart-grid technology in five 500-kV and ten 220-kV substations and added 4,263 MW of transformer capacity. Operating costs per MWh fell from USD 0.87 to USD 0.67, and unserved energy dropped sharply [37]. CCSEP extended sewer networks and treatment capacity in four coastal cities that had treated only a small share of their wastewater.</a:t>
            </a:r>
          </a:p>
          <a:p/>
          <a:p>
            <a:r>
              <a:t>[p. 59, ¶3] Higher management standards. Both projects applied the Bank's procurement, financial management and safeguard rules, and their implementing units built skills in these areas. NPT's asset management system now supports investment and maintenance decisions. In CCSEP, the reforms under Decree No. 80/2014/ND-CP produced service management units, connection policies and tariff roadmaps, and cost recovery reached 98% [43]. These changes in institutions are likely to last longer than any single project.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107 · Limitations · Paper § 3.4.2 · p. 60</a:t>
            </a:r>
          </a:p>
          <a:p/>
          <a:p>
            <a:r>
              <a:t>— Paper 3.4.2. Limitations: slow disbursement, procedural complexity, counterpart funding, gaps between WB safeguards and domestic regulations —</a:t>
            </a:r>
          </a:p>
          <a:p/>
          <a:p>
            <a:r>
              <a:t>[p. 60, ¶1] Slow disbursement. Neither project used its loan as planned. TEP disbursed 63.7% of its IBRD commitment, although this partly reflected lower costs [41]. CCSEP disbursed nothing in 2017 and 2018 and only about 36% of its loan capital by late 2022 [43]. Because IBRD loans carry a commitment fee on undisbursed balances (Section 1.4.2), slow disbursement also raises the effective cost of borrowing.</a:t>
            </a:r>
          </a:p>
          <a:p/>
          <a:p>
            <a:r>
              <a:t>[p. 60, ¶2] Procedural complexity. Projects must satisfy both Vietnamese and World Bank procedures. In TEP, the choice and approval of smart-grid technology took about four years [37]. In CCSEP, the loan became effective five and a half months late, and three disbursement conditions depended on approvals by the Ministry of Finance and provincial People's Committees [33].</a:t>
            </a:r>
          </a:p>
          <a:p/>
          <a:p>
            <a:r>
              <a:t>[p. 60, ¶3] Counterpart funding. Domestic funding was often the binding constraint. CCSEP's provincial allocations began only in July 2019, which delayed the entire project [43]. In TEP, NPT financed almost all of the capacity-building component, USD 5.50 million of USD 5.74 million [41]. Where loans are on-lent, provinces also bear real debt, and the PAD warned that Binh Dinh could exceed its debt ceiling [33].</a:t>
            </a:r>
          </a:p>
          <a:p/>
          <a:p>
            <a:r>
              <a:t>[p. 60, ¶4] Gaps between World Bank safeguards and domestic regulations. Land compensation proved the most serious problem. In Nha Trang, only 160 of 585 compensation plans had been approved by late 2022, residents rejected a third of the approved plans, two work packages were cancelled, and residents filed a complaint with the Inspection Panel [43; 57]. TEP also affected about 2,500 households, with some cases still unresolved after closing [37]. Domestic land prices and procedures did not always meet the Bank's resettlement standards.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108 · Recommendations (1/2) · Paper § 3.4.3 · p. 60–61</a:t>
            </a:r>
          </a:p>
          <a:p/>
          <a:p>
            <a:r>
              <a:t>— Paper 3.4.3. Recommendations for Vietnam —</a:t>
            </a:r>
          </a:p>
          <a:p/>
          <a:p>
            <a:r>
              <a:t>[p. 60, ¶1] Vietnam's reclassification as an upper-middle-income economy in 2026 means that future World Bank borrowing will rely on IBRD terms [4]. Using this more expensive capital well requires changes on the domestic side, where the two cases show the main constraints lie.</a:t>
            </a:r>
          </a:p>
          <a:p/>
          <a:p>
            <a:r>
              <a:t>[p. 61, ¶2] 1. Prepare projects more fully before approval. Technology choices, technical approvals and land acquisition plans should be settled before the loan is signed. TEP's four-year delay on smart-grid technology could have been shortened by earlier regulatory coordination [37]. A Project Preparation Advance can finance this work and be refinanced from the loan.</a:t>
            </a:r>
          </a:p>
          <a:p/>
          <a:p>
            <a:r>
              <a:t>[p. 61, ¶3] 2. Secure counterpart funding at the start. Counterpart funds should be included in the medium-term public investment plan when the project is approved, not after effectiveness. Before on-lending to provinces, the Ministry of Finance should check each province's debt capacity, as the CCSEP PAD did for Binh Dinh.</a:t>
            </a:r>
          </a:p>
          <a:p/>
          <a:p>
            <a:r>
              <a:t>[p. 61, ¶4] 3. Align compensation with World Bank standards early. For new projects under the ESF, land valuation, consultation and grievance mechanisms should meet ESS5 from the preparation stage. Independent land price valuation and early consultation with affected households would reduce the risk seen in Nha Trang, where disputes over prices led to cancelled contracts and a formal complaint.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109 · Recommendations (2/2) · Paper § 3.4.3 · p. 61</a:t>
            </a:r>
          </a:p>
          <a:p/>
          <a:p>
            <a:r>
              <a:t>— Paper 3.4.3. Recommendations for Vietnam —</a:t>
            </a:r>
          </a:p>
          <a:p/>
          <a:p>
            <a:r>
              <a:t>[p. 61, ¶5] 4. Strengthen and stabilize PMUs. Experienced staff should be kept in professional PMUs that manage several projects over time, rather than in units created and dissolved with each loan. Training through the World Bank's Open Learning Campus should focus on contract management, procurement and safeguards.</a:t>
            </a:r>
          </a:p>
          <a:p/>
          <a:p>
            <a:r>
              <a:t>[p. 61, ¶6] 5. Streamline domestic procedures. Under Decree No. 242/2025/ND-CP, approval steps for project proposals, investment decisions, on-lending and counterpart allocation should be shortened and scheduled to match the World Bank project cycle [53].</a:t>
            </a:r>
          </a:p>
          <a:p/>
          <a:p>
            <a:r>
              <a:t>[p. 61, ¶7] 6. Choose instruments strategically. For reform programs with measurable results, Vietnam can consider PforR or DPF rather than relying only on IPF. Reimbursable Advisory Services can provide tailored advice where analytical support is needed outside a loan [36].</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110 · Conclusion · p. 62</a:t>
            </a:r>
          </a:p>
          <a:p/>
          <a:p>
            <a:r>
              <a:t>— Paper CONCLUSION (p. 62) —</a:t>
            </a:r>
          </a:p>
          <a:p/>
          <a:p>
            <a:r>
              <a:t>— Paper 1. Summary of findings (p. 62) —</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111 · Three pillars, one package · Paper § Conclusion · 1.1 · p. 62</a:t>
            </a:r>
          </a:p>
          <a:p/>
          <a:p>
            <a:r>
              <a:t>— Paper 1.1. Synthesizing the three pillars of IBRD support: finance, technical support and training —</a:t>
            </a:r>
          </a:p>
          <a:p/>
          <a:p>
            <a:r>
              <a:t>[p. 62, ¶1] The IBRD is the World Bank Group's lender to middle-income and creditworthy poorer countries. It raises funds on capital markets on the strength of its AAA rating and lends them on long maturities through three instruments: IPF, DPF and PforR. Its support for project financing rests on three pillars. Finance pays for the investment through the project cycle and its disbursement methods. Technical support improves project design, policy and monitoring. Training and capacity building strengthen the people and institutions that carry out projects. These pillars work as one package, and each depends on the others.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112 · What the two cases show · Paper § Conclusion · 1.2 · p. 62</a:t>
            </a:r>
          </a:p>
          <a:p/>
          <a:p>
            <a:r>
              <a:t>— Paper 1.2. Re-evaluating project impacts from the case studies —</a:t>
            </a:r>
          </a:p>
          <a:p/>
          <a:p>
            <a:r>
              <a:t>[p. 62, ¶1] The two case studies show both the value and the limits of this package in Vietnam. TEP shows what IBRD financing can achieve with a capable implementer: transmission outputs exceeded their targets, operating costs fell, and IEG rated the outcome highly satisfactory. It also shows that a successful project may still disburse far less than its commitment. CCSEP shows the opposite side. Late counterpart funding, weak PMU capacity and resettlement disputes kept results well below targets and led to cancelled funds and a formal complaint. Across both cases, the binding constraints lay mainly on the domestic side rather than in the availability of IBRD money.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113 · Significance and limitations · Paper § Conclusion · 2 · 3 · p. 62–63</a:t>
            </a:r>
          </a:p>
          <a:p/>
          <a:p>
            <a:r>
              <a:t>— Paper 2. Significance of the paper —</a:t>
            </a:r>
          </a:p>
          <a:p/>
          <a:p>
            <a:r>
              <a:t>[p. 62, ¶1] The paper brings together the IBRD's organization, lending terms and modes of support in one framework and applies that framework consistently to two Vietnamese projects. It distinguishes planned from actual financing and IBRD funds from IDA and counterpart funds, which avoids overstating the IBRD's contribution. Its findings are relevant to Vietnam's new stage of borrowing after IDA graduation and its 2026 reclassification as an upper-middle-income economy.</a:t>
            </a:r>
          </a:p>
          <a:p/>
          <a:p>
            <a:r>
              <a:t>— Paper 3. Limitations of the research —</a:t>
            </a:r>
          </a:p>
          <a:p/>
          <a:p>
            <a:r>
              <a:t>[p. 63, ¶1] The study relies on secondary data and could not verify results through field surveys or interviews. Many sources are prepared by the World Bank itself, although independent evaluations by IEG and the Inspection Panel were used where available. CCSEP has no published completion report, so its results are based on interim documents up to 2022–2025. Finally, two case studies cannot represent the whole IBRD portfolio in Vietnam, and system-wide indicators cannot be attributed to a single project.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114 · Directions for further research · Paper § Conclusion · 4 · p. 63</a:t>
            </a:r>
          </a:p>
          <a:p/>
          <a:p>
            <a:r>
              <a:t>— Paper 4. Directions for further research —</a:t>
            </a:r>
          </a:p>
          <a:p/>
          <a:p>
            <a:r>
              <a:t>[p. 63, ¶1] Future research could update the CCSEP assessment once its completion report is published. It could also study IBRD projects approved after IDA graduation, such as the Binh Duong water environment project and the southern waterway program. Comparing IBRD lending with that of other multilateral lenders in Vietnam, such as the Asian Development Bank, would show whether the same constraints apply. A quantitative study of disbursement delays across the portfolio could measure how much counterpart funding and land acquisition cost Vietnam in commitment fees and lost time.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115 · References (paper pp. 64–69), listed in full; drafting marks removed (see ISSUES.md). Each [n] opens its source card.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116 · References (paper pp. 64–69), listed in full; drafting marks removed (see ISSUES.md). Each [n] opens its source card.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117 · References (paper pp. 64–69), listed in full; drafting marks removed (see ISSUES.md). Each [n] opens its source card.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118 · References (paper pp. 64–69), listed in full; drafting marks removed (see ISSUES.md). Each [n] opens its source card.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119 · References (paper pp. 64–69), listed in full; drafting marks removed (see ISSUES.md). Each [n] opens its source card.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120 · References (paper pp. 64–69), listed in full; drafting marks removed (see ISSUES.md). Each [n] opens its source card.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121 · Index of sources: click a number to open its card.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122 · Credits.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123 ·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 (hidden slide; reached by clicking [1] on a slide). Press the Back button (or Backspace in Slide Show) to return.</a:t>
            </a:r>
          </a:p>
          <a:p/>
          <a:p>
            <a:r>
              <a:t>World Bank. (2011). Country Partnership Strategy for the Socialist Republic of Vietnam for the period FY12–FY16. World Bank. https://documents.banquemondiale.org/fr/publication/documents-reports/documentdetail/865381468329937627</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 (hidden slide; reached by clicking [2] on a slide). Press the Back button (or Backspace in Slide Show) to return.</a:t>
            </a:r>
          </a:p>
          <a:p/>
          <a:p>
            <a:r>
              <a:t>World Bank. (2009, December 30). World Bank, Vietnam sign $500M loan to reform Vietnam's public investments [Press release]. ( lỗi ) https://www.worldbank.org/en/news/press-release/2009/12/30/world-bank-vietnam-sign-500m-loan-reform-vietnams-public-investments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 (hidden slide; reached by clicking [2] on a slide). Press the Back button (or Backspace in Slide Show) to return.</a:t>
            </a:r>
          </a:p>
          <a:p/>
          <a:p>
            <a:r>
              <a:t>World Bank. (2009, December 30). World Bank, Vietnam sign $500M loan to reform Vietnam's public investments [Press release]. ( lỗi ) https://www.worldbank.org/en/news/press-release/2009/12/30/world-bank-vietnam-sign-500m-loan-reform-vietnams-public-investments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 (hidden slide; reached by clicking [3] on a slide). Press the Back button (or Backspace in Slide Show) to return.</a:t>
            </a:r>
          </a:p>
          <a:p/>
          <a:p>
            <a:r>
              <a:t>World Bank Group. (2019). Vietnam – Performance and Learning Review of the Country Partnership Framework for the period FY19–FY22. World Bank. https://documents1.worldbank.org/curated/en/395041558317667311/pdf/Vietnam-Performance-and-Learning-Review-of-the-Country-Partnership-Framework-for-the-Period-FY19-FY22.pdf</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 (hidden slide; reached by clicking [4] on a slide). Press the Back button (or Backspace in Slide Show) to return.</a:t>
            </a:r>
          </a:p>
          <a:p/>
          <a:p>
            <a:r>
              <a:t>Viet Nam News. (2026, July). Việt Nam classified as upper-middle-income country in new World Bank evaluations. https://vietnamnews.vn/society/1784609/viet-nam-classified-as-upper-middle-income-country-in-new-world-bank-evaluations.html</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 (hidden slide; reached by clicking [5] on a slide). Press the Back button (or Backspace in Slide Show) to return.</a:t>
            </a:r>
          </a:p>
          <a:p/>
          <a:p>
            <a:r>
              <a:t>World Bank. (2024, January 12). World Bank approves project to improve living environment for over half a million people in southern Vietnam [Press release]. https://www.worldbank.org/en/news/press-release/2024/01/12/world-bank-approves-project-to-improve-living-environment-for-over-half-a-million-people-in-southern-vietnam</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[6] (hidden slide; reached by clicking [6] on a slide). Press the Back button (or Backspace in Slide Show) to return.</a:t>
            </a:r>
          </a:p>
          <a:p/>
          <a:p>
            <a:r>
              <a:t>World Bank. (2024, June 21). New World Bank program boosts sustainable transport infrastructure for vital Viet Nam waterways [Press release]. https://www.worldbank.org/en/news/press-release/2024/06/21/new-world-bank-program-boosts-sustainable-transport-infrastructure-for-vital-viet-nam-waterways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[7] (hidden slide; reached by clicking [7] on a slide). Press the Back button (or Backspace in Slide Show) to return.</a:t>
            </a:r>
          </a:p>
          <a:p/>
          <a:p>
            <a:r>
              <a:t>International Bank for Reconstruction and Development. (2026). IBRD financial statements, March 2026. World Bank. https://thedocs.worldbank.org/en/doc/4f8e88be21bdf2e7dddfae2cd6e3e30b-0040012026/original/IBRD-Financial-Statements-March-2026.pdf</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[8] (hidden slide; reached by clicking [8] on a slide). Press the Back button (or Backspace in Slide Show) to return.</a:t>
            </a:r>
          </a:p>
          <a:p/>
          <a:p>
            <a:r>
              <a:t>World Bank Group. (n.d.). World Bank Group timeline. https://timeline.worldbank.org</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[9] (hidden slide; reached by clicking [9] on a slide). Press the Back button (or Backspace in Slide Show) to return.</a:t>
            </a:r>
          </a:p>
          <a:p/>
          <a:p>
            <a:r>
              <a:t>World Bank Group Archives. (n.d.). Digitized records: The World Bank's first loan. https://www.worldbank.org/en/archive/history/exhibits/Digitized-Records-World-Bank-First-Loan</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[10] (hidden slide; reached by clicking [10] on a slide). Press the Back button (or Backspace in Slide Show) to return.</a:t>
            </a:r>
          </a:p>
          <a:p/>
          <a:p>
            <a:r>
              <a:t>World Bank. (n.d.). Ajay Banga, President of the World Bank Group. https://www.worldbank.org/en/about/people/a/ajay-banga</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[11] (hidden slide; reached by clicking [11] on a slide). Press the Back button (or Backspace in Slide Show) to return.</a:t>
            </a:r>
          </a:p>
          <a:p/>
          <a:p>
            <a:r>
              <a:t>World Bank. (2026). IBRD voting power: Percentage of total votes by country [Dataset]. World Bank Finances One. https://financesone.worldbank.org/countries/Vietnam</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[12] (hidden slide; reached by clicking [12] on a slide). Press the Back button (or Backspace in Slide Show) to return.</a:t>
            </a:r>
          </a:p>
          <a:p/>
          <a:p>
            <a:r>
              <a:t>World Bank. (2018, April 21). World Bank Group shareholders endorse transformative capital package [Press release]. ( lỗi ) https://www.worldbank.org/en/news/press-release/2018/04/21/world-bank-group-shareholders-endorse-transformative-capital-package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[13] (hidden slide; reached by clicking [13] on a slide). Press the Back button (or Backspace in Slide Show) to return.</a:t>
            </a:r>
          </a:p>
          <a:p/>
          <a:p>
            <a:r>
              <a:t>World Bank Treasury. (2025). IBRD debt products brief. https://thedocs.worldbank.org/en/doc/251541b562ff6b17f214752061762b85-0340022025/original/IBRD-Debt-Products-Brief-v3.pdf</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[14] (hidden slide; reached by clicking [14] on a slide). Press the Back button (or Backspace in Slide Show) to return.</a:t>
            </a:r>
          </a:p>
          <a:p/>
          <a:p>
            <a:r>
              <a:t>Wes, M. (2023, September 14). Anchoring financing in results and reforms: Key takeaways from World Bank experience [Presentation to the High-Level Group on the Future of Cohesion Policy]. https://ec.europa.eu/regional_policy/sources/policy/how/future-cohesion-policy/WorldBank_230914.pdf</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[15] (hidden slide; reached by clicking [15] on a slide). Press the Back button (or Backspace in Slide Show) to return.</a:t>
            </a:r>
          </a:p>
          <a:p/>
          <a:p>
            <a:r>
              <a:t>Gelb, A., Diofasi, A., &amp; Postel, H. (2016). Program for Results: The first 35 operations (CGD Working Paper 430). Center for Global Development. https://www.cgdev.org/publication/program-results-first-35-operations-working-paper-430</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[16] (hidden slide; reached by clicking [16] on a slide). Press the Back button (or Backspace in Slide Show) to return.</a:t>
            </a:r>
          </a:p>
          <a:p/>
          <a:p>
            <a:r>
              <a:t>World Bank Treasury. (n.d.). IBRD Flexible Loan. https://projects.worldbank.org/en/about/unit/treasury/ibrd-financial-products/ibrd-flexible-loan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[17] (hidden slide; reached by clicking [17] on a slide). Press the Back button (or Backspace in Slide Show) to return.</a:t>
            </a:r>
          </a:p>
          <a:p/>
          <a:p>
            <a:r>
              <a:t>World Bank Treasury. (2020). IBRD Flexible Loan pricing basics [Product note]. https://thedocs.worldbank.org/en/doc/494451541196179855-0340022018/original/productnoteIFLpricingbasicsOct2020.pdf</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[18] (hidden slide; reached by clicking [18] on a slide). Press the Back button (or Backspace in Slide Show) to return.</a:t>
            </a:r>
          </a:p>
          <a:p/>
          <a:p>
            <a:r>
              <a:t>World Bank. (2014, February 11). World Bank Board of Executive Directors announces change in IBRD loan terms [Press release]. ( lỗi ) https://www.worldbank.org/en/news/press-release/2014/02/11/world-bank-board-of-executive-directors-announces-change-in-ibrd-loan-terms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[19] (hidden slide; reached by clicking [19] on a slide). Press the Back button (or Backspace in Slide Show) to return.</a:t>
            </a:r>
          </a:p>
          <a:p/>
          <a:p>
            <a:r>
              <a:t>International Bank for Reconstruction and Development. (2025). IBRD financial statements, December 2025. World Bank. https://thedocs.worldbank.org/en/doc/5e394eaa9f7616b3a5518bd2f4bd9774-0040012025/original/IBRD-Financial-Statements-December-2025.pdf</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[20] (hidden slide; reached by clicking [20] on a slide). Press the Back button (or Backspace in Slide Show) to return.</a:t>
            </a:r>
          </a:p>
          <a:p/>
          <a:p>
            <a:r>
              <a:t>World Bank Treasury. (n.d.). IBRD lending rates and fees. https://projects.worldbank.org/en/about/unit/treasury/ibrd-financial-products/lending-rates-and-fees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[21] (hidden slide; reached by clicking [21] on a slide). Press the Back button (or Backspace in Slide Show) to return.</a:t>
            </a:r>
          </a:p>
          <a:p/>
          <a:p>
            <a:r>
              <a:t>World Bank. (2014, August 8). Vietnam: Transmission Efficiency Project [Loans and credits]. ( lỗi ) ( check 3.4.1 ) https://www.worldbank.org/en/news/loans-credits/2014/08/08/vietnam-transmission-efficiency-project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[22] (hidden slide; reached by clicking [22] on a slide). Press the Back button (or Backspace in Slide Show) to return.</a:t>
            </a:r>
          </a:p>
          <a:p/>
          <a:p>
            <a:r>
              <a:t>World Bank. (n.d.). Environmental and Social Framework. https://www.worldbank.org/esf</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[23] (hidden slide; reached by clicking [23] on a slide). Press the Back button (or Backspace in Slide Show) to return.</a:t>
            </a:r>
          </a:p>
          <a:p/>
          <a:p>
            <a:r>
              <a:t>World Bank. (n.d.). Environmental and social policies. https://www.worldbank.org/en/projects-operations/environmental-and-social-policies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[24] (hidden slide; reached by clicking [24] on a slide). Press the Back button (or Backspace in Slide Show) to return.</a:t>
            </a:r>
          </a:p>
          <a:p/>
          <a:p>
            <a:r>
              <a:t>World Bank. (2020). Annual report 2020: Improving operations for country outcomes. https://www.worldbank.org/en/about/annual-report-2020/strengthening-the-organization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[25] (hidden slide; reached by clicking [25] on a slide). Press the Back button (or Backspace in Slide Show) to return.</a:t>
            </a:r>
          </a:p>
          <a:p/>
          <a:p>
            <a:r>
              <a:t>World Bank. (n.d.). World Bank project cycle. https://projects.worldbank.org/en/projects-operations/products-and-services/brief/projectcycle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[26] (hidden slide; reached by clicking [26] on a slide). Press the Back button (or Backspace in Slide Show) to return.</a:t>
            </a:r>
          </a:p>
          <a:p/>
          <a:p>
            <a:r>
              <a:t>World Bank. (2006). Disbursement guidelines for projects. https://www.eximb.com/upload/app_links/1242.pdf</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[27] (hidden slide; reached by clicking [27] on a slide). Press the Back button (or Backspace in Slide Show) to return.</a:t>
            </a:r>
          </a:p>
          <a:p/>
          <a:p>
            <a:r>
              <a:t>World Bank. (2017). Disbursement guidelines for investment project financing. ( check ) https://documents1.worldbank.org/curated/en/123641487793335838/text/ITK171540-201701221452.txt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[28] (hidden slide; reached by clicking [28] on a slide). Press the Back button (or Backspace in Slide Show) to return.</a:t>
            </a:r>
          </a:p>
          <a:p/>
          <a:p>
            <a:r>
              <a:t>World Bank. (2011, May 24). Vietnam: Second Public Investment Reform Development Policy Operation [Loans and credits]. ( lỗi ) https://www.worldbank.org/en/news/loans-credits/2011/05/24/vietnam-second-public-investment-reform-development-policy-operation</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[29] (hidden slide; reached by clicking [29] on a slide). Press the Back button (or Backspace in Slide Show) to return.</a:t>
            </a:r>
          </a:p>
          <a:p/>
          <a:p>
            <a:r>
              <a:t>World Bank. (2011, May 24). World Bank supports policy reform to improve efficiency of Vietnam's public investment [Press release]. ( lỗi ) https://www.worldbank.org/en/news/press-release/2011/05/24/world-bank-supports-policy-reform-improve-efficiency-vietnams-public-investment</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[30] (hidden slide; reached by clicking [30] on a slide). Press the Back button (or Backspace in Slide Show) to return.</a:t>
            </a:r>
          </a:p>
          <a:p/>
          <a:p>
            <a:r>
              <a:t>DTiNews. (2011, May 26). WB prioritises public investment in Vietnam. https://dtinews.dantri.com.vn/print/20110526135305000.htm</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[31] (hidden slide; reached by clicking [31] on a slide). Press the Back button (or Backspace in Slide Show) to return.</a:t>
            </a:r>
          </a:p>
          <a:p/>
          <a:p>
            <a:r>
              <a:t>World Bank. (2010, April 6). Vietnam: First Power Sector Reform Development Policy Operation [Loans and credits]. ( lỗi ) https://www.worldbank.org/en/news/loans-credits/2010/04/06/vietnam-first-power-sector-reform-development-policy-operation</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[32] (hidden slide; reached by clicking [32] on a slide). Press the Back button (or Backspace in Slide Show) to return.</a:t>
            </a:r>
          </a:p>
          <a:p/>
          <a:p>
            <a:r>
              <a:t>Independent Evaluation Group. (n.d.). Paying for results: Does results-based lending work? ( lỗi ) https://ieg.worldbankgroup.org/blog/paying-results-does-results-based-lending-work</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[33] (hidden slide; reached by clicking [33] on a slide). Press the Back button (or Backspace in Slide Show) to return.</a:t>
            </a:r>
          </a:p>
          <a:p/>
          <a:p>
            <a:r>
              <a:t>World Bank. (2017). Project appraisal document: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[34] (hidden slide; reached by clicking [34] on a slide). Press the Back button (or Backspace in Slide Show) to return.</a:t>
            </a:r>
          </a:p>
          <a:p/>
          <a:p>
            <a:r>
              <a:t>World Bank. (n.d.). Advice and analytics. https://www.worldbank.org/asa</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[35] (hidden slide; reached by clicking [35] on a slide). Press the Back button (or Backspace in Slide Show) to return.</a:t>
            </a:r>
          </a:p>
          <a:p/>
          <a:p>
            <a:r>
              <a:t>Asian Development Bank. (2024). Linked Document A: Comparison of technical assistance provided by multilateral development banks. https://www.adb.org/sites/default/files/linked-documents/Linked%20Document%20A%20-%20Comparison%20of%20TA%20provided%20by%20MDBs_20241029.pdf</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[36] (hidden slide; reached by clicking [36] on a slide). Press the Back button (or Backspace in Slide Show) to return.</a:t>
            </a:r>
          </a:p>
          <a:p/>
          <a:p>
            <a:r>
              <a:t>World Bank. (n.d.). Reimbursable advisory services in Southeast Asia. https://worldbank.org/en/country/thailand/brief/reimbursable-advisory-services-in-southeast-asia</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[37] (hidden slide; reached by clicking [37] on a slide). Press the Back button (or Backspace in Slide Show) to return.</a:t>
            </a:r>
          </a:p>
          <a:p/>
          <a:p>
            <a:r>
              <a:t>Independent Evaluation Group. (2023). Vietnam – Transmission Efficiency Project: Project performance assessment report (Report No. 182837). World Bank. https://documents.worldbank.org/en/publication/documents-reports/documentdetail/099026109262383942</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[38] (hidden slide; reached by clicking [38] on a slide). Press the Back button (or Backspace in Slide Show) to return.</a:t>
            </a:r>
          </a:p>
          <a:p/>
          <a:p>
            <a:r>
              <a:t>World Bank. (n.d.). Pacific World Bank project orientation [Open Learning Campus course]. https://www.worldbank.org/en/olc/course/48351</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[39] (hidden slide; reached by clicking [39] on a slide). Press the Back button (or Backspace in Slide Show) to return.</a:t>
            </a:r>
          </a:p>
          <a:p/>
          <a:p>
            <a:r>
              <a:t>World Bank. (2015, March 23). A new online course to build procurement capacity [Feature story]. ( lỗi ) https://www.worldbank.org/en/news/feature/2015/03/23/a-new-online-course-to-build-procurement-capacity</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[40] (hidden slide; reached by clicking [40] on a slide). Press the Back button (or Backspace in Slide Show) to return.</a:t>
            </a:r>
          </a:p>
          <a:p/>
          <a:p>
            <a:r>
              <a:t>World Bank. (n.d.). E-procurement learning (self-paced) [Open Learning Campus course]. https://www.worldbank.org/en/olc/course/37108</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[41] (hidden slide; reached by clicking [41] on a slide). Press the Back button (or Backspace in Slide Show) to return.</a:t>
            </a:r>
          </a:p>
          <a:p/>
          <a:p>
            <a:r>
              <a:t>World Bank. (2022). Implementation completion and results report: Vietnam – Transmission Efficiency Project (IBRD-84170).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[41] (hidden slide; reached by clicking [41] on a slide). Press the Back button (or Backspace in Slide Show) to return.</a:t>
            </a:r>
          </a:p>
          <a:p/>
          <a:p>
            <a:r>
              <a:t>World Bank. (2022). Implementation completion and results report: Vietnam – Transmission Efficiency Project (IBRD-84170).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[41] (hidden slide; reached by clicking [41] on a slide). Press the Back button (or Backspace in Slide Show) to return.</a:t>
            </a:r>
          </a:p>
          <a:p/>
          <a:p>
            <a:r>
              <a:t>World Bank. (2022). Implementation completion and results report: Vietnam – Transmission Efficiency Project (IBRD-84170).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[41] (hidden slide; reached by clicking [41] on a slide). Press the Back button (or Backspace in Slide Show) to return.</a:t>
            </a:r>
          </a:p>
          <a:p/>
          <a:p>
            <a:r>
              <a:t>World Bank. (2022). Implementation completion and results report: Vietnam – Transmission Efficiency Project (IBRD-84170).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[41] (hidden slide; reached by clicking [41] on a slide). Press the Back button (or Backspace in Slide Show) to return.</a:t>
            </a:r>
          </a:p>
          <a:p/>
          <a:p>
            <a:r>
              <a:t>World Bank. (2022). Implementation completion and results report: Vietnam – Transmission Efficiency Project (IBRD-84170).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[41] (hidden slide; reached by clicking [41] on a slide). Press the Back button (or Backspace in Slide Show) to return.</a:t>
            </a:r>
          </a:p>
          <a:p/>
          <a:p>
            <a:r>
              <a:t>World Bank. (2022). Implementation completion and results report: Vietnam – Transmission Efficiency Project (IBRD-84170).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[42] (hidden slide; reached by clicking [42] on a slide). Press the Back button (or Backspace in Slide Show) to return.</a:t>
            </a:r>
          </a:p>
          <a:p/>
          <a:p>
            <a:r>
              <a:t>Independent Evaluation Group. (2022). Implementation completion report review: Vietnam – Transmission Efficiency Project (P131558). World Bank(lỗi ) https://ieg.worldbankgroup.org</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[42] (hidden slide; reached by clicking [42] on a slide). Press the Back button (or Backspace in Slide Show) to return.</a:t>
            </a:r>
          </a:p>
          <a:p/>
          <a:p>
            <a:r>
              <a:t>Independent Evaluation Group. (2022). Implementation completion report review: Vietnam – Transmission Efficiency Project (P131558). World Bank(lỗi ) https://ieg.worldbankgroup.org</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[43] (hidden slide; reached by clicking [43] on a slide). Press the Back button (or Backspace in Slide Show) to return.</a:t>
            </a:r>
          </a:p>
          <a:p/>
          <a:p>
            <a:r>
              <a:t>World Bank. (2022). Restructuring paper on a proposed project restructuring of Vietnam – Coastal Cities Sustainable Environment Project (RES53942).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[43] (hidden slide; reached by clicking [43] on a slide). Press the Back button (or Backspace in Slide Show) to return.</a:t>
            </a:r>
          </a:p>
          <a:p/>
          <a:p>
            <a:r>
              <a:t>World Bank. (2022). Restructuring paper on a proposed project restructuring of Vietnam – Coastal Cities Sustainable Environment Project (RES53942).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[43] (hidden slide; reached by clicking [43] on a slide). Press the Back button (or Backspace in Slide Show) to return.</a:t>
            </a:r>
          </a:p>
          <a:p/>
          <a:p>
            <a:r>
              <a:t>World Bank. (2022). Restructuring paper on a proposed project restructuring of Vietnam – Coastal Cities Sustainable Environment Project (RES53942).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[43] (hidden slide; reached by clicking [43] on a slide). Press the Back button (or Backspace in Slide Show) to return.</a:t>
            </a:r>
          </a:p>
          <a:p/>
          <a:p>
            <a:r>
              <a:t>World Bank. (2022). Restructuring paper on a proposed project restructuring of Vietnam – Coastal Cities Sustainable Environment Project (RES53942).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[43] (hidden slide; reached by clicking [43] on a slide). Press the Back button (or Backspace in Slide Show) to return.</a:t>
            </a:r>
          </a:p>
          <a:p/>
          <a:p>
            <a:r>
              <a:t>World Bank. (2022). Restructuring paper on a proposed project restructuring of Vietnam – Coastal Cities Sustainable Environment Project (RES53942).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[44] (hidden slide; reached by clicking [44] on a slide). Press the Back button (or Backspace in Slide Show) to return.</a:t>
            </a:r>
          </a:p>
          <a:p/>
          <a:p>
            <a:r>
              <a:t>World Bank. (2014). Project appraisal document on a proposed loan to the Socialist Republic of Vietnam for a Transmission Efficiency Project (P131558).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[44] (hidden slide; reached by clicking [44] on a slide). Press the Back button (or Backspace in Slide Show) to return.</a:t>
            </a:r>
          </a:p>
          <a:p/>
          <a:p>
            <a:r>
              <a:t>World Bank. (2014). Project appraisal document on a proposed loan to the Socialist Republic of Vietnam for a Transmission Efficiency Project (P131558).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[44] (hidden slide; reached by clicking [44] on a slide). Press the Back button (or Backspace in Slide Show) to return.</a:t>
            </a:r>
          </a:p>
          <a:p/>
          <a:p>
            <a:r>
              <a:t>World Bank. (2014). Project appraisal document on a proposed loan to the Socialist Republic of Vietnam for a Transmission Efficiency Project (P131558). World Bank. https://projects.worldbank.org/en/projects-operations/project-detail/P131558</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[45] (hidden slide; reached by clicking [45] on a slide). Press the Back button (or Backspace in Slide Show) to return.</a:t>
            </a:r>
          </a:p>
          <a:p/>
          <a:p>
            <a:r>
              <a:t>Baird, M. (2011). Vietnam and the World Bank: A brief history of the partnership (Report No. 66928). World Bank. https://documents1.worldbank.org/curated/en/846181468133547558/pdf/669280WP00PUBL0859B0WBdonghanh0Eng2.pdf</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[46] (hidden slide; reached by clicking [46] on a slide). Press the Back button (or Backspace in Slide Show) to return.</a:t>
            </a:r>
          </a:p>
          <a:p/>
          <a:p>
            <a:r>
              <a:t>World Bank. (2013, October 17). Remarks at the celebration of 20 years of ODA in Vietnam [Speech]. ( lỗi ) https://www.worldbank.org/en/news/speech/2013/10/17/celebration-of-20-years-of-ODA-in-vietnam.print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[47] (hidden slide; reached by clicking [47] on a slide). Press the Back button (or Backspace in Slide Show) to return.</a:t>
            </a:r>
          </a:p>
          <a:p/>
          <a:p>
            <a:r>
              <a:t>World Bank. (2017). Project appraisal document: Vietnam – Support for Autonomous Higher Education Project (P156849). World Bank. https://projects.worldbank.org/en/projects-operations/project-detail/P156849</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[48] (hidden slide; reached by clicking [48] on a slide). Press the Back button (or Backspace in Slide Show) to return.</a:t>
            </a:r>
          </a:p>
          <a:p/>
          <a:p>
            <a:r>
              <a:t>Government of Vietnam. (2013). Decree No. 38/2013/ND-CP on the management and use of ODA and concessional loans. |</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[49] (hidden slide; reached by clicking [49] on a slide). Press the Back button (or Backspace in Slide Show) to return.</a:t>
            </a:r>
          </a:p>
          <a:p/>
          <a:p>
            <a:r>
              <a:t>Government of Vietnam. (2016). Decree No. 16/2016/ND-CP on the management and use of ODA and concessional loans. |</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[50] (hidden slide; reached by clicking [50] on a slide). Press the Back button (or Backspace in Slide Show) to return.</a:t>
            </a:r>
          </a:p>
          <a:p/>
          <a:p>
            <a:r>
              <a:t>Government of Vietnam. (2020). Decree No. 56/2020/ND-CP on the management and use of ODA and concessional loans of foreign sponsors. |</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[51] (hidden slide; reached by clicking [51] on a slide). Press the Back button (or Backspace in Slide Show) to return.</a:t>
            </a:r>
          </a:p>
          <a:p/>
          <a:p>
            <a:r>
              <a:t>Government of Vietnam. (2021). Decree No. 114/2021/ND-CP on the management and use of ODA and concessional loans of foreign donors. |</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[52] (hidden slide; reached by clicking [52] on a slide). Press the Back button (or Backspace in Slide Show) to return.</a:t>
            </a:r>
          </a:p>
          <a:p/>
          <a:p>
            <a:r>
              <a:t>Government of Vietnam. (2023). Decree No. 20/2023/ND-CP amending Decree No. 114/2021/ND-CP. |</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[53] (hidden slide; reached by clicking [53] on a slide). Press the Back button (or Backspace in Slide Show) to return.</a:t>
            </a:r>
          </a:p>
          <a:p/>
          <a:p>
            <a:r>
              <a:t>Government of Vietnam. (2025). Decree No. 242/2025/ND-CP on the management and use of ODA and concessional loans. |</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[54] (hidden slide; reached by clicking [54] on a slide). Press the Back button (or Backspace in Slide Show) to return.</a:t>
            </a:r>
          </a:p>
          <a:p/>
          <a:p>
            <a:r>
              <a:t>Government of Vietnam. (2026). Decree No. 119/2026/ND-CP amending Decree No. 242/2025/ND-CP. |</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[55] (hidden slide; reached by clicking [55] on a slide). Press the Back button (or Backspace in Slide Show) to return.</a:t>
            </a:r>
          </a:p>
          <a:p/>
          <a:p>
            <a:r>
              <a:t>World Bank. (2020). Implementation status and results report No. 7: Vietnam – Coastal Cities Sustainable Environment Project (P156143). World Bank. https://projects.worldbank.org/en/projects-operations/project-detail/P156143</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[56] (hidden slide; reached by clicking [56] on a slide). Press the Back button (or Backspace in Slide Show) to return.</a:t>
            </a:r>
          </a:p>
          <a:p/>
          <a:p>
            <a:r>
              <a:t>Government of Vietnam. (2014). Decree No. 80/2014/ND-CP on drainage and wastewater treatment. |</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[57] (hidden slide; reached by clicking [57] on a slide). Press the Back button (or Backspace in Slide Show) to return.</a:t>
            </a:r>
          </a:p>
          <a:p/>
          <a:p>
            <a:r>
              <a:t>Inspection Panel. (2024). Report and recommendation: Viet Nam – Coastal Cities Sustainable Environment Project, second request for inspection (22 January 2024). World Bank. ( lỗi ) https://www.inspectionpanel.org/sites/default/files/cases/documents/166-Viet%20Nam-CCSEP-Inspection%20Panel%20Report%20and%20Recommendation-22%20January%202024.pdf</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[57] (hidden slide; reached by clicking [57] on a slide). Press the Back button (or Backspace in Slide Show) to return.</a:t>
            </a:r>
          </a:p>
          <a:p/>
          <a:p>
            <a:r>
              <a:t>Inspection Panel. (2024). Report and recommendation: Viet Nam – Coastal Cities Sustainable Environment Project, second request for inspection (22 January 2024). World Bank. ( lỗi ) https://www.inspectionpanel.org/sites/default/files/cases/documents/166-Viet%20Nam-CCSEP-Inspection%20Panel%20Report%20and%20Recommendation-22%20January%202024.pdf</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card for [58] (hidden slide; reached by clicking [58] on a slide). Press the Back button (or Backspace in Slide Show) to return.</a:t>
            </a:r>
          </a:p>
          <a:p/>
          <a:p>
            <a:r>
              <a:t>World Bank Accountability Mechanism. (2025). Case update: Conclusion of the dispute resolution process in Viet Nam. https://accountability.worldbank.org/en/news/2025/conclusion-of-drs-in-vietnam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IBRD Cover">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noAutofit/>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noAutofit/>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BRD 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a:p>
        </p:txBody>
      </p:sp>
      <p:sp>
        <p:nvSpPr>
          <p:cNvPr id="3" name="Content Placeholder 2"/>
          <p:cNvSpPr>
            <a:spLocks noGrp="1"/>
          </p:cNvSpPr>
          <p:nvPr>
            <p:ph idx="1"/>
          </p:nvPr>
        </p:nvSpPr>
        <p:spPr/>
        <p:txBody>
          <a:bodyPr>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BRD Chapter Open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noAutofit/>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noAutofit/>
          </a:bodyPr>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no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no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noAutofit/>
          </a:bodyPr>
          <a:lstStyle/>
          <a:p>
            <a:endParaRPr lang="en-US"/>
          </a:p>
        </p:txBody>
      </p:sp>
      <p:sp>
        <p:nvSpPr>
          <p:cNvPr id="7" name="Slide Number Placeholder 6"/>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no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no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noAutofit/>
          </a:bodyPr>
          <a:lstStyle/>
          <a:p>
            <a:endParaRPr lang="en-US"/>
          </a:p>
        </p:txBody>
      </p:sp>
      <p:sp>
        <p:nvSpPr>
          <p:cNvPr id="9" name="Slide Number Placeholder 8"/>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IBRD 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a:p>
        </p:txBody>
      </p:sp>
      <p:sp>
        <p:nvSpPr>
          <p:cNvPr id="3" name="Date Placeholder 2"/>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noAutofit/>
          </a:bodyPr>
          <a:lstStyle/>
          <a:p>
            <a:endParaRPr lang="en-US"/>
          </a:p>
        </p:txBody>
      </p:sp>
      <p:sp>
        <p:nvSpPr>
          <p:cNvPr id="5" name="Slide Number Placeholder 4"/>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IBRD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noAutofit/>
          </a:bodyPr>
          <a:lstStyle/>
          <a:p>
            <a:endParaRPr lang="en-US"/>
          </a:p>
        </p:txBody>
      </p:sp>
      <p:sp>
        <p:nvSpPr>
          <p:cNvPr id="4" name="Slide Number Placeholder 3"/>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noAutofit/>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no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noAutofit/>
          </a:bodyPr>
          <a:lstStyle/>
          <a:p>
            <a:endParaRPr lang="en-US"/>
          </a:p>
        </p:txBody>
      </p:sp>
      <p:sp>
        <p:nvSpPr>
          <p:cNvPr id="7" name="Slide Number Placeholder 6"/>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noAutofit/>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7" cy="4114800"/>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noAutofit/>
          </a:bodyPr>
          <a:lstStyle/>
          <a:p>
            <a:endParaRPr lang="en-US"/>
          </a:p>
        </p:txBody>
      </p:sp>
      <p:sp>
        <p:nvSpPr>
          <p:cNvPr id="7" name="Slide Number Placeholder 6"/>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noAutofit/>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noAutofit/>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CD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noAutofit/>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noAutofit/>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2.xml"/><Relationship Id="rId7" Type="http://schemas.openxmlformats.org/officeDocument/2006/relationships/slide" Target="slide3.xml"/><Relationship Id="rId8" Type="http://schemas.openxmlformats.org/officeDocument/2006/relationships/slide" Target="slide11.xml"/><Relationship Id="rId9" Type="http://schemas.openxmlformats.org/officeDocument/2006/relationships/slide" Target="slide27.xml"/><Relationship Id="rId10" Type="http://schemas.openxmlformats.org/officeDocument/2006/relationships/slide" Target="slide46.xml"/><Relationship Id="rId11" Type="http://schemas.openxmlformats.org/officeDocument/2006/relationships/slide" Target="slide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 Id="rId6" Type="http://schemas.openxmlformats.org/officeDocument/2006/relationships/slide" Target="slide124.xml"/><Relationship Id="rId7" Type="http://schemas.openxmlformats.org/officeDocument/2006/relationships/slide" Target="slide125.xml"/><Relationship Id="rId8" Type="http://schemas.openxmlformats.org/officeDocument/2006/relationships/slide" Target="slide127.xml"/><Relationship Id="rId9" Type="http://schemas.openxmlformats.org/officeDocument/2006/relationships/slide" Target="slide1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6.xml"/><Relationship Id="rId7" Type="http://schemas.openxmlformats.org/officeDocument/2006/relationships/slide" Target="slide1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2.xml"/><Relationship Id="rId7" Type="http://schemas.openxmlformats.org/officeDocument/2006/relationships/slide" Target="slide1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xml"/><Relationship Id="rId6" Type="http://schemas.openxmlformats.org/officeDocument/2006/relationships/slide" Target="slide131.xml"/><Relationship Id="rId7" Type="http://schemas.openxmlformats.org/officeDocument/2006/relationships/slide" Target="slide1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xml"/><Relationship Id="rId6" Type="http://schemas.openxmlformats.org/officeDocument/2006/relationships/slide" Target="slide131.xml"/><Relationship Id="rId7" Type="http://schemas.openxmlformats.org/officeDocument/2006/relationships/slide" Target="slide1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xml"/><Relationship Id="rId6" Type="http://schemas.openxmlformats.org/officeDocument/2006/relationships/slide" Target="slide133.xml"/><Relationship Id="rId7" Type="http://schemas.openxmlformats.org/officeDocument/2006/relationships/slide" Target="slide1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7.xml"/><Relationship Id="rId6" Type="http://schemas.openxmlformats.org/officeDocument/2006/relationships/slide" Target="slide1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8.xml"/><Relationship Id="rId6" Type="http://schemas.openxmlformats.org/officeDocument/2006/relationships/slide" Target="slide1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9.xml"/><Relationship Id="rId6" Type="http://schemas.openxmlformats.org/officeDocument/2006/relationships/slide" Target="slide136.xml"/><Relationship Id="rId7" Type="http://schemas.openxmlformats.org/officeDocument/2006/relationships/slide" Target="slide13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0.xml"/><Relationship Id="rId6" Type="http://schemas.openxmlformats.org/officeDocument/2006/relationships/slide" Target="slide138.xml"/><Relationship Id="rId7" Type="http://schemas.openxmlformats.org/officeDocument/2006/relationships/slide" Target="slide125.xml"/><Relationship Id="rId8" Type="http://schemas.openxmlformats.org/officeDocument/2006/relationships/slide" Target="slide13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1.xml"/><Relationship Id="rId6" Type="http://schemas.openxmlformats.org/officeDocument/2006/relationships/slide" Target="slide138.xml"/><Relationship Id="rId7" Type="http://schemas.openxmlformats.org/officeDocument/2006/relationships/slide" Target="slide13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22.xml"/><Relationship Id="rId7" Type="http://schemas.openxmlformats.org/officeDocument/2006/relationships/slide" Target="slide140.xml"/><Relationship Id="rId8" Type="http://schemas.openxmlformats.org/officeDocument/2006/relationships/slide" Target="slide14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23.xml"/><Relationship Id="rId7" Type="http://schemas.openxmlformats.org/officeDocument/2006/relationships/slide" Target="slide142.xml"/><Relationship Id="rId8" Type="http://schemas.openxmlformats.org/officeDocument/2006/relationships/slide" Target="slide143.xml"/><Relationship Id="rId9" Type="http://schemas.openxmlformats.org/officeDocument/2006/relationships/slide" Target="slide144.xml"/><Relationship Id="rId10" Type="http://schemas.openxmlformats.org/officeDocument/2006/relationships/slide" Target="slide14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4.xml"/><Relationship Id="rId6" Type="http://schemas.openxmlformats.org/officeDocument/2006/relationships/slide" Target="slide141.xml"/><Relationship Id="rId7" Type="http://schemas.openxmlformats.org/officeDocument/2006/relationships/slide" Target="slide142.xml"/><Relationship Id="rId8" Type="http://schemas.openxmlformats.org/officeDocument/2006/relationships/slide" Target="slide143.xml"/><Relationship Id="rId9" Type="http://schemas.openxmlformats.org/officeDocument/2006/relationships/slide" Target="slide144.xml"/><Relationship Id="rId10" Type="http://schemas.openxmlformats.org/officeDocument/2006/relationships/slide" Target="slide1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25.xml"/><Relationship Id="rId7" Type="http://schemas.openxmlformats.org/officeDocument/2006/relationships/slide" Target="slide146.xml"/><Relationship Id="rId8" Type="http://schemas.openxmlformats.org/officeDocument/2006/relationships/slide" Target="slide147.xml"/><Relationship Id="rId9" Type="http://schemas.openxmlformats.org/officeDocument/2006/relationships/slide" Target="slide14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6.xml"/><Relationship Id="rId6" Type="http://schemas.openxmlformats.org/officeDocument/2006/relationships/slide" Target="slide1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8.xml"/><Relationship Id="rId6" Type="http://schemas.openxmlformats.org/officeDocument/2006/relationships/slide" Target="slide1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9.xml"/><Relationship Id="rId6" Type="http://schemas.openxmlformats.org/officeDocument/2006/relationships/slide" Target="slide14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0.xml"/><Relationship Id="rId6" Type="http://schemas.openxmlformats.org/officeDocument/2006/relationships/slide" Target="slide14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2.xml"/><Relationship Id="rId6" Type="http://schemas.openxmlformats.org/officeDocument/2006/relationships/slide" Target="slide150.xml"/><Relationship Id="rId7" Type="http://schemas.openxmlformats.org/officeDocument/2006/relationships/slide" Target="slide1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33.xml"/><Relationship Id="rId7" Type="http://schemas.openxmlformats.org/officeDocument/2006/relationships/slide" Target="slide150.xml"/><Relationship Id="rId8" Type="http://schemas.openxmlformats.org/officeDocument/2006/relationships/slide" Target="slide14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34.xml"/><Relationship Id="rId7" Type="http://schemas.openxmlformats.org/officeDocument/2006/relationships/slide" Target="slide15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xml"/><Relationship Id="rId6" Type="http://schemas.openxmlformats.org/officeDocument/2006/relationships/notesSlide" Target="../notesSlides/notesSlide35.xml"/><Relationship Id="rId7" Type="http://schemas.openxmlformats.org/officeDocument/2006/relationships/slide" Target="slide125.xml"/><Relationship Id="rId8" Type="http://schemas.openxmlformats.org/officeDocument/2006/relationships/slide" Target="slide152.xml"/><Relationship Id="rId9" Type="http://schemas.openxmlformats.org/officeDocument/2006/relationships/slide" Target="slide153.xml"/><Relationship Id="rId10" Type="http://schemas.openxmlformats.org/officeDocument/2006/relationships/slide" Target="slide154.xml"/><Relationship Id="rId11" Type="http://schemas.openxmlformats.org/officeDocument/2006/relationships/slide" Target="slide15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6.xml"/><Relationship Id="rId6" Type="http://schemas.openxmlformats.org/officeDocument/2006/relationships/slide" Target="slide157.xml"/><Relationship Id="rId7" Type="http://schemas.openxmlformats.org/officeDocument/2006/relationships/slide" Target="slide15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2.xml"/><Relationship Id="rId6" Type="http://schemas.openxmlformats.org/officeDocument/2006/relationships/notesSlide" Target="../notesSlides/notesSlide37.xml"/><Relationship Id="rId7" Type="http://schemas.openxmlformats.org/officeDocument/2006/relationships/slide" Target="slide165.xml"/><Relationship Id="rId8" Type="http://schemas.openxmlformats.org/officeDocument/2006/relationships/slide" Target="slide166.xml"/><Relationship Id="rId9" Type="http://schemas.openxmlformats.org/officeDocument/2006/relationships/slide" Target="slide167.xml"/><Relationship Id="rId10" Type="http://schemas.openxmlformats.org/officeDocument/2006/relationships/slide" Target="slide1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8.xml"/><Relationship Id="rId6" Type="http://schemas.openxmlformats.org/officeDocument/2006/relationships/slide" Target="slide1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9.xml"/><Relationship Id="rId6" Type="http://schemas.openxmlformats.org/officeDocument/2006/relationships/slide" Target="slide16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40.xml"/><Relationship Id="rId7" Type="http://schemas.openxmlformats.org/officeDocument/2006/relationships/slide" Target="slide17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41.xml"/><Relationship Id="rId7" Type="http://schemas.openxmlformats.org/officeDocument/2006/relationships/slide" Target="slide176.xml"/><Relationship Id="rId8" Type="http://schemas.openxmlformats.org/officeDocument/2006/relationships/slide" Target="slide177.xml"/><Relationship Id="rId9" Type="http://schemas.openxmlformats.org/officeDocument/2006/relationships/slide" Target="slide16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2.xml"/><Relationship Id="rId6" Type="http://schemas.openxmlformats.org/officeDocument/2006/relationships/slide" Target="slide178.xml"/><Relationship Id="rId7" Type="http://schemas.openxmlformats.org/officeDocument/2006/relationships/slide" Target="slide184.xml"/><Relationship Id="rId8" Type="http://schemas.openxmlformats.org/officeDocument/2006/relationships/slide" Target="slide186.xml"/><Relationship Id="rId9" Type="http://schemas.openxmlformats.org/officeDocument/2006/relationships/slide" Target="slide16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3.xml"/><Relationship Id="rId6" Type="http://schemas.openxmlformats.org/officeDocument/2006/relationships/slide" Target="slide1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7.xml"/><Relationship Id="rId6" Type="http://schemas.openxmlformats.org/officeDocument/2006/relationships/slide" Target="slide194.xml"/><Relationship Id="rId7" Type="http://schemas.openxmlformats.org/officeDocument/2006/relationships/slide" Target="slide195.xml"/><Relationship Id="rId8" Type="http://schemas.openxmlformats.org/officeDocument/2006/relationships/slide" Target="slide191.xml"/><Relationship Id="rId9" Type="http://schemas.openxmlformats.org/officeDocument/2006/relationships/slide" Target="slide178.xml"/><Relationship Id="rId10" Type="http://schemas.openxmlformats.org/officeDocument/2006/relationships/slide" Target="slide127.xml"/><Relationship Id="rId11" Type="http://schemas.openxmlformats.org/officeDocument/2006/relationships/slide" Target="slide1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48.xml"/><Relationship Id="rId7" Type="http://schemas.openxmlformats.org/officeDocument/2006/relationships/slide" Target="slide191.xml"/><Relationship Id="rId8" Type="http://schemas.openxmlformats.org/officeDocument/2006/relationships/slide" Target="slide178.xml"/><Relationship Id="rId9" Type="http://schemas.openxmlformats.org/officeDocument/2006/relationships/slide" Target="slide16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49.xml"/><Relationship Id="rId7" Type="http://schemas.openxmlformats.org/officeDocument/2006/relationships/slide" Target="slide19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0.xml"/><Relationship Id="rId6" Type="http://schemas.openxmlformats.org/officeDocument/2006/relationships/slide" Target="slide191.xml"/><Relationship Id="rId7" Type="http://schemas.openxmlformats.org/officeDocument/2006/relationships/slide" Target="slide19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3.xml"/><Relationship Id="rId6" Type="http://schemas.openxmlformats.org/officeDocument/2006/relationships/notesSlide" Target="../notesSlides/notesSlide51.xml"/><Relationship Id="rId7" Type="http://schemas.openxmlformats.org/officeDocument/2006/relationships/slide" Target="slide191.xml"/><Relationship Id="rId8" Type="http://schemas.openxmlformats.org/officeDocument/2006/relationships/slide" Target="slide19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52.xml"/><Relationship Id="rId7" Type="http://schemas.openxmlformats.org/officeDocument/2006/relationships/slide" Target="slide197.xml"/><Relationship Id="rId8" Type="http://schemas.openxmlformats.org/officeDocument/2006/relationships/slide" Target="slide198.xml"/><Relationship Id="rId9" Type="http://schemas.openxmlformats.org/officeDocument/2006/relationships/slide" Target="slide199.xml"/><Relationship Id="rId10" Type="http://schemas.openxmlformats.org/officeDocument/2006/relationships/slide" Target="slide200.xml"/><Relationship Id="rId11" Type="http://schemas.openxmlformats.org/officeDocument/2006/relationships/slide" Target="slide201.xml"/><Relationship Id="rId12" Type="http://schemas.openxmlformats.org/officeDocument/2006/relationships/slide" Target="slide202.xml"/><Relationship Id="rId13" Type="http://schemas.openxmlformats.org/officeDocument/2006/relationships/slide" Target="slide203.xml"/><Relationship Id="rId14" Type="http://schemas.openxmlformats.org/officeDocument/2006/relationships/slide" Target="slide146.xml"/><Relationship Id="rId15" Type="http://schemas.openxmlformats.org/officeDocument/2006/relationships/slide" Target="slide19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3.xml"/><Relationship Id="rId6" Type="http://schemas.openxmlformats.org/officeDocument/2006/relationships/slide" Target="slide197.xml"/><Relationship Id="rId7" Type="http://schemas.openxmlformats.org/officeDocument/2006/relationships/slide" Target="slide198.xml"/><Relationship Id="rId8" Type="http://schemas.openxmlformats.org/officeDocument/2006/relationships/slide" Target="slide199.xml"/><Relationship Id="rId9" Type="http://schemas.openxmlformats.org/officeDocument/2006/relationships/slide" Target="slide200.xml"/><Relationship Id="rId10" Type="http://schemas.openxmlformats.org/officeDocument/2006/relationships/slide" Target="slide201.xml"/><Relationship Id="rId11" Type="http://schemas.openxmlformats.org/officeDocument/2006/relationships/slide" Target="slide202.xml"/><Relationship Id="rId12" Type="http://schemas.openxmlformats.org/officeDocument/2006/relationships/slide" Target="slide20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55.xml"/><Relationship Id="rId7" Type="http://schemas.openxmlformats.org/officeDocument/2006/relationships/slide" Target="slide192.xml"/><Relationship Id="rId8" Type="http://schemas.openxmlformats.org/officeDocument/2006/relationships/slide" Target="slide178.xml"/><Relationship Id="rId9" Type="http://schemas.openxmlformats.org/officeDocument/2006/relationships/slide" Target="slide16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6.xml"/><Relationship Id="rId6" Type="http://schemas.openxmlformats.org/officeDocument/2006/relationships/slide" Target="slide192.xml"/><Relationship Id="rId7" Type="http://schemas.openxmlformats.org/officeDocument/2006/relationships/slide" Target="slide178.xml"/><Relationship Id="rId8" Type="http://schemas.openxmlformats.org/officeDocument/2006/relationships/slide" Target="slide16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7.xml"/><Relationship Id="rId6" Type="http://schemas.openxmlformats.org/officeDocument/2006/relationships/slide" Target="slide192.xml"/><Relationship Id="rId7" Type="http://schemas.openxmlformats.org/officeDocument/2006/relationships/slide" Target="slide179.xml"/><Relationship Id="rId8" Type="http://schemas.openxmlformats.org/officeDocument/2006/relationships/slide" Target="slide16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8.xml"/><Relationship Id="rId6" Type="http://schemas.openxmlformats.org/officeDocument/2006/relationships/slide" Target="slide193.xml"/><Relationship Id="rId7" Type="http://schemas.openxmlformats.org/officeDocument/2006/relationships/slide" Target="slide184.xml"/><Relationship Id="rId8" Type="http://schemas.openxmlformats.org/officeDocument/2006/relationships/slide" Target="slide17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9.xml"/><Relationship Id="rId6" Type="http://schemas.openxmlformats.org/officeDocument/2006/relationships/slide" Target="slide180.xml"/><Relationship Id="rId7" Type="http://schemas.openxmlformats.org/officeDocument/2006/relationships/slide" Target="slide19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4.xml"/><Relationship Id="rId6" Type="http://schemas.openxmlformats.org/officeDocument/2006/relationships/notesSlide" Target="../notesSlides/notesSlide60.xml"/><Relationship Id="rId7" Type="http://schemas.openxmlformats.org/officeDocument/2006/relationships/slide" Target="slide18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5.xml"/><Relationship Id="rId6" Type="http://schemas.openxmlformats.org/officeDocument/2006/relationships/notesSlide" Target="../notesSlides/notesSlide61.xml"/><Relationship Id="rId7" Type="http://schemas.openxmlformats.org/officeDocument/2006/relationships/slide" Target="slide18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62.xml"/><Relationship Id="rId7" Type="http://schemas.openxmlformats.org/officeDocument/2006/relationships/slide" Target="slide181.xml"/><Relationship Id="rId8" Type="http://schemas.openxmlformats.org/officeDocument/2006/relationships/slide" Target="slide1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3.xml"/><Relationship Id="rId6" Type="http://schemas.openxmlformats.org/officeDocument/2006/relationships/slide" Target="slide193.xml"/><Relationship Id="rId7" Type="http://schemas.openxmlformats.org/officeDocument/2006/relationships/slide" Target="slide181.xml"/><Relationship Id="rId8" Type="http://schemas.openxmlformats.org/officeDocument/2006/relationships/slide" Target="slide170.xml"/><Relationship Id="rId9" Type="http://schemas.openxmlformats.org/officeDocument/2006/relationships/slide" Target="slide18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4.xml"/><Relationship Id="rId6" Type="http://schemas.openxmlformats.org/officeDocument/2006/relationships/slide" Target="slide182.xml"/><Relationship Id="rId7" Type="http://schemas.openxmlformats.org/officeDocument/2006/relationships/slide" Target="slide18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65.xml"/><Relationship Id="rId7" Type="http://schemas.openxmlformats.org/officeDocument/2006/relationships/slide" Target="slide17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6.xml"/><Relationship Id="rId6" Type="http://schemas.openxmlformats.org/officeDocument/2006/relationships/slide" Target="slide17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6.xml"/><Relationship Id="rId6" Type="http://schemas.openxmlformats.org/officeDocument/2006/relationships/notesSlide" Target="../notesSlides/notesSlide67.xml"/><Relationship Id="rId7" Type="http://schemas.openxmlformats.org/officeDocument/2006/relationships/slide" Target="slide185.xml"/><Relationship Id="rId8" Type="http://schemas.openxmlformats.org/officeDocument/2006/relationships/slide" Target="slide17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7.xml"/><Relationship Id="rId6" Type="http://schemas.openxmlformats.org/officeDocument/2006/relationships/notesSlide" Target="../notesSlides/notesSlide68.xml"/><Relationship Id="rId7" Type="http://schemas.openxmlformats.org/officeDocument/2006/relationships/slide" Target="slide17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9.xml"/><Relationship Id="rId6" Type="http://schemas.openxmlformats.org/officeDocument/2006/relationships/slide" Target="slide17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8.xml"/><Relationship Id="rId6" Type="http://schemas.openxmlformats.org/officeDocument/2006/relationships/notesSlide" Target="../notesSlides/notesSlide70.xml"/><Relationship Id="rId7" Type="http://schemas.openxmlformats.org/officeDocument/2006/relationships/slide" Target="slide17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71.xml"/><Relationship Id="rId7" Type="http://schemas.openxmlformats.org/officeDocument/2006/relationships/slide" Target="slide172.xml"/><Relationship Id="rId8" Type="http://schemas.openxmlformats.org/officeDocument/2006/relationships/slide" Target="slide18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2.xml"/><Relationship Id="rId6" Type="http://schemas.openxmlformats.org/officeDocument/2006/relationships/slide" Target="slide182.xml"/><Relationship Id="rId7" Type="http://schemas.openxmlformats.org/officeDocument/2006/relationships/slide" Target="slide1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3.xml"/><Relationship Id="rId6" Type="http://schemas.openxmlformats.org/officeDocument/2006/relationships/slide" Target="slide182.xml"/><Relationship Id="rId7" Type="http://schemas.openxmlformats.org/officeDocument/2006/relationships/slide" Target="slide1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4.xml"/><Relationship Id="rId6" Type="http://schemas.openxmlformats.org/officeDocument/2006/relationships/slide" Target="slide183.xml"/><Relationship Id="rId7" Type="http://schemas.openxmlformats.org/officeDocument/2006/relationships/slide" Target="slide1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75.xml"/><Relationship Id="rId7" Type="http://schemas.openxmlformats.org/officeDocument/2006/relationships/slide" Target="slide185.xml"/><Relationship Id="rId8" Type="http://schemas.openxmlformats.org/officeDocument/2006/relationships/slide" Target="slide1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9.xml"/><Relationship Id="rId6" Type="http://schemas.openxmlformats.org/officeDocument/2006/relationships/slide" Target="slide15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notesSlide" Target="../notesSlides/notesSlide80.xml"/><Relationship Id="rId7" Type="http://schemas.openxmlformats.org/officeDocument/2006/relationships/slide" Target="slide157.xml"/><Relationship Id="rId8" Type="http://schemas.openxmlformats.org/officeDocument/2006/relationships/slide" Target="slide18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2.xml"/><Relationship Id="rId6" Type="http://schemas.openxmlformats.org/officeDocument/2006/relationships/slide" Target="slide158.xml"/><Relationship Id="rId7" Type="http://schemas.openxmlformats.org/officeDocument/2006/relationships/slide" Target="slide20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9.xml"/><Relationship Id="rId6" Type="http://schemas.openxmlformats.org/officeDocument/2006/relationships/notesSlide" Target="../notesSlides/notesSlide83.xml"/><Relationship Id="rId7" Type="http://schemas.openxmlformats.org/officeDocument/2006/relationships/slide" Target="slide15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4.xml"/><Relationship Id="rId6" Type="http://schemas.openxmlformats.org/officeDocument/2006/relationships/slide" Target="slide15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notesSlide" Target="../notesSlides/notesSlide85.xml"/><Relationship Id="rId7" Type="http://schemas.openxmlformats.org/officeDocument/2006/relationships/slide" Target="slide15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6.xml"/><Relationship Id="rId6" Type="http://schemas.openxmlformats.org/officeDocument/2006/relationships/slide" Target="slide15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8.xml"/><Relationship Id="rId6" Type="http://schemas.openxmlformats.org/officeDocument/2006/relationships/slide" Target="slide16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1.xml"/><Relationship Id="rId6" Type="http://schemas.openxmlformats.org/officeDocument/2006/relationships/notesSlide" Target="../notesSlides/notesSlide89.xml"/><Relationship Id="rId7" Type="http://schemas.openxmlformats.org/officeDocument/2006/relationships/slide" Target="slide16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notesSlide" Target="../notesSlides/notesSlide90.xml"/><Relationship Id="rId7" Type="http://schemas.openxmlformats.org/officeDocument/2006/relationships/slide" Target="slide16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1.xml"/><Relationship Id="rId6" Type="http://schemas.openxmlformats.org/officeDocument/2006/relationships/slide" Target="slide18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2.xml"/><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93.xml"/><Relationship Id="rId9" Type="http://schemas.openxmlformats.org/officeDocument/2006/relationships/slide" Target="slide161.xml"/><Relationship Id="rId10" Type="http://schemas.openxmlformats.org/officeDocument/2006/relationships/slide" Target="slide1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3.xml"/><Relationship Id="rId6" Type="http://schemas.openxmlformats.org/officeDocument/2006/relationships/notesSlide" Target="../notesSlides/notesSlide94.xml"/><Relationship Id="rId7" Type="http://schemas.openxmlformats.org/officeDocument/2006/relationships/slide" Target="slide161.xml"/><Relationship Id="rId8" Type="http://schemas.openxmlformats.org/officeDocument/2006/relationships/slide" Target="slide204.xml"/><Relationship Id="rId9" Type="http://schemas.openxmlformats.org/officeDocument/2006/relationships/slide" Target="slide18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6.xml"/><Relationship Id="rId6" Type="http://schemas.openxmlformats.org/officeDocument/2006/relationships/slide" Target="slide161.xml"/><Relationship Id="rId7" Type="http://schemas.openxmlformats.org/officeDocument/2006/relationships/slide" Target="slide1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7.xml"/><Relationship Id="rId6" Type="http://schemas.openxmlformats.org/officeDocument/2006/relationships/slide" Target="slide162.xml"/><Relationship Id="rId7" Type="http://schemas.openxmlformats.org/officeDocument/2006/relationships/slide" Target="slide1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99.xml"/><Relationship Id="rId7" Type="http://schemas.openxmlformats.org/officeDocument/2006/relationships/slide" Target="slide162.xml"/><Relationship Id="rId8" Type="http://schemas.openxmlformats.org/officeDocument/2006/relationships/slide" Target="slide18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0.xml"/><Relationship Id="rId6" Type="http://schemas.openxmlformats.org/officeDocument/2006/relationships/slide" Target="slide162.xml"/><Relationship Id="rId7" Type="http://schemas.openxmlformats.org/officeDocument/2006/relationships/slide" Target="slide18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notesSlide" Target="../notesSlides/notesSlide101.xml"/><Relationship Id="rId7" Type="http://schemas.openxmlformats.org/officeDocument/2006/relationships/slide" Target="slide163.xml"/><Relationship Id="rId8" Type="http://schemas.openxmlformats.org/officeDocument/2006/relationships/slide" Target="slide189.xml"/><Relationship Id="rId9" Type="http://schemas.openxmlformats.org/officeDocument/2006/relationships/slide" Target="slide20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3.png"/><Relationship Id="rId6" Type="http://schemas.openxmlformats.org/officeDocument/2006/relationships/notesSlide" Target="../notesSlides/notesSlide102.xml"/><Relationship Id="rId7" Type="http://schemas.openxmlformats.org/officeDocument/2006/relationships/slide" Target="slide163.xml"/><Relationship Id="rId8" Type="http://schemas.openxmlformats.org/officeDocument/2006/relationships/slide" Target="slide18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notesSlide" Target="../notesSlides/notesSlide103.xml"/><Relationship Id="rId7" Type="http://schemas.openxmlformats.org/officeDocument/2006/relationships/slide" Target="slide20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4.xml"/><Relationship Id="rId6" Type="http://schemas.openxmlformats.org/officeDocument/2006/relationships/slide" Target="slide206.xml"/><Relationship Id="rId7" Type="http://schemas.openxmlformats.org/officeDocument/2006/relationships/slide" Target="slide20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5.xml"/><Relationship Id="rId6" Type="http://schemas.openxmlformats.org/officeDocument/2006/relationships/slide" Target="slide1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6.xml"/><Relationship Id="rId6" Type="http://schemas.openxmlformats.org/officeDocument/2006/relationships/slide" Target="slide145.xml"/><Relationship Id="rId7" Type="http://schemas.openxmlformats.org/officeDocument/2006/relationships/slide" Target="slide163.xml"/><Relationship Id="rId8" Type="http://schemas.openxmlformats.org/officeDocument/2006/relationships/slide" Target="slide173.xml"/><Relationship Id="rId9" Type="http://schemas.openxmlformats.org/officeDocument/2006/relationships/slide" Target="slide19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7.xml"/><Relationship Id="rId6" Type="http://schemas.openxmlformats.org/officeDocument/2006/relationships/slide" Target="slide183.xml"/><Relationship Id="rId7" Type="http://schemas.openxmlformats.org/officeDocument/2006/relationships/slide" Target="slide190.xml"/><Relationship Id="rId8" Type="http://schemas.openxmlformats.org/officeDocument/2006/relationships/slide" Target="slide173.xml"/><Relationship Id="rId9" Type="http://schemas.openxmlformats.org/officeDocument/2006/relationships/slide" Target="slide164.xml"/><Relationship Id="rId10" Type="http://schemas.openxmlformats.org/officeDocument/2006/relationships/slide" Target="slide2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8.xml"/><Relationship Id="rId6" Type="http://schemas.openxmlformats.org/officeDocument/2006/relationships/slide" Target="slide128.xml"/><Relationship Id="rId7" Type="http://schemas.openxmlformats.org/officeDocument/2006/relationships/slide" Target="slide17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9.xml"/><Relationship Id="rId6" Type="http://schemas.openxmlformats.org/officeDocument/2006/relationships/slide" Target="slide202.xml"/><Relationship Id="rId7" Type="http://schemas.openxmlformats.org/officeDocument/2006/relationships/slide" Target="slide16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documents.banquemondiale.org/fr/publication/documents-reports/documentdetail/865381468329937627" TargetMode="External"/><Relationship Id="rId6" Type="http://schemas.openxmlformats.org/officeDocument/2006/relationships/hyperlink" Target="https://www.worldbank.org/en/news/press-release/2009/12/30/world-bank-vietnam-sign-500m-loan-reform-vietnams-public-investments" TargetMode="External"/><Relationship Id="rId7" Type="http://schemas.openxmlformats.org/officeDocument/2006/relationships/hyperlink" Target="https://documents1.worldbank.org/curated/en/395041558317667311/pdf/Vietnam-Performance-and-Learning-Review-of-the-Country-Partnership-Framework-for-the-Period-FY19-FY22.pdf" TargetMode="External"/><Relationship Id="rId8" Type="http://schemas.openxmlformats.org/officeDocument/2006/relationships/hyperlink" Target="https://vietnamnews.vn/society/1784609/viet-nam-classified-as-upper-middle-income-country-in-new-world-bank-evaluations.html" TargetMode="External"/><Relationship Id="rId9" Type="http://schemas.openxmlformats.org/officeDocument/2006/relationships/hyperlink" Target="https://www.worldbank.org/en/news/press-release/2024/01/12/world-bank-approves-project-to-improve-living-environment-for-over-half-a-million-people-in-southern-vietnam" TargetMode="External"/><Relationship Id="rId10" Type="http://schemas.openxmlformats.org/officeDocument/2006/relationships/hyperlink" Target="https://www.worldbank.org/en/news/press-release/2024/06/21/new-world-bank-program-boosts-sustainable-transport-infrastructure-for-vital-viet-nam-waterways" TargetMode="External"/><Relationship Id="rId11" Type="http://schemas.openxmlformats.org/officeDocument/2006/relationships/hyperlink" Target="https://thedocs.worldbank.org/en/doc/4f8e88be21bdf2e7dddfae2cd6e3e30b-0040012026/original/IBRD-Financial-Statements-March-2026.pdf" TargetMode="External"/><Relationship Id="rId12" Type="http://schemas.openxmlformats.org/officeDocument/2006/relationships/hyperlink" Target="https://timeline.worldbank.org" TargetMode="External"/><Relationship Id="rId13" Type="http://schemas.openxmlformats.org/officeDocument/2006/relationships/notesSlide" Target="../notesSlides/notesSlide115.xml"/><Relationship Id="rId14" Type="http://schemas.openxmlformats.org/officeDocument/2006/relationships/slide" Target="slide124.xml"/><Relationship Id="rId15" Type="http://schemas.openxmlformats.org/officeDocument/2006/relationships/slide" Target="slide125.xml"/><Relationship Id="rId16" Type="http://schemas.openxmlformats.org/officeDocument/2006/relationships/slide" Target="slide127.xml"/><Relationship Id="rId17" Type="http://schemas.openxmlformats.org/officeDocument/2006/relationships/slide" Target="slide128.xml"/><Relationship Id="rId18" Type="http://schemas.openxmlformats.org/officeDocument/2006/relationships/slide" Target="slide129.xml"/><Relationship Id="rId19" Type="http://schemas.openxmlformats.org/officeDocument/2006/relationships/slide" Target="slide130.xml"/><Relationship Id="rId20" Type="http://schemas.openxmlformats.org/officeDocument/2006/relationships/slide" Target="slide131.xml"/><Relationship Id="rId21" Type="http://schemas.openxmlformats.org/officeDocument/2006/relationships/slide" Target="slide13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worldbank.org/en/archive/history/exhibits/Digitized-Records-World-Bank-First-Loan" TargetMode="External"/><Relationship Id="rId6" Type="http://schemas.openxmlformats.org/officeDocument/2006/relationships/hyperlink" Target="https://www.worldbank.org/en/about/people/a/ajay-banga" TargetMode="External"/><Relationship Id="rId7" Type="http://schemas.openxmlformats.org/officeDocument/2006/relationships/hyperlink" Target="https://financesone.worldbank.org/countries/Vietnam" TargetMode="External"/><Relationship Id="rId8" Type="http://schemas.openxmlformats.org/officeDocument/2006/relationships/hyperlink" Target="https://www.worldbank.org/en/news/press-release/2018/04/21/world-bank-group-shareholders-endorse-transformative-capital-package" TargetMode="External"/><Relationship Id="rId9" Type="http://schemas.openxmlformats.org/officeDocument/2006/relationships/hyperlink" Target="https://thedocs.worldbank.org/en/doc/251541b562ff6b17f214752061762b85-0340022025/original/IBRD-Debt-Products-Brief-v3.pdf" TargetMode="External"/><Relationship Id="rId10" Type="http://schemas.openxmlformats.org/officeDocument/2006/relationships/hyperlink" Target="https://ec.europa.eu/regional_policy/sources/policy/how/future-cohesion-policy/WorldBank_230914.pdf" TargetMode="External"/><Relationship Id="rId11" Type="http://schemas.openxmlformats.org/officeDocument/2006/relationships/hyperlink" Target="https://www.cgdev.org/publication/program-results-first-35-operations-working-paper-430" TargetMode="External"/><Relationship Id="rId12" Type="http://schemas.openxmlformats.org/officeDocument/2006/relationships/hyperlink" Target="https://projects.worldbank.org/en/about/unit/treasury/ibrd-financial-products/ibrd-flexible-loan" TargetMode="External"/><Relationship Id="rId13" Type="http://schemas.openxmlformats.org/officeDocument/2006/relationships/hyperlink" Target="https://thedocs.worldbank.org/en/doc/494451541196179855-0340022018/original/productnoteIFLpricingbasicsOct2020.pdf" TargetMode="External"/><Relationship Id="rId14" Type="http://schemas.openxmlformats.org/officeDocument/2006/relationships/notesSlide" Target="../notesSlides/notesSlide116.xml"/><Relationship Id="rId15" Type="http://schemas.openxmlformats.org/officeDocument/2006/relationships/slide" Target="slide133.xml"/><Relationship Id="rId16" Type="http://schemas.openxmlformats.org/officeDocument/2006/relationships/slide" Target="slide134.xml"/><Relationship Id="rId17" Type="http://schemas.openxmlformats.org/officeDocument/2006/relationships/slide" Target="slide135.xml"/><Relationship Id="rId18" Type="http://schemas.openxmlformats.org/officeDocument/2006/relationships/slide" Target="slide136.xml"/><Relationship Id="rId19" Type="http://schemas.openxmlformats.org/officeDocument/2006/relationships/slide" Target="slide137.xml"/><Relationship Id="rId20" Type="http://schemas.openxmlformats.org/officeDocument/2006/relationships/slide" Target="slide138.xml"/><Relationship Id="rId21" Type="http://schemas.openxmlformats.org/officeDocument/2006/relationships/slide" Target="slide139.xml"/><Relationship Id="rId22" Type="http://schemas.openxmlformats.org/officeDocument/2006/relationships/slide" Target="slide140.xml"/><Relationship Id="rId23" Type="http://schemas.openxmlformats.org/officeDocument/2006/relationships/slide" Target="slide14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worldbank.org/en/news/press-release/2014/02/11/world-bank-board-of-executive-directors-announces-change-in-ibrd-loan-terms" TargetMode="External"/><Relationship Id="rId6" Type="http://schemas.openxmlformats.org/officeDocument/2006/relationships/hyperlink" Target="https://thedocs.worldbank.org/en/doc/5e394eaa9f7616b3a5518bd2f4bd9774-0040012025/original/IBRD-Financial-Statements-December-2025.pdf" TargetMode="External"/><Relationship Id="rId7" Type="http://schemas.openxmlformats.org/officeDocument/2006/relationships/hyperlink" Target="https://projects.worldbank.org/en/about/unit/treasury/ibrd-financial-products/lending-rates-and-fees" TargetMode="External"/><Relationship Id="rId8" Type="http://schemas.openxmlformats.org/officeDocument/2006/relationships/hyperlink" Target="https://www.worldbank.org/en/news/loans-credits/2014/08/08/vietnam-transmission-efficiency-project" TargetMode="External"/><Relationship Id="rId9" Type="http://schemas.openxmlformats.org/officeDocument/2006/relationships/hyperlink" Target="https://www.worldbank.org/esf" TargetMode="External"/><Relationship Id="rId10" Type="http://schemas.openxmlformats.org/officeDocument/2006/relationships/hyperlink" Target="https://www.worldbank.org/en/projects-operations/environmental-and-social-policies" TargetMode="External"/><Relationship Id="rId11" Type="http://schemas.openxmlformats.org/officeDocument/2006/relationships/hyperlink" Target="https://www.worldbank.org/en/about/annual-report-2020/strengthening-the-organization" TargetMode="External"/><Relationship Id="rId12" Type="http://schemas.openxmlformats.org/officeDocument/2006/relationships/hyperlink" Target="https://projects.worldbank.org/en/projects-operations/products-and-services/brief/projectcycle" TargetMode="External"/><Relationship Id="rId13" Type="http://schemas.openxmlformats.org/officeDocument/2006/relationships/hyperlink" Target="https://www.eximb.com/upload/app_links/1242.pdf" TargetMode="External"/><Relationship Id="rId14" Type="http://schemas.openxmlformats.org/officeDocument/2006/relationships/hyperlink" Target="https://documents1.worldbank.org/curated/en/123641487793335838/text/ITK171540-201701221452.txt" TargetMode="External"/><Relationship Id="rId15" Type="http://schemas.openxmlformats.org/officeDocument/2006/relationships/hyperlink" Target="https://www.worldbank.org/en/news/loans-credits/2011/05/24/vietnam-second-public-investment-reform-development-policy-operation" TargetMode="External"/><Relationship Id="rId16" Type="http://schemas.openxmlformats.org/officeDocument/2006/relationships/notesSlide" Target="../notesSlides/notesSlide117.xml"/><Relationship Id="rId17" Type="http://schemas.openxmlformats.org/officeDocument/2006/relationships/slide" Target="slide142.xml"/><Relationship Id="rId18" Type="http://schemas.openxmlformats.org/officeDocument/2006/relationships/slide" Target="slide143.xml"/><Relationship Id="rId19" Type="http://schemas.openxmlformats.org/officeDocument/2006/relationships/slide" Target="slide144.xml"/><Relationship Id="rId20" Type="http://schemas.openxmlformats.org/officeDocument/2006/relationships/slide" Target="slide145.xml"/><Relationship Id="rId21" Type="http://schemas.openxmlformats.org/officeDocument/2006/relationships/slide" Target="slide146.xml"/><Relationship Id="rId22" Type="http://schemas.openxmlformats.org/officeDocument/2006/relationships/slide" Target="slide147.xml"/><Relationship Id="rId23" Type="http://schemas.openxmlformats.org/officeDocument/2006/relationships/slide" Target="slide148.xml"/><Relationship Id="rId24" Type="http://schemas.openxmlformats.org/officeDocument/2006/relationships/slide" Target="slide149.xml"/><Relationship Id="rId25" Type="http://schemas.openxmlformats.org/officeDocument/2006/relationships/slide" Target="slide150.xml"/><Relationship Id="rId26" Type="http://schemas.openxmlformats.org/officeDocument/2006/relationships/slide" Target="slide151.xml"/><Relationship Id="rId27" Type="http://schemas.openxmlformats.org/officeDocument/2006/relationships/slide" Target="slide15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worldbank.org/en/news/press-release/2011/05/24/world-bank-supports-policy-reform-improve-efficiency-vietnams-public-investment" TargetMode="External"/><Relationship Id="rId6" Type="http://schemas.openxmlformats.org/officeDocument/2006/relationships/hyperlink" Target="https://dtinews.dantri.com.vn/print/20110526135305000.htm" TargetMode="External"/><Relationship Id="rId7" Type="http://schemas.openxmlformats.org/officeDocument/2006/relationships/hyperlink" Target="https://www.worldbank.org/en/news/loans-credits/2010/04/06/vietnam-first-power-sector-reform-development-policy-operation" TargetMode="External"/><Relationship Id="rId8" Type="http://schemas.openxmlformats.org/officeDocument/2006/relationships/hyperlink" Target="https://ieg.worldbankgroup.org/blog/paying-results-does-results-based-lending-work" TargetMode="External"/><Relationship Id="rId9" Type="http://schemas.openxmlformats.org/officeDocument/2006/relationships/hyperlink" Target="https://projects.worldbank.org/en/projects-operations/project-detail/P156143" TargetMode="External"/><Relationship Id="rId10" Type="http://schemas.openxmlformats.org/officeDocument/2006/relationships/hyperlink" Target="https://www.worldbank.org/asa" TargetMode="External"/><Relationship Id="rId11" Type="http://schemas.openxmlformats.org/officeDocument/2006/relationships/hyperlink" Target="https://www.adb.org/sites/default/files/linked-documents/Linked%20Document%20A%20-%20Comparison%20of%20TA%20provided%20by%20MDBs_20241029.pdf" TargetMode="External"/><Relationship Id="rId12" Type="http://schemas.openxmlformats.org/officeDocument/2006/relationships/hyperlink" Target="https://worldbank.org/en/country/thailand/brief/reimbursable-advisory-services-in-southeast-asia" TargetMode="External"/><Relationship Id="rId13" Type="http://schemas.openxmlformats.org/officeDocument/2006/relationships/hyperlink" Target="https://documents.worldbank.org/en/publication/documents-reports/documentdetail/099026109262383942" TargetMode="External"/><Relationship Id="rId14" Type="http://schemas.openxmlformats.org/officeDocument/2006/relationships/notesSlide" Target="../notesSlides/notesSlide118.xml"/><Relationship Id="rId15" Type="http://schemas.openxmlformats.org/officeDocument/2006/relationships/slide" Target="slide153.xml"/><Relationship Id="rId16" Type="http://schemas.openxmlformats.org/officeDocument/2006/relationships/slide" Target="slide154.xml"/><Relationship Id="rId17" Type="http://schemas.openxmlformats.org/officeDocument/2006/relationships/slide" Target="slide155.xml"/><Relationship Id="rId18" Type="http://schemas.openxmlformats.org/officeDocument/2006/relationships/slide" Target="slide156.xml"/><Relationship Id="rId19" Type="http://schemas.openxmlformats.org/officeDocument/2006/relationships/slide" Target="slide157.xml"/><Relationship Id="rId20" Type="http://schemas.openxmlformats.org/officeDocument/2006/relationships/slide" Target="slide165.xml"/><Relationship Id="rId21" Type="http://schemas.openxmlformats.org/officeDocument/2006/relationships/slide" Target="slide166.xml"/><Relationship Id="rId22" Type="http://schemas.openxmlformats.org/officeDocument/2006/relationships/slide" Target="slide167.xml"/><Relationship Id="rId23" Type="http://schemas.openxmlformats.org/officeDocument/2006/relationships/slide" Target="slide16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worldbank.org/en/olc/course/48351" TargetMode="External"/><Relationship Id="rId6" Type="http://schemas.openxmlformats.org/officeDocument/2006/relationships/hyperlink" Target="https://www.worldbank.org/en/news/feature/2015/03/23/a-new-online-course-to-build-procurement-capacity" TargetMode="External"/><Relationship Id="rId7" Type="http://schemas.openxmlformats.org/officeDocument/2006/relationships/hyperlink" Target="https://www.worldbank.org/en/olc/course/37108" TargetMode="External"/><Relationship Id="rId8" Type="http://schemas.openxmlformats.org/officeDocument/2006/relationships/hyperlink" Target="https://projects.worldbank.org/en/projects-operations/project-detail/P131558" TargetMode="External"/><Relationship Id="rId9" Type="http://schemas.openxmlformats.org/officeDocument/2006/relationships/hyperlink" Target="https://ieg.worldbankgroup.org" TargetMode="External"/><Relationship Id="rId10" Type="http://schemas.openxmlformats.org/officeDocument/2006/relationships/hyperlink" Target="https://projects.worldbank.org/en/projects-operations/project-detail/P156143" TargetMode="External"/><Relationship Id="rId11" Type="http://schemas.openxmlformats.org/officeDocument/2006/relationships/hyperlink" Target="https://documents1.worldbank.org/curated/en/846181468133547558/pdf/669280WP00PUBL0859B0WBdonghanh0Eng2.pdf" TargetMode="External"/><Relationship Id="rId12" Type="http://schemas.openxmlformats.org/officeDocument/2006/relationships/hyperlink" Target="https://www.worldbank.org/en/news/speech/2013/10/17/celebration-of-20-years-of-ODA-in-vietnam.print" TargetMode="External"/><Relationship Id="rId13" Type="http://schemas.openxmlformats.org/officeDocument/2006/relationships/notesSlide" Target="../notesSlides/notesSlide119.xml"/><Relationship Id="rId14" Type="http://schemas.openxmlformats.org/officeDocument/2006/relationships/slide" Target="slide175.xml"/><Relationship Id="rId15" Type="http://schemas.openxmlformats.org/officeDocument/2006/relationships/slide" Target="slide176.xml"/><Relationship Id="rId16" Type="http://schemas.openxmlformats.org/officeDocument/2006/relationships/slide" Target="slide177.xml"/><Relationship Id="rId17" Type="http://schemas.openxmlformats.org/officeDocument/2006/relationships/slide" Target="slide178.xml"/><Relationship Id="rId18" Type="http://schemas.openxmlformats.org/officeDocument/2006/relationships/slide" Target="slide184.xml"/><Relationship Id="rId19" Type="http://schemas.openxmlformats.org/officeDocument/2006/relationships/slide" Target="slide186.xml"/><Relationship Id="rId20" Type="http://schemas.openxmlformats.org/officeDocument/2006/relationships/slide" Target="slide191.xml"/><Relationship Id="rId21" Type="http://schemas.openxmlformats.org/officeDocument/2006/relationships/slide" Target="slide194.xml"/><Relationship Id="rId22" Type="http://schemas.openxmlformats.org/officeDocument/2006/relationships/slide" Target="slide19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projects.worldbank.org/en/projects-operations/project-detail/P156849" TargetMode="External"/><Relationship Id="rId6" Type="http://schemas.openxmlformats.org/officeDocument/2006/relationships/hyperlink" Target="https://projects.worldbank.org/en/projects-operations/project-detail/P156143" TargetMode="External"/><Relationship Id="rId7" Type="http://schemas.openxmlformats.org/officeDocument/2006/relationships/hyperlink" Target="https://www.inspectionpanel.org/sites/default/files/cases/documents/166-Viet%20Nam-CCSEP-Inspection%20Panel%20Report%20and%20Recommendation-22%20January%202024.pdf" TargetMode="External"/><Relationship Id="rId8" Type="http://schemas.openxmlformats.org/officeDocument/2006/relationships/hyperlink" Target="https://accountability.worldbank.org/en/news/2025/conclusion-of-drs-in-vietnam" TargetMode="External"/><Relationship Id="rId9" Type="http://schemas.openxmlformats.org/officeDocument/2006/relationships/notesSlide" Target="../notesSlides/notesSlide120.xml"/><Relationship Id="rId10" Type="http://schemas.openxmlformats.org/officeDocument/2006/relationships/slide" Target="slide196.xml"/><Relationship Id="rId11" Type="http://schemas.openxmlformats.org/officeDocument/2006/relationships/slide" Target="slide197.xml"/><Relationship Id="rId12" Type="http://schemas.openxmlformats.org/officeDocument/2006/relationships/slide" Target="slide198.xml"/><Relationship Id="rId13" Type="http://schemas.openxmlformats.org/officeDocument/2006/relationships/slide" Target="slide199.xml"/><Relationship Id="rId14" Type="http://schemas.openxmlformats.org/officeDocument/2006/relationships/slide" Target="slide200.xml"/><Relationship Id="rId15" Type="http://schemas.openxmlformats.org/officeDocument/2006/relationships/slide" Target="slide201.xml"/><Relationship Id="rId16" Type="http://schemas.openxmlformats.org/officeDocument/2006/relationships/slide" Target="slide202.xml"/><Relationship Id="rId17" Type="http://schemas.openxmlformats.org/officeDocument/2006/relationships/slide" Target="slide203.xml"/><Relationship Id="rId18" Type="http://schemas.openxmlformats.org/officeDocument/2006/relationships/slide" Target="slide204.xml"/><Relationship Id="rId19" Type="http://schemas.openxmlformats.org/officeDocument/2006/relationships/slide" Target="slide205.xml"/><Relationship Id="rId20" Type="http://schemas.openxmlformats.org/officeDocument/2006/relationships/slide" Target="slide206.xml"/><Relationship Id="rId21" Type="http://schemas.openxmlformats.org/officeDocument/2006/relationships/slide" Target="slide20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1.xml"/><Relationship Id="rId6" Type="http://schemas.openxmlformats.org/officeDocument/2006/relationships/slide" Target="slide124.xml"/><Relationship Id="rId7" Type="http://schemas.openxmlformats.org/officeDocument/2006/relationships/slide" Target="slide125.xml"/><Relationship Id="rId8" Type="http://schemas.openxmlformats.org/officeDocument/2006/relationships/slide" Target="slide127.xml"/><Relationship Id="rId9" Type="http://schemas.openxmlformats.org/officeDocument/2006/relationships/slide" Target="slide128.xml"/><Relationship Id="rId10" Type="http://schemas.openxmlformats.org/officeDocument/2006/relationships/slide" Target="slide129.xml"/><Relationship Id="rId11" Type="http://schemas.openxmlformats.org/officeDocument/2006/relationships/slide" Target="slide130.xml"/><Relationship Id="rId12" Type="http://schemas.openxmlformats.org/officeDocument/2006/relationships/slide" Target="slide131.xml"/><Relationship Id="rId13" Type="http://schemas.openxmlformats.org/officeDocument/2006/relationships/slide" Target="slide132.xml"/><Relationship Id="rId14" Type="http://schemas.openxmlformats.org/officeDocument/2006/relationships/slide" Target="slide133.xml"/><Relationship Id="rId15" Type="http://schemas.openxmlformats.org/officeDocument/2006/relationships/slide" Target="slide134.xml"/><Relationship Id="rId16" Type="http://schemas.openxmlformats.org/officeDocument/2006/relationships/slide" Target="slide135.xml"/><Relationship Id="rId17" Type="http://schemas.openxmlformats.org/officeDocument/2006/relationships/slide" Target="slide136.xml"/><Relationship Id="rId18" Type="http://schemas.openxmlformats.org/officeDocument/2006/relationships/slide" Target="slide137.xml"/><Relationship Id="rId19" Type="http://schemas.openxmlformats.org/officeDocument/2006/relationships/slide" Target="slide138.xml"/><Relationship Id="rId20" Type="http://schemas.openxmlformats.org/officeDocument/2006/relationships/slide" Target="slide139.xml"/><Relationship Id="rId21" Type="http://schemas.openxmlformats.org/officeDocument/2006/relationships/slide" Target="slide140.xml"/><Relationship Id="rId22" Type="http://schemas.openxmlformats.org/officeDocument/2006/relationships/slide" Target="slide141.xml"/><Relationship Id="rId23" Type="http://schemas.openxmlformats.org/officeDocument/2006/relationships/slide" Target="slide142.xml"/><Relationship Id="rId24" Type="http://schemas.openxmlformats.org/officeDocument/2006/relationships/slide" Target="slide143.xml"/><Relationship Id="rId25" Type="http://schemas.openxmlformats.org/officeDocument/2006/relationships/slide" Target="slide144.xml"/><Relationship Id="rId26" Type="http://schemas.openxmlformats.org/officeDocument/2006/relationships/slide" Target="slide145.xml"/><Relationship Id="rId27" Type="http://schemas.openxmlformats.org/officeDocument/2006/relationships/slide" Target="slide146.xml"/><Relationship Id="rId28" Type="http://schemas.openxmlformats.org/officeDocument/2006/relationships/slide" Target="slide147.xml"/><Relationship Id="rId29" Type="http://schemas.openxmlformats.org/officeDocument/2006/relationships/slide" Target="slide148.xml"/><Relationship Id="rId30" Type="http://schemas.openxmlformats.org/officeDocument/2006/relationships/slide" Target="slide149.xml"/><Relationship Id="rId31" Type="http://schemas.openxmlformats.org/officeDocument/2006/relationships/slide" Target="slide150.xml"/><Relationship Id="rId32" Type="http://schemas.openxmlformats.org/officeDocument/2006/relationships/slide" Target="slide151.xml"/><Relationship Id="rId33" Type="http://schemas.openxmlformats.org/officeDocument/2006/relationships/slide" Target="slide152.xml"/><Relationship Id="rId34" Type="http://schemas.openxmlformats.org/officeDocument/2006/relationships/slide" Target="slide153.xml"/><Relationship Id="rId35" Type="http://schemas.openxmlformats.org/officeDocument/2006/relationships/slide" Target="slide154.xml"/><Relationship Id="rId36" Type="http://schemas.openxmlformats.org/officeDocument/2006/relationships/slide" Target="slide155.xml"/><Relationship Id="rId37" Type="http://schemas.openxmlformats.org/officeDocument/2006/relationships/slide" Target="slide156.xml"/><Relationship Id="rId38" Type="http://schemas.openxmlformats.org/officeDocument/2006/relationships/slide" Target="slide157.xml"/><Relationship Id="rId39" Type="http://schemas.openxmlformats.org/officeDocument/2006/relationships/slide" Target="slide165.xml"/><Relationship Id="rId40" Type="http://schemas.openxmlformats.org/officeDocument/2006/relationships/slide" Target="slide166.xml"/><Relationship Id="rId41" Type="http://schemas.openxmlformats.org/officeDocument/2006/relationships/slide" Target="slide167.xml"/><Relationship Id="rId42" Type="http://schemas.openxmlformats.org/officeDocument/2006/relationships/slide" Target="slide168.xml"/><Relationship Id="rId43" Type="http://schemas.openxmlformats.org/officeDocument/2006/relationships/slide" Target="slide175.xml"/><Relationship Id="rId44" Type="http://schemas.openxmlformats.org/officeDocument/2006/relationships/slide" Target="slide176.xml"/><Relationship Id="rId45" Type="http://schemas.openxmlformats.org/officeDocument/2006/relationships/slide" Target="slide177.xml"/><Relationship Id="rId46" Type="http://schemas.openxmlformats.org/officeDocument/2006/relationships/slide" Target="slide178.xml"/><Relationship Id="rId47" Type="http://schemas.openxmlformats.org/officeDocument/2006/relationships/slide" Target="slide184.xml"/><Relationship Id="rId48" Type="http://schemas.openxmlformats.org/officeDocument/2006/relationships/slide" Target="slide186.xml"/><Relationship Id="rId49" Type="http://schemas.openxmlformats.org/officeDocument/2006/relationships/slide" Target="slide191.xml"/><Relationship Id="rId50" Type="http://schemas.openxmlformats.org/officeDocument/2006/relationships/slide" Target="slide194.xml"/><Relationship Id="rId51" Type="http://schemas.openxmlformats.org/officeDocument/2006/relationships/slide" Target="slide195.xml"/><Relationship Id="rId52" Type="http://schemas.openxmlformats.org/officeDocument/2006/relationships/slide" Target="slide196.xml"/><Relationship Id="rId53" Type="http://schemas.openxmlformats.org/officeDocument/2006/relationships/slide" Target="slide197.xml"/><Relationship Id="rId54" Type="http://schemas.openxmlformats.org/officeDocument/2006/relationships/slide" Target="slide198.xml"/><Relationship Id="rId55" Type="http://schemas.openxmlformats.org/officeDocument/2006/relationships/slide" Target="slide199.xml"/><Relationship Id="rId56" Type="http://schemas.openxmlformats.org/officeDocument/2006/relationships/slide" Target="slide200.xml"/><Relationship Id="rId57" Type="http://schemas.openxmlformats.org/officeDocument/2006/relationships/slide" Target="slide201.xml"/><Relationship Id="rId58" Type="http://schemas.openxmlformats.org/officeDocument/2006/relationships/slide" Target="slide202.xml"/><Relationship Id="rId59" Type="http://schemas.openxmlformats.org/officeDocument/2006/relationships/slide" Target="slide203.xml"/><Relationship Id="rId60" Type="http://schemas.openxmlformats.org/officeDocument/2006/relationships/slide" Target="slide204.xml"/><Relationship Id="rId61" Type="http://schemas.openxmlformats.org/officeDocument/2006/relationships/slide" Target="slide205.xml"/><Relationship Id="rId62" Type="http://schemas.openxmlformats.org/officeDocument/2006/relationships/slide" Target="slide206.xml"/><Relationship Id="rId63" Type="http://schemas.openxmlformats.org/officeDocument/2006/relationships/slide" Target="slide20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banquemondiale.org/fr/publication/documents-reports/documentdetail/865381468329937627" TargetMode="External"/><Relationship Id="rId4" Type="http://schemas.openxmlformats.org/officeDocument/2006/relationships/notesSlide" Target="../notesSlides/notesSlide124.xml"/><Relationship Id="rId5" Type="http://schemas.openxmlformats.org/officeDocument/2006/relationships/slide" Target="slide5.xml"/><Relationship Id="rId6" Type="http://schemas.openxmlformats.org/officeDocument/2006/relationships/slide" Target="slide12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09/12/30/world-bank-vietnam-sign-500m-loan-reform-vietnams-public-investments" TargetMode="External"/><Relationship Id="rId4" Type="http://schemas.openxmlformats.org/officeDocument/2006/relationships/notesSlide" Target="../notesSlides/notesSlide125.xml"/><Relationship Id="rId5" Type="http://schemas.openxmlformats.org/officeDocument/2006/relationships/slide" Target="slide5.xml"/><Relationship Id="rId6" Type="http://schemas.openxmlformats.org/officeDocument/2006/relationships/slide" Target="slide20.xml"/><Relationship Id="rId7" Type="http://schemas.openxmlformats.org/officeDocument/2006/relationships/slide" Target="slide35.xml"/><Relationship Id="rId8" Type="http://schemas.openxmlformats.org/officeDocument/2006/relationships/slide" Target="slide37.xml"/><Relationship Id="rId9" Type="http://schemas.openxmlformats.org/officeDocument/2006/relationships/slide" Target="slide121.xml"/><Relationship Id="rId10" Type="http://schemas.openxmlformats.org/officeDocument/2006/relationships/slide" Target="slide12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09/12/30/world-bank-vietnam-sign-500m-loan-reform-vietnams-public-investments" TargetMode="External"/><Relationship Id="rId4" Type="http://schemas.openxmlformats.org/officeDocument/2006/relationships/notesSlide" Target="../notesSlides/notesSlide126.xml"/><Relationship Id="rId5" Type="http://schemas.openxmlformats.org/officeDocument/2006/relationships/slide" Target="slide43.xml"/><Relationship Id="rId6" Type="http://schemas.openxmlformats.org/officeDocument/2006/relationships/slide" Target="slide121.xml"/><Relationship Id="rId7" Type="http://schemas.openxmlformats.org/officeDocument/2006/relationships/slide" Target="slide12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1.worldbank.org/curated/en/395041558317667311/pdf/Vietnam-Performance-and-Learning-Review-of-the-Country-Partnership-Framework-for-the-Period-FY19-FY22.pdf" TargetMode="External"/><Relationship Id="rId4" Type="http://schemas.openxmlformats.org/officeDocument/2006/relationships/notesSlide" Target="../notesSlides/notesSlide127.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47.xml"/><Relationship Id="rId8" Type="http://schemas.openxmlformats.org/officeDocument/2006/relationships/slide" Target="slide12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vietnamnews.vn/society/1784609/viet-nam-classified-as-upper-middle-income-country-in-new-world-bank-evaluations.html" TargetMode="External"/><Relationship Id="rId4" Type="http://schemas.openxmlformats.org/officeDocument/2006/relationships/notesSlide" Target="../notesSlides/notesSlide128.xml"/><Relationship Id="rId5" Type="http://schemas.openxmlformats.org/officeDocument/2006/relationships/slide" Target="slide5.xml"/><Relationship Id="rId6" Type="http://schemas.openxmlformats.org/officeDocument/2006/relationships/slide" Target="slide47.xml"/><Relationship Id="rId7" Type="http://schemas.openxmlformats.org/officeDocument/2006/relationships/slide" Target="slide108.xml"/><Relationship Id="rId8" Type="http://schemas.openxmlformats.org/officeDocument/2006/relationships/slide" Target="slide12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24/01/12/world-bank-approves-project-to-improve-living-environment-for-over-half-a-million-people-in-southern-vietnam" TargetMode="External"/><Relationship Id="rId4" Type="http://schemas.openxmlformats.org/officeDocument/2006/relationships/notesSlide" Target="../notesSlides/notesSlide129.xml"/><Relationship Id="rId5" Type="http://schemas.openxmlformats.org/officeDocument/2006/relationships/slide" Target="slide12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24/06/21/new-world-bank-program-boosts-sustainable-transport-infrastructure-for-vital-viet-nam-waterways" TargetMode="External"/><Relationship Id="rId4" Type="http://schemas.openxmlformats.org/officeDocument/2006/relationships/notesSlide" Target="../notesSlides/notesSlide130.xml"/><Relationship Id="rId5" Type="http://schemas.openxmlformats.org/officeDocument/2006/relationships/slide" Target="slide12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thedocs.worldbank.org/en/doc/4f8e88be21bdf2e7dddfae2cd6e3e30b-0040012026/original/IBRD-Financial-Statements-March-2026.pdf" TargetMode="External"/><Relationship Id="rId4" Type="http://schemas.openxmlformats.org/officeDocument/2006/relationships/notesSlide" Target="../notesSlides/notesSlide131.xml"/><Relationship Id="rId5" Type="http://schemas.openxmlformats.org/officeDocument/2006/relationships/slide" Target="slide12.xml"/><Relationship Id="rId6" Type="http://schemas.openxmlformats.org/officeDocument/2006/relationships/slide" Target="slide13.xml"/><Relationship Id="rId7" Type="http://schemas.openxmlformats.org/officeDocument/2006/relationships/slide" Target="slide14.xml"/><Relationship Id="rId8" Type="http://schemas.openxmlformats.org/officeDocument/2006/relationships/slide" Target="slide12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timeline.worldbank.org" TargetMode="External"/><Relationship Id="rId4" Type="http://schemas.openxmlformats.org/officeDocument/2006/relationships/notesSlide" Target="../notesSlides/notesSlide13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6.xml"/><Relationship Id="rId8" Type="http://schemas.openxmlformats.org/officeDocument/2006/relationships/slide" Target="slide12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archive/history/exhibits/Digitized-Records-World-Bank-First-Loan" TargetMode="External"/><Relationship Id="rId4" Type="http://schemas.openxmlformats.org/officeDocument/2006/relationships/notesSlide" Target="../notesSlides/notesSlide133.xml"/><Relationship Id="rId5" Type="http://schemas.openxmlformats.org/officeDocument/2006/relationships/slide" Target="slide16.xml"/><Relationship Id="rId6" Type="http://schemas.openxmlformats.org/officeDocument/2006/relationships/slide" Target="slide12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about/people/a/ajay-banga" TargetMode="External"/><Relationship Id="rId4" Type="http://schemas.openxmlformats.org/officeDocument/2006/relationships/notesSlide" Target="../notesSlides/notesSlide134.xml"/><Relationship Id="rId5" Type="http://schemas.openxmlformats.org/officeDocument/2006/relationships/slide" Target="slide17.xml"/><Relationship Id="rId6" Type="http://schemas.openxmlformats.org/officeDocument/2006/relationships/slide" Target="slide12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financesone.worldbank.org/countries/Vietnam" TargetMode="External"/><Relationship Id="rId4" Type="http://schemas.openxmlformats.org/officeDocument/2006/relationships/notesSlide" Target="../notesSlides/notesSlide135.xml"/><Relationship Id="rId5" Type="http://schemas.openxmlformats.org/officeDocument/2006/relationships/slide" Target="slide18.xml"/><Relationship Id="rId6" Type="http://schemas.openxmlformats.org/officeDocument/2006/relationships/slide" Target="slide12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18/04/21/world-bank-group-shareholders-endorse-transformative-capital-package" TargetMode="External"/><Relationship Id="rId4" Type="http://schemas.openxmlformats.org/officeDocument/2006/relationships/notesSlide" Target="../notesSlides/notesSlide136.xml"/><Relationship Id="rId5" Type="http://schemas.openxmlformats.org/officeDocument/2006/relationships/slide" Target="slide19.xml"/><Relationship Id="rId6" Type="http://schemas.openxmlformats.org/officeDocument/2006/relationships/slide" Target="slide12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thedocs.worldbank.org/en/doc/251541b562ff6b17f214752061762b85-0340022025/original/IBRD-Debt-Products-Brief-v3.pdf" TargetMode="External"/><Relationship Id="rId4" Type="http://schemas.openxmlformats.org/officeDocument/2006/relationships/notesSlide" Target="../notesSlides/notesSlide137.xml"/><Relationship Id="rId5" Type="http://schemas.openxmlformats.org/officeDocument/2006/relationships/slide" Target="slide19.xml"/><Relationship Id="rId6" Type="http://schemas.openxmlformats.org/officeDocument/2006/relationships/slide" Target="slide12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ec.europa.eu/regional_policy/sources/policy/how/future-cohesion-policy/WorldBank_230914.pdf" TargetMode="External"/><Relationship Id="rId4" Type="http://schemas.openxmlformats.org/officeDocument/2006/relationships/notesSlide" Target="../notesSlides/notesSlide138.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12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cgdev.org/publication/program-results-first-35-operations-working-paper-430" TargetMode="External"/><Relationship Id="rId4" Type="http://schemas.openxmlformats.org/officeDocument/2006/relationships/notesSlide" Target="../notesSlides/notesSlide139.xml"/><Relationship Id="rId5" Type="http://schemas.openxmlformats.org/officeDocument/2006/relationships/slide" Target="slide20.xml"/><Relationship Id="rId6" Type="http://schemas.openxmlformats.org/officeDocument/2006/relationships/slide" Target="slide21.xml"/><Relationship Id="rId7" Type="http://schemas.openxmlformats.org/officeDocument/2006/relationships/slide" Target="slide12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about/unit/treasury/ibrd-financial-products/ibrd-flexible-loan" TargetMode="External"/><Relationship Id="rId4" Type="http://schemas.openxmlformats.org/officeDocument/2006/relationships/notesSlide" Target="../notesSlides/notesSlide140.xml"/><Relationship Id="rId5" Type="http://schemas.openxmlformats.org/officeDocument/2006/relationships/slide" Target="slide22.xml"/><Relationship Id="rId6" Type="http://schemas.openxmlformats.org/officeDocument/2006/relationships/slide" Target="slide24.xml"/><Relationship Id="rId7" Type="http://schemas.openxmlformats.org/officeDocument/2006/relationships/slide" Target="slide12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thedocs.worldbank.org/en/doc/494451541196179855-0340022018/original/productnoteIFLpricingbasicsOct2020.pdf" TargetMode="External"/><Relationship Id="rId4" Type="http://schemas.openxmlformats.org/officeDocument/2006/relationships/notesSlide" Target="../notesSlides/notesSlide141.xml"/><Relationship Id="rId5" Type="http://schemas.openxmlformats.org/officeDocument/2006/relationships/slide" Target="slide22.xml"/><Relationship Id="rId6" Type="http://schemas.openxmlformats.org/officeDocument/2006/relationships/slide" Target="slide24.xml"/><Relationship Id="rId7" Type="http://schemas.openxmlformats.org/officeDocument/2006/relationships/slide" Target="slide12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14/02/11/world-bank-board-of-executive-directors-announces-change-in-ibrd-loan-terms" TargetMode="External"/><Relationship Id="rId4" Type="http://schemas.openxmlformats.org/officeDocument/2006/relationships/notesSlide" Target="../notesSlides/notesSlide142.xml"/><Relationship Id="rId5" Type="http://schemas.openxmlformats.org/officeDocument/2006/relationships/slide" Target="slide23.xml"/><Relationship Id="rId6" Type="http://schemas.openxmlformats.org/officeDocument/2006/relationships/slide" Target="slide24.xml"/><Relationship Id="rId7" Type="http://schemas.openxmlformats.org/officeDocument/2006/relationships/slide" Target="slide12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thedocs.worldbank.org/en/doc/5e394eaa9f7616b3a5518bd2f4bd9774-0040012025/original/IBRD-Financial-Statements-December-2025.pdf" TargetMode="External"/><Relationship Id="rId4" Type="http://schemas.openxmlformats.org/officeDocument/2006/relationships/notesSlide" Target="../notesSlides/notesSlide143.xml"/><Relationship Id="rId5" Type="http://schemas.openxmlformats.org/officeDocument/2006/relationships/slide" Target="slide23.xml"/><Relationship Id="rId6" Type="http://schemas.openxmlformats.org/officeDocument/2006/relationships/slide" Target="slide24.xml"/><Relationship Id="rId7" Type="http://schemas.openxmlformats.org/officeDocument/2006/relationships/slide" Target="slide12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about/unit/treasury/ibrd-financial-products/lending-rates-and-fees" TargetMode="External"/><Relationship Id="rId4" Type="http://schemas.openxmlformats.org/officeDocument/2006/relationships/notesSlide" Target="../notesSlides/notesSlide144.xml"/><Relationship Id="rId5" Type="http://schemas.openxmlformats.org/officeDocument/2006/relationships/slide" Target="slide23.xml"/><Relationship Id="rId6" Type="http://schemas.openxmlformats.org/officeDocument/2006/relationships/slide" Target="slide24.xml"/><Relationship Id="rId7" Type="http://schemas.openxmlformats.org/officeDocument/2006/relationships/slide" Target="slide12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loans-credits/2014/08/08/vietnam-transmission-efficiency-project" TargetMode="External"/><Relationship Id="rId4" Type="http://schemas.openxmlformats.org/officeDocument/2006/relationships/notesSlide" Target="../notesSlides/notesSlide145.xml"/><Relationship Id="rId5" Type="http://schemas.openxmlformats.org/officeDocument/2006/relationships/slide" Target="slide23.xml"/><Relationship Id="rId6" Type="http://schemas.openxmlformats.org/officeDocument/2006/relationships/slide" Target="slide33.xml"/><Relationship Id="rId7" Type="http://schemas.openxmlformats.org/officeDocument/2006/relationships/slide" Target="slide106.xml"/><Relationship Id="rId8" Type="http://schemas.openxmlformats.org/officeDocument/2006/relationships/slide" Target="slide12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sf" TargetMode="External"/><Relationship Id="rId4" Type="http://schemas.openxmlformats.org/officeDocument/2006/relationships/notesSlide" Target="../notesSlides/notesSlide146.xml"/><Relationship Id="rId5" Type="http://schemas.openxmlformats.org/officeDocument/2006/relationships/slide" Target="slide25.xml"/><Relationship Id="rId6" Type="http://schemas.openxmlformats.org/officeDocument/2006/relationships/slide" Target="slide26.xml"/><Relationship Id="rId7" Type="http://schemas.openxmlformats.org/officeDocument/2006/relationships/slide" Target="slide52.xml"/><Relationship Id="rId8" Type="http://schemas.openxmlformats.org/officeDocument/2006/relationships/slide" Target="slide12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projects-operations/environmental-and-social-policies" TargetMode="External"/><Relationship Id="rId4" Type="http://schemas.openxmlformats.org/officeDocument/2006/relationships/notesSlide" Target="../notesSlides/notesSlide147.xml"/><Relationship Id="rId5" Type="http://schemas.openxmlformats.org/officeDocument/2006/relationships/slide" Target="slide25.xml"/><Relationship Id="rId6" Type="http://schemas.openxmlformats.org/officeDocument/2006/relationships/slide" Target="slide12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about/annual-report-2020/strengthening-the-organization" TargetMode="External"/><Relationship Id="rId4" Type="http://schemas.openxmlformats.org/officeDocument/2006/relationships/notesSlide" Target="../notesSlides/notesSlide148.xml"/><Relationship Id="rId5" Type="http://schemas.openxmlformats.org/officeDocument/2006/relationships/slide" Target="slide25.xml"/><Relationship Id="rId6" Type="http://schemas.openxmlformats.org/officeDocument/2006/relationships/slide" Target="slide12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ducts-and-services/brief/projectcycle" TargetMode="External"/><Relationship Id="rId4" Type="http://schemas.openxmlformats.org/officeDocument/2006/relationships/notesSlide" Target="../notesSlides/notesSlide149.xml"/><Relationship Id="rId5" Type="http://schemas.openxmlformats.org/officeDocument/2006/relationships/slide" Target="slide28.xml"/><Relationship Id="rId6" Type="http://schemas.openxmlformats.org/officeDocument/2006/relationships/slide" Target="slide29.xml"/><Relationship Id="rId7" Type="http://schemas.openxmlformats.org/officeDocument/2006/relationships/slide" Target="slide30.xml"/><Relationship Id="rId8" Type="http://schemas.openxmlformats.org/officeDocument/2006/relationships/slide" Target="slide38.xml"/><Relationship Id="rId9" Type="http://schemas.openxmlformats.org/officeDocument/2006/relationships/slide" Target="slide12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eximb.com/upload/app_links/1242.pdf" TargetMode="External"/><Relationship Id="rId4" Type="http://schemas.openxmlformats.org/officeDocument/2006/relationships/notesSlide" Target="../notesSlides/notesSlide150.xml"/><Relationship Id="rId5" Type="http://schemas.openxmlformats.org/officeDocument/2006/relationships/slide" Target="slide32.xml"/><Relationship Id="rId6" Type="http://schemas.openxmlformats.org/officeDocument/2006/relationships/slide" Target="slide33.xml"/><Relationship Id="rId7" Type="http://schemas.openxmlformats.org/officeDocument/2006/relationships/slide" Target="slide12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1.worldbank.org/curated/en/123641487793335838/text/ITK171540-201701221452.txt" TargetMode="External"/><Relationship Id="rId4" Type="http://schemas.openxmlformats.org/officeDocument/2006/relationships/notesSlide" Target="../notesSlides/notesSlide151.xml"/><Relationship Id="rId5" Type="http://schemas.openxmlformats.org/officeDocument/2006/relationships/slide" Target="slide32.xml"/><Relationship Id="rId6" Type="http://schemas.openxmlformats.org/officeDocument/2006/relationships/slide" Target="slide36.xml"/><Relationship Id="rId7" Type="http://schemas.openxmlformats.org/officeDocument/2006/relationships/slide" Target="slide12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loans-credits/2011/05/24/vietnam-second-public-investment-reform-development-policy-operation" TargetMode="External"/><Relationship Id="rId4" Type="http://schemas.openxmlformats.org/officeDocument/2006/relationships/notesSlide" Target="../notesSlides/notesSlide152.xml"/><Relationship Id="rId5" Type="http://schemas.openxmlformats.org/officeDocument/2006/relationships/slide" Target="slide35.xml"/><Relationship Id="rId6" Type="http://schemas.openxmlformats.org/officeDocument/2006/relationships/slide" Target="slide12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press-release/2011/05/24/world-bank-supports-policy-reform-improve-efficiency-vietnams-public-investment" TargetMode="External"/><Relationship Id="rId4" Type="http://schemas.openxmlformats.org/officeDocument/2006/relationships/notesSlide" Target="../notesSlides/notesSlide153.xml"/><Relationship Id="rId5" Type="http://schemas.openxmlformats.org/officeDocument/2006/relationships/slide" Target="slide35.xml"/><Relationship Id="rId6" Type="http://schemas.openxmlformats.org/officeDocument/2006/relationships/slide" Target="slide12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tinews.dantri.com.vn/print/20110526135305000.htm" TargetMode="External"/><Relationship Id="rId4" Type="http://schemas.openxmlformats.org/officeDocument/2006/relationships/notesSlide" Target="../notesSlides/notesSlide154.xml"/><Relationship Id="rId5" Type="http://schemas.openxmlformats.org/officeDocument/2006/relationships/slide" Target="slide35.xml"/><Relationship Id="rId6" Type="http://schemas.openxmlformats.org/officeDocument/2006/relationships/slide" Target="slide12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loans-credits/2010/04/06/vietnam-first-power-sector-reform-development-policy-operation" TargetMode="External"/><Relationship Id="rId4" Type="http://schemas.openxmlformats.org/officeDocument/2006/relationships/notesSlide" Target="../notesSlides/notesSlide155.xml"/><Relationship Id="rId5" Type="http://schemas.openxmlformats.org/officeDocument/2006/relationships/slide" Target="slide35.xml"/><Relationship Id="rId6" Type="http://schemas.openxmlformats.org/officeDocument/2006/relationships/slide" Target="slide12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ieg.worldbankgroup.org/blog/paying-results-does-results-based-lending-work" TargetMode="External"/><Relationship Id="rId4" Type="http://schemas.openxmlformats.org/officeDocument/2006/relationships/notesSlide" Target="../notesSlides/notesSlide156.xml"/><Relationship Id="rId5" Type="http://schemas.openxmlformats.org/officeDocument/2006/relationships/slide" Target="slide34.xml"/><Relationship Id="rId6" Type="http://schemas.openxmlformats.org/officeDocument/2006/relationships/slide" Target="slide12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57.xml"/><Relationship Id="rId5" Type="http://schemas.openxmlformats.org/officeDocument/2006/relationships/slide" Target="slide36.xml"/><Relationship Id="rId6" Type="http://schemas.openxmlformats.org/officeDocument/2006/relationships/slide" Target="slide79.xml"/><Relationship Id="rId7" Type="http://schemas.openxmlformats.org/officeDocument/2006/relationships/slide" Target="slide80.xml"/><Relationship Id="rId8" Type="http://schemas.openxmlformats.org/officeDocument/2006/relationships/slide" Target="slide121.xml"/><Relationship Id="rId9" Type="http://schemas.openxmlformats.org/officeDocument/2006/relationships/slide" Target="slide15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58.xml"/><Relationship Id="rId5" Type="http://schemas.openxmlformats.org/officeDocument/2006/relationships/slide" Target="slide82.xml"/><Relationship Id="rId6" Type="http://schemas.openxmlformats.org/officeDocument/2006/relationships/slide" Target="slide83.xml"/><Relationship Id="rId7" Type="http://schemas.openxmlformats.org/officeDocument/2006/relationships/slide" Target="slide84.xml"/><Relationship Id="rId8" Type="http://schemas.openxmlformats.org/officeDocument/2006/relationships/slide" Target="slide121.xml"/><Relationship Id="rId9" Type="http://schemas.openxmlformats.org/officeDocument/2006/relationships/slide" Target="slide159.xml"/><Relationship Id="rId10" Type="http://schemas.openxmlformats.org/officeDocument/2006/relationships/slide" Target="slide15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59.xml"/><Relationship Id="rId5" Type="http://schemas.openxmlformats.org/officeDocument/2006/relationships/slide" Target="slide85.xml"/><Relationship Id="rId6" Type="http://schemas.openxmlformats.org/officeDocument/2006/relationships/slide" Target="slide86.xml"/><Relationship Id="rId7" Type="http://schemas.openxmlformats.org/officeDocument/2006/relationships/slide" Target="slide121.xml"/><Relationship Id="rId8" Type="http://schemas.openxmlformats.org/officeDocument/2006/relationships/slide" Target="slide160.xml"/><Relationship Id="rId9" Type="http://schemas.openxmlformats.org/officeDocument/2006/relationships/slide" Target="slide15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60.xml"/><Relationship Id="rId5" Type="http://schemas.openxmlformats.org/officeDocument/2006/relationships/slide" Target="slide88.xml"/><Relationship Id="rId6" Type="http://schemas.openxmlformats.org/officeDocument/2006/relationships/slide" Target="slide89.xml"/><Relationship Id="rId7" Type="http://schemas.openxmlformats.org/officeDocument/2006/relationships/slide" Target="slide90.xml"/><Relationship Id="rId8" Type="http://schemas.openxmlformats.org/officeDocument/2006/relationships/slide" Target="slide121.xml"/><Relationship Id="rId9" Type="http://schemas.openxmlformats.org/officeDocument/2006/relationships/slide" Target="slide161.xml"/><Relationship Id="rId10" Type="http://schemas.openxmlformats.org/officeDocument/2006/relationships/slide" Target="slide15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61.xml"/><Relationship Id="rId5" Type="http://schemas.openxmlformats.org/officeDocument/2006/relationships/slide" Target="slide93.xml"/><Relationship Id="rId6" Type="http://schemas.openxmlformats.org/officeDocument/2006/relationships/slide" Target="slide94.xml"/><Relationship Id="rId7" Type="http://schemas.openxmlformats.org/officeDocument/2006/relationships/slide" Target="slide96.xml"/><Relationship Id="rId8" Type="http://schemas.openxmlformats.org/officeDocument/2006/relationships/slide" Target="slide121.xml"/><Relationship Id="rId9" Type="http://schemas.openxmlformats.org/officeDocument/2006/relationships/slide" Target="slide162.xml"/><Relationship Id="rId10" Type="http://schemas.openxmlformats.org/officeDocument/2006/relationships/slide" Target="slide16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62.xml"/><Relationship Id="rId5" Type="http://schemas.openxmlformats.org/officeDocument/2006/relationships/slide" Target="slide97.xml"/><Relationship Id="rId6" Type="http://schemas.openxmlformats.org/officeDocument/2006/relationships/slide" Target="slide99.xml"/><Relationship Id="rId7" Type="http://schemas.openxmlformats.org/officeDocument/2006/relationships/slide" Target="slide100.xml"/><Relationship Id="rId8" Type="http://schemas.openxmlformats.org/officeDocument/2006/relationships/slide" Target="slide121.xml"/><Relationship Id="rId9" Type="http://schemas.openxmlformats.org/officeDocument/2006/relationships/slide" Target="slide163.xml"/><Relationship Id="rId10" Type="http://schemas.openxmlformats.org/officeDocument/2006/relationships/slide" Target="slide16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63.xml"/><Relationship Id="rId5" Type="http://schemas.openxmlformats.org/officeDocument/2006/relationships/slide" Target="slide101.xml"/><Relationship Id="rId6" Type="http://schemas.openxmlformats.org/officeDocument/2006/relationships/slide" Target="slide102.xml"/><Relationship Id="rId7" Type="http://schemas.openxmlformats.org/officeDocument/2006/relationships/slide" Target="slide106.xml"/><Relationship Id="rId8" Type="http://schemas.openxmlformats.org/officeDocument/2006/relationships/slide" Target="slide121.xml"/><Relationship Id="rId9" Type="http://schemas.openxmlformats.org/officeDocument/2006/relationships/slide" Target="slide164.xml"/><Relationship Id="rId10" Type="http://schemas.openxmlformats.org/officeDocument/2006/relationships/slide" Target="slide16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64.xml"/><Relationship Id="rId5" Type="http://schemas.openxmlformats.org/officeDocument/2006/relationships/slide" Target="slide107.xml"/><Relationship Id="rId6" Type="http://schemas.openxmlformats.org/officeDocument/2006/relationships/slide" Target="slide121.xml"/><Relationship Id="rId7" Type="http://schemas.openxmlformats.org/officeDocument/2006/relationships/slide" Target="slide16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asa" TargetMode="External"/><Relationship Id="rId4" Type="http://schemas.openxmlformats.org/officeDocument/2006/relationships/notesSlide" Target="../notesSlides/notesSlide165.xml"/><Relationship Id="rId5" Type="http://schemas.openxmlformats.org/officeDocument/2006/relationships/slide" Target="slide37.xml"/><Relationship Id="rId6" Type="http://schemas.openxmlformats.org/officeDocument/2006/relationships/slide" Target="slide12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adb.org/sites/default/files/linked-documents/Linked%20Document%20A%20-%20Comparison%20of%20TA%20provided%20by%20MDBs_20241029.pdf" TargetMode="External"/><Relationship Id="rId4" Type="http://schemas.openxmlformats.org/officeDocument/2006/relationships/notesSlide" Target="../notesSlides/notesSlide166.xml"/><Relationship Id="rId5" Type="http://schemas.openxmlformats.org/officeDocument/2006/relationships/slide" Target="slide37.xml"/><Relationship Id="rId6" Type="http://schemas.openxmlformats.org/officeDocument/2006/relationships/slide" Target="slide12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orldbank.org/en/country/thailand/brief/reimbursable-advisory-services-in-southeast-asia" TargetMode="External"/><Relationship Id="rId4" Type="http://schemas.openxmlformats.org/officeDocument/2006/relationships/notesSlide" Target="../notesSlides/notesSlide167.xml"/><Relationship Id="rId5" Type="http://schemas.openxmlformats.org/officeDocument/2006/relationships/slide" Target="slide37.xml"/><Relationship Id="rId6" Type="http://schemas.openxmlformats.org/officeDocument/2006/relationships/slide" Target="slide109.xml"/><Relationship Id="rId7" Type="http://schemas.openxmlformats.org/officeDocument/2006/relationships/slide" Target="slide12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68.xml"/><Relationship Id="rId5" Type="http://schemas.openxmlformats.org/officeDocument/2006/relationships/slide" Target="slide39.xml"/><Relationship Id="rId6" Type="http://schemas.openxmlformats.org/officeDocument/2006/relationships/slide" Target="slide41.xml"/><Relationship Id="rId7" Type="http://schemas.openxmlformats.org/officeDocument/2006/relationships/slide" Target="slide42.xml"/><Relationship Id="rId8" Type="http://schemas.openxmlformats.org/officeDocument/2006/relationships/slide" Target="slide48.xml"/><Relationship Id="rId9" Type="http://schemas.openxmlformats.org/officeDocument/2006/relationships/slide" Target="slide121.xml"/><Relationship Id="rId10" Type="http://schemas.openxmlformats.org/officeDocument/2006/relationships/slide" Target="slide16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69.xml"/><Relationship Id="rId5" Type="http://schemas.openxmlformats.org/officeDocument/2006/relationships/slide" Target="slide55.xml"/><Relationship Id="rId6" Type="http://schemas.openxmlformats.org/officeDocument/2006/relationships/slide" Target="slide56.xml"/><Relationship Id="rId7" Type="http://schemas.openxmlformats.org/officeDocument/2006/relationships/slide" Target="slide57.xml"/><Relationship Id="rId8" Type="http://schemas.openxmlformats.org/officeDocument/2006/relationships/slide" Target="slide62.xml"/><Relationship Id="rId9" Type="http://schemas.openxmlformats.org/officeDocument/2006/relationships/slide" Target="slide121.xml"/><Relationship Id="rId10" Type="http://schemas.openxmlformats.org/officeDocument/2006/relationships/slide" Target="slide170.xml"/><Relationship Id="rId11" Type="http://schemas.openxmlformats.org/officeDocument/2006/relationships/slide" Target="slide16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70.xml"/><Relationship Id="rId5" Type="http://schemas.openxmlformats.org/officeDocument/2006/relationships/slide" Target="slide63.xml"/><Relationship Id="rId6" Type="http://schemas.openxmlformats.org/officeDocument/2006/relationships/slide" Target="slide65.xml"/><Relationship Id="rId7" Type="http://schemas.openxmlformats.org/officeDocument/2006/relationships/slide" Target="slide66.xml"/><Relationship Id="rId8" Type="http://schemas.openxmlformats.org/officeDocument/2006/relationships/slide" Target="slide67.xml"/><Relationship Id="rId9" Type="http://schemas.openxmlformats.org/officeDocument/2006/relationships/slide" Target="slide121.xml"/><Relationship Id="rId10" Type="http://schemas.openxmlformats.org/officeDocument/2006/relationships/slide" Target="slide171.xml"/><Relationship Id="rId11" Type="http://schemas.openxmlformats.org/officeDocument/2006/relationships/slide" Target="slide16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71.xml"/><Relationship Id="rId5" Type="http://schemas.openxmlformats.org/officeDocument/2006/relationships/slide" Target="slide67.xml"/><Relationship Id="rId6" Type="http://schemas.openxmlformats.org/officeDocument/2006/relationships/slide" Target="slide68.xml"/><Relationship Id="rId7" Type="http://schemas.openxmlformats.org/officeDocument/2006/relationships/slide" Target="slide69.xml"/><Relationship Id="rId8" Type="http://schemas.openxmlformats.org/officeDocument/2006/relationships/slide" Target="slide70.xml"/><Relationship Id="rId9" Type="http://schemas.openxmlformats.org/officeDocument/2006/relationships/slide" Target="slide121.xml"/><Relationship Id="rId10" Type="http://schemas.openxmlformats.org/officeDocument/2006/relationships/slide" Target="slide172.xml"/><Relationship Id="rId11" Type="http://schemas.openxmlformats.org/officeDocument/2006/relationships/slide" Target="slide17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72.xml"/><Relationship Id="rId5" Type="http://schemas.openxmlformats.org/officeDocument/2006/relationships/slide" Target="slide70.xml"/><Relationship Id="rId6" Type="http://schemas.openxmlformats.org/officeDocument/2006/relationships/slide" Target="slide71.xml"/><Relationship Id="rId7" Type="http://schemas.openxmlformats.org/officeDocument/2006/relationships/slide" Target="slide72.xml"/><Relationship Id="rId8" Type="http://schemas.openxmlformats.org/officeDocument/2006/relationships/slide" Target="slide73.xml"/><Relationship Id="rId9" Type="http://schemas.openxmlformats.org/officeDocument/2006/relationships/slide" Target="slide121.xml"/><Relationship Id="rId10" Type="http://schemas.openxmlformats.org/officeDocument/2006/relationships/slide" Target="slide173.xml"/><Relationship Id="rId11" Type="http://schemas.openxmlformats.org/officeDocument/2006/relationships/slide" Target="slide17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73.xml"/><Relationship Id="rId5" Type="http://schemas.openxmlformats.org/officeDocument/2006/relationships/slide" Target="slide74.xml"/><Relationship Id="rId6" Type="http://schemas.openxmlformats.org/officeDocument/2006/relationships/slide" Target="slide75.xml"/><Relationship Id="rId7" Type="http://schemas.openxmlformats.org/officeDocument/2006/relationships/slide" Target="slide106.xml"/><Relationship Id="rId8" Type="http://schemas.openxmlformats.org/officeDocument/2006/relationships/slide" Target="slide107.xml"/><Relationship Id="rId9" Type="http://schemas.openxmlformats.org/officeDocument/2006/relationships/slide" Target="slide121.xml"/><Relationship Id="rId10" Type="http://schemas.openxmlformats.org/officeDocument/2006/relationships/slide" Target="slide174.xml"/><Relationship Id="rId11" Type="http://schemas.openxmlformats.org/officeDocument/2006/relationships/slide" Target="slide17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worldbank.org/en/publication/documents-reports/documentdetail/099026109262383942" TargetMode="External"/><Relationship Id="rId4" Type="http://schemas.openxmlformats.org/officeDocument/2006/relationships/notesSlide" Target="../notesSlides/notesSlide174.xml"/><Relationship Id="rId5" Type="http://schemas.openxmlformats.org/officeDocument/2006/relationships/slide" Target="slide108.xml"/><Relationship Id="rId6" Type="http://schemas.openxmlformats.org/officeDocument/2006/relationships/slide" Target="slide121.xml"/><Relationship Id="rId7" Type="http://schemas.openxmlformats.org/officeDocument/2006/relationships/slide" Target="slide17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olc/course/48351" TargetMode="External"/><Relationship Id="rId4" Type="http://schemas.openxmlformats.org/officeDocument/2006/relationships/notesSlide" Target="../notesSlides/notesSlide175.xml"/><Relationship Id="rId5" Type="http://schemas.openxmlformats.org/officeDocument/2006/relationships/slide" Target="slide40.xml"/><Relationship Id="rId6" Type="http://schemas.openxmlformats.org/officeDocument/2006/relationships/slide" Target="slide12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feature/2015/03/23/a-new-online-course-to-build-procurement-capacity" TargetMode="External"/><Relationship Id="rId4" Type="http://schemas.openxmlformats.org/officeDocument/2006/relationships/notesSlide" Target="../notesSlides/notesSlide176.xml"/><Relationship Id="rId5" Type="http://schemas.openxmlformats.org/officeDocument/2006/relationships/slide" Target="slide41.xml"/><Relationship Id="rId6" Type="http://schemas.openxmlformats.org/officeDocument/2006/relationships/slide" Target="slide12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olc/course/37108" TargetMode="External"/><Relationship Id="rId4" Type="http://schemas.openxmlformats.org/officeDocument/2006/relationships/notesSlide" Target="../notesSlides/notesSlide177.xml"/><Relationship Id="rId5" Type="http://schemas.openxmlformats.org/officeDocument/2006/relationships/slide" Target="slide41.xml"/><Relationship Id="rId6" Type="http://schemas.openxmlformats.org/officeDocument/2006/relationships/slide" Target="slide12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78.xml"/><Relationship Id="rId5" Type="http://schemas.openxmlformats.org/officeDocument/2006/relationships/slide" Target="slide42.xml"/><Relationship Id="rId6" Type="http://schemas.openxmlformats.org/officeDocument/2006/relationships/slide" Target="slide47.xml"/><Relationship Id="rId7" Type="http://schemas.openxmlformats.org/officeDocument/2006/relationships/slide" Target="slide48.xml"/><Relationship Id="rId8" Type="http://schemas.openxmlformats.org/officeDocument/2006/relationships/slide" Target="slide55.xml"/><Relationship Id="rId9" Type="http://schemas.openxmlformats.org/officeDocument/2006/relationships/slide" Target="slide56.xml"/><Relationship Id="rId10" Type="http://schemas.openxmlformats.org/officeDocument/2006/relationships/slide" Target="slide121.xml"/><Relationship Id="rId11" Type="http://schemas.openxmlformats.org/officeDocument/2006/relationships/slide" Target="slide17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79.xml"/><Relationship Id="rId5" Type="http://schemas.openxmlformats.org/officeDocument/2006/relationships/slide" Target="slide57.xml"/><Relationship Id="rId6" Type="http://schemas.openxmlformats.org/officeDocument/2006/relationships/slide" Target="slide58.xml"/><Relationship Id="rId7" Type="http://schemas.openxmlformats.org/officeDocument/2006/relationships/slide" Target="slide121.xml"/><Relationship Id="rId8" Type="http://schemas.openxmlformats.org/officeDocument/2006/relationships/slide" Target="slide180.xml"/><Relationship Id="rId9" Type="http://schemas.openxmlformats.org/officeDocument/2006/relationships/slide" Target="slide17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80.xml"/><Relationship Id="rId5" Type="http://schemas.openxmlformats.org/officeDocument/2006/relationships/slide" Target="slide59.xml"/><Relationship Id="rId6" Type="http://schemas.openxmlformats.org/officeDocument/2006/relationships/slide" Target="slide60.xml"/><Relationship Id="rId7" Type="http://schemas.openxmlformats.org/officeDocument/2006/relationships/slide" Target="slide121.xml"/><Relationship Id="rId8" Type="http://schemas.openxmlformats.org/officeDocument/2006/relationships/slide" Target="slide181.xml"/><Relationship Id="rId9" Type="http://schemas.openxmlformats.org/officeDocument/2006/relationships/slide" Target="slide17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81.xml"/><Relationship Id="rId5" Type="http://schemas.openxmlformats.org/officeDocument/2006/relationships/slide" Target="slide61.xml"/><Relationship Id="rId6" Type="http://schemas.openxmlformats.org/officeDocument/2006/relationships/slide" Target="slide62.xml"/><Relationship Id="rId7" Type="http://schemas.openxmlformats.org/officeDocument/2006/relationships/slide" Target="slide63.xml"/><Relationship Id="rId8" Type="http://schemas.openxmlformats.org/officeDocument/2006/relationships/slide" Target="slide121.xml"/><Relationship Id="rId9" Type="http://schemas.openxmlformats.org/officeDocument/2006/relationships/slide" Target="slide182.xml"/><Relationship Id="rId10" Type="http://schemas.openxmlformats.org/officeDocument/2006/relationships/slide" Target="slide180.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82.xml"/><Relationship Id="rId5" Type="http://schemas.openxmlformats.org/officeDocument/2006/relationships/slide" Target="slide64.xml"/><Relationship Id="rId6" Type="http://schemas.openxmlformats.org/officeDocument/2006/relationships/slide" Target="slide71.xml"/><Relationship Id="rId7" Type="http://schemas.openxmlformats.org/officeDocument/2006/relationships/slide" Target="slide72.xml"/><Relationship Id="rId8" Type="http://schemas.openxmlformats.org/officeDocument/2006/relationships/slide" Target="slide73.xml"/><Relationship Id="rId9" Type="http://schemas.openxmlformats.org/officeDocument/2006/relationships/slide" Target="slide121.xml"/><Relationship Id="rId10" Type="http://schemas.openxmlformats.org/officeDocument/2006/relationships/slide" Target="slide183.xml"/><Relationship Id="rId11" Type="http://schemas.openxmlformats.org/officeDocument/2006/relationships/slide" Target="slide18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83.xml"/><Relationship Id="rId5" Type="http://schemas.openxmlformats.org/officeDocument/2006/relationships/slide" Target="slide74.xml"/><Relationship Id="rId6" Type="http://schemas.openxmlformats.org/officeDocument/2006/relationships/slide" Target="slide107.xml"/><Relationship Id="rId7" Type="http://schemas.openxmlformats.org/officeDocument/2006/relationships/slide" Target="slide121.xml"/><Relationship Id="rId8" Type="http://schemas.openxmlformats.org/officeDocument/2006/relationships/slide" Target="slide18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ieg.worldbankgroup.org" TargetMode="External"/><Relationship Id="rId4" Type="http://schemas.openxmlformats.org/officeDocument/2006/relationships/notesSlide" Target="../notesSlides/notesSlide184.xml"/><Relationship Id="rId5" Type="http://schemas.openxmlformats.org/officeDocument/2006/relationships/slide" Target="slide42.xml"/><Relationship Id="rId6" Type="http://schemas.openxmlformats.org/officeDocument/2006/relationships/slide" Target="slide58.xml"/><Relationship Id="rId7" Type="http://schemas.openxmlformats.org/officeDocument/2006/relationships/slide" Target="slide63.xml"/><Relationship Id="rId8" Type="http://schemas.openxmlformats.org/officeDocument/2006/relationships/slide" Target="slide64.xml"/><Relationship Id="rId9" Type="http://schemas.openxmlformats.org/officeDocument/2006/relationships/slide" Target="slide121.xml"/><Relationship Id="rId10" Type="http://schemas.openxmlformats.org/officeDocument/2006/relationships/slide" Target="slide18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ieg.worldbankgroup.org" TargetMode="External"/><Relationship Id="rId4" Type="http://schemas.openxmlformats.org/officeDocument/2006/relationships/notesSlide" Target="../notesSlides/notesSlide185.xml"/><Relationship Id="rId5" Type="http://schemas.openxmlformats.org/officeDocument/2006/relationships/slide" Target="slide67.xml"/><Relationship Id="rId6" Type="http://schemas.openxmlformats.org/officeDocument/2006/relationships/slide" Target="slide75.xml"/><Relationship Id="rId7" Type="http://schemas.openxmlformats.org/officeDocument/2006/relationships/slide" Target="slide121.xml"/><Relationship Id="rId8" Type="http://schemas.openxmlformats.org/officeDocument/2006/relationships/slide" Target="slide18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86.xml"/><Relationship Id="rId5" Type="http://schemas.openxmlformats.org/officeDocument/2006/relationships/slide" Target="slide42.xml"/><Relationship Id="rId6" Type="http://schemas.openxmlformats.org/officeDocument/2006/relationships/slide" Target="slide80.xml"/><Relationship Id="rId7" Type="http://schemas.openxmlformats.org/officeDocument/2006/relationships/slide" Target="slide91.xml"/><Relationship Id="rId8" Type="http://schemas.openxmlformats.org/officeDocument/2006/relationships/slide" Target="slide121.xml"/><Relationship Id="rId9" Type="http://schemas.openxmlformats.org/officeDocument/2006/relationships/slide" Target="slide18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87.xml"/><Relationship Id="rId5" Type="http://schemas.openxmlformats.org/officeDocument/2006/relationships/slide" Target="slide93.xml"/><Relationship Id="rId6" Type="http://schemas.openxmlformats.org/officeDocument/2006/relationships/slide" Target="slide94.xml"/><Relationship Id="rId7" Type="http://schemas.openxmlformats.org/officeDocument/2006/relationships/slide" Target="slide96.xml"/><Relationship Id="rId8" Type="http://schemas.openxmlformats.org/officeDocument/2006/relationships/slide" Target="slide121.xml"/><Relationship Id="rId9" Type="http://schemas.openxmlformats.org/officeDocument/2006/relationships/slide" Target="slide188.xml"/><Relationship Id="rId10" Type="http://schemas.openxmlformats.org/officeDocument/2006/relationships/slide" Target="slide18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88.xml"/><Relationship Id="rId5" Type="http://schemas.openxmlformats.org/officeDocument/2006/relationships/slide" Target="slide97.xml"/><Relationship Id="rId6" Type="http://schemas.openxmlformats.org/officeDocument/2006/relationships/slide" Target="slide99.xml"/><Relationship Id="rId7" Type="http://schemas.openxmlformats.org/officeDocument/2006/relationships/slide" Target="slide100.xml"/><Relationship Id="rId8" Type="http://schemas.openxmlformats.org/officeDocument/2006/relationships/slide" Target="slide121.xml"/><Relationship Id="rId9" Type="http://schemas.openxmlformats.org/officeDocument/2006/relationships/slide" Target="slide189.xml"/><Relationship Id="rId10" Type="http://schemas.openxmlformats.org/officeDocument/2006/relationships/slide" Target="slide18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89.xml"/><Relationship Id="rId5" Type="http://schemas.openxmlformats.org/officeDocument/2006/relationships/slide" Target="slide101.xml"/><Relationship Id="rId6" Type="http://schemas.openxmlformats.org/officeDocument/2006/relationships/slide" Target="slide102.xml"/><Relationship Id="rId7" Type="http://schemas.openxmlformats.org/officeDocument/2006/relationships/slide" Target="slide121.xml"/><Relationship Id="rId8" Type="http://schemas.openxmlformats.org/officeDocument/2006/relationships/slide" Target="slide190.xml"/><Relationship Id="rId9" Type="http://schemas.openxmlformats.org/officeDocument/2006/relationships/slide" Target="slide188.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190.xml"/><Relationship Id="rId5" Type="http://schemas.openxmlformats.org/officeDocument/2006/relationships/slide" Target="slide105.xml"/><Relationship Id="rId6" Type="http://schemas.openxmlformats.org/officeDocument/2006/relationships/slide" Target="slide106.xml"/><Relationship Id="rId7" Type="http://schemas.openxmlformats.org/officeDocument/2006/relationships/slide" Target="slide107.xml"/><Relationship Id="rId8" Type="http://schemas.openxmlformats.org/officeDocument/2006/relationships/slide" Target="slide121.xml"/><Relationship Id="rId9" Type="http://schemas.openxmlformats.org/officeDocument/2006/relationships/slide" Target="slide189.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91.xml"/><Relationship Id="rId5" Type="http://schemas.openxmlformats.org/officeDocument/2006/relationships/slide" Target="slide47.xml"/><Relationship Id="rId6" Type="http://schemas.openxmlformats.org/officeDocument/2006/relationships/slide" Target="slide48.xml"/><Relationship Id="rId7" Type="http://schemas.openxmlformats.org/officeDocument/2006/relationships/slide" Target="slide50.xml"/><Relationship Id="rId8" Type="http://schemas.openxmlformats.org/officeDocument/2006/relationships/slide" Target="slide51.xml"/><Relationship Id="rId9" Type="http://schemas.openxmlformats.org/officeDocument/2006/relationships/slide" Target="slide52.xml"/><Relationship Id="rId10" Type="http://schemas.openxmlformats.org/officeDocument/2006/relationships/slide" Target="slide121.xml"/><Relationship Id="rId11" Type="http://schemas.openxmlformats.org/officeDocument/2006/relationships/slide" Target="slide19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92.xml"/><Relationship Id="rId5" Type="http://schemas.openxmlformats.org/officeDocument/2006/relationships/slide" Target="slide55.xml"/><Relationship Id="rId6" Type="http://schemas.openxmlformats.org/officeDocument/2006/relationships/slide" Target="slide56.xml"/><Relationship Id="rId7" Type="http://schemas.openxmlformats.org/officeDocument/2006/relationships/slide" Target="slide57.xml"/><Relationship Id="rId8" Type="http://schemas.openxmlformats.org/officeDocument/2006/relationships/slide" Target="slide121.xml"/><Relationship Id="rId9" Type="http://schemas.openxmlformats.org/officeDocument/2006/relationships/slide" Target="slide193.xml"/><Relationship Id="rId10" Type="http://schemas.openxmlformats.org/officeDocument/2006/relationships/slide" Target="slide19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31558" TargetMode="External"/><Relationship Id="rId4" Type="http://schemas.openxmlformats.org/officeDocument/2006/relationships/notesSlide" Target="../notesSlides/notesSlide193.xml"/><Relationship Id="rId5" Type="http://schemas.openxmlformats.org/officeDocument/2006/relationships/slide" Target="slide58.xml"/><Relationship Id="rId6" Type="http://schemas.openxmlformats.org/officeDocument/2006/relationships/slide" Target="slide59.xml"/><Relationship Id="rId7" Type="http://schemas.openxmlformats.org/officeDocument/2006/relationships/slide" Target="slide63.xml"/><Relationship Id="rId8" Type="http://schemas.openxmlformats.org/officeDocument/2006/relationships/slide" Target="slide121.xml"/><Relationship Id="rId9" Type="http://schemas.openxmlformats.org/officeDocument/2006/relationships/slide" Target="slide19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documents1.worldbank.org/curated/en/846181468133547558/pdf/669280WP00PUBL0859B0WBdonghanh0Eng2.pdf" TargetMode="External"/><Relationship Id="rId4" Type="http://schemas.openxmlformats.org/officeDocument/2006/relationships/notesSlide" Target="../notesSlides/notesSlide194.xml"/><Relationship Id="rId5" Type="http://schemas.openxmlformats.org/officeDocument/2006/relationships/slide" Target="slide47.xml"/><Relationship Id="rId6" Type="http://schemas.openxmlformats.org/officeDocument/2006/relationships/slide" Target="slide12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worldbank.org/en/news/speech/2013/10/17/celebration-of-20-years-of-ODA-in-vietnam.print" TargetMode="External"/><Relationship Id="rId4" Type="http://schemas.openxmlformats.org/officeDocument/2006/relationships/notesSlide" Target="../notesSlides/notesSlide195.xml"/><Relationship Id="rId5" Type="http://schemas.openxmlformats.org/officeDocument/2006/relationships/slide" Target="slide47.xml"/><Relationship Id="rId6" Type="http://schemas.openxmlformats.org/officeDocument/2006/relationships/slide" Target="slide12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849" TargetMode="External"/><Relationship Id="rId4" Type="http://schemas.openxmlformats.org/officeDocument/2006/relationships/notesSlide" Target="../notesSlides/notesSlide196.xml"/><Relationship Id="rId5" Type="http://schemas.openxmlformats.org/officeDocument/2006/relationships/slide" Target="slide49.xml"/><Relationship Id="rId6" Type="http://schemas.openxmlformats.org/officeDocument/2006/relationships/slide" Target="slide50.xml"/><Relationship Id="rId7" Type="http://schemas.openxmlformats.org/officeDocument/2006/relationships/slide" Target="slide51.xml"/><Relationship Id="rId8" Type="http://schemas.openxmlformats.org/officeDocument/2006/relationships/slide" Target="slide12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197.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2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198.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2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199.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2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200.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2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201.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2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202.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09.xml"/><Relationship Id="rId7" Type="http://schemas.openxmlformats.org/officeDocument/2006/relationships/slide" Target="slide12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203.xml"/><Relationship Id="rId4" Type="http://schemas.openxmlformats.org/officeDocument/2006/relationships/slide" Target="slide52.xml"/><Relationship Id="rId5" Type="http://schemas.openxmlformats.org/officeDocument/2006/relationships/slide" Target="slide53.xml"/><Relationship Id="rId6" Type="http://schemas.openxmlformats.org/officeDocument/2006/relationships/slide" Target="slide12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projects.worldbank.org/en/projects-operations/project-detail/P156143" TargetMode="External"/><Relationship Id="rId4" Type="http://schemas.openxmlformats.org/officeDocument/2006/relationships/notesSlide" Target="../notesSlides/notesSlide204.xml"/><Relationship Id="rId5" Type="http://schemas.openxmlformats.org/officeDocument/2006/relationships/slide" Target="slide94.xml"/><Relationship Id="rId6" Type="http://schemas.openxmlformats.org/officeDocument/2006/relationships/slide" Target="slide12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205.xml"/><Relationship Id="rId4" Type="http://schemas.openxmlformats.org/officeDocument/2006/relationships/slide" Target="slide82.xml"/><Relationship Id="rId5" Type="http://schemas.openxmlformats.org/officeDocument/2006/relationships/slide" Target="slide12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inspectionpanel.org/sites/default/files/cases/documents/166-Viet%20Nam-CCSEP-Inspection%20Panel%20Report%20and%20Recommendation-22%20January%202024.pdf" TargetMode="External"/><Relationship Id="rId4" Type="http://schemas.openxmlformats.org/officeDocument/2006/relationships/notesSlide" Target="../notesSlides/notesSlide206.xml"/><Relationship Id="rId5" Type="http://schemas.openxmlformats.org/officeDocument/2006/relationships/slide" Target="slide101.xml"/><Relationship Id="rId6" Type="http://schemas.openxmlformats.org/officeDocument/2006/relationships/slide" Target="slide103.xml"/><Relationship Id="rId7" Type="http://schemas.openxmlformats.org/officeDocument/2006/relationships/slide" Target="slide104.xml"/><Relationship Id="rId8" Type="http://schemas.openxmlformats.org/officeDocument/2006/relationships/slide" Target="slide121.xml"/><Relationship Id="rId9" Type="http://schemas.openxmlformats.org/officeDocument/2006/relationships/slide" Target="slide20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www.inspectionpanel.org/sites/default/files/cases/documents/166-Viet%20Nam-CCSEP-Inspection%20Panel%20Report%20and%20Recommendation-22%20January%202024.pdf" TargetMode="External"/><Relationship Id="rId4" Type="http://schemas.openxmlformats.org/officeDocument/2006/relationships/notesSlide" Target="../notesSlides/notesSlide207.xml"/><Relationship Id="rId5" Type="http://schemas.openxmlformats.org/officeDocument/2006/relationships/slide" Target="slide107.xml"/><Relationship Id="rId6" Type="http://schemas.openxmlformats.org/officeDocument/2006/relationships/slide" Target="slide121.xml"/><Relationship Id="rId7" Type="http://schemas.openxmlformats.org/officeDocument/2006/relationships/slide" Target="slide206.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hyperlink" Target="https://accountability.worldbank.org/en/news/2025/conclusion-of-drs-in-vietnam" TargetMode="External"/><Relationship Id="rId4" Type="http://schemas.openxmlformats.org/officeDocument/2006/relationships/notesSlide" Target="../notesSlides/notesSlide208.xml"/><Relationship Id="rId5" Type="http://schemas.openxmlformats.org/officeDocument/2006/relationships/slide" Target="slide104.xml"/><Relationship Id="rId6" Type="http://schemas.openxmlformats.org/officeDocument/2006/relationships/slide" Target="slide1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138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446759" y="641506"/>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823946" y="6182002"/>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436227" y="1653732"/>
            <a:ext cx="256032" cy="256032"/>
          </a:xfrm>
          <a:prstGeom prst="rect">
            <a:avLst/>
          </a:prstGeom>
        </p:spPr>
      </p:pic>
      <p:sp>
        <p:nvSpPr>
          <p:cNvPr id="2" name="!!title"/>
          <p:cNvSpPr>
            <a:spLocks noGrp="1"/>
          </p:cNvSpPr>
          <p:nvPr>
            <p:ph type="ctrTitle"/>
          </p:nvPr>
        </p:nvSpPr>
        <p:spPr>
          <a:xfrm>
            <a:off x="548640" y="822960"/>
            <a:ext cx="7863840" cy="2103120"/>
          </a:xfrm>
        </p:spPr>
        <p:txBody>
          <a:bodyPr wrap="square" lIns="0" rIns="0" tIns="18288" bIns="18288" anchor="t">
            <a:noAutofit/>
          </a:bodyPr>
          <a:lstStyle/>
          <a:p>
            <a:pPr algn="l">
              <a:lnSpc>
                <a:spcPts val="14250"/>
              </a:lnSpc>
              <a:spcBef>
                <a:spcPts val="0"/>
              </a:spcBef>
              <a:spcAft>
                <a:spcPts val="0"/>
              </a:spcAft>
            </a:pPr>
            <a:r>
              <a:rPr sz="15000" b="0" i="0" spc="600">
                <a:solidFill>
                  <a:srgbClr val="F4ECD8"/>
                </a:solidFill>
                <a:latin typeface="Cormorant Garamond" panose="02020404030301010803" pitchFamily="18"/>
              </a:rPr>
              <a:t>IBRD</a:t>
            </a:r>
          </a:p>
        </p:txBody>
      </p:sp>
      <p:sp>
        <p:nvSpPr>
          <p:cNvPr id="9" name="!!section"/>
          <p:cNvSpPr txBox="1"/>
          <p:nvPr/>
        </p:nvSpPr>
        <p:spPr>
          <a:xfrm>
            <a:off x="548640" y="384048"/>
            <a:ext cx="822960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F4ECD8"/>
                </a:solidFill>
                <a:latin typeface="Be Vietnam Pro" panose="020F0502020204030204" pitchFamily="34"/>
              </a:rPr>
              <a:t>NATIONAL ECONOMICS UNIVERSITY · AEP · PROJECT FINANCE</a:t>
            </a:r>
          </a:p>
        </p:txBody>
      </p:sp>
      <p:sp>
        <p:nvSpPr>
          <p:cNvPr id="10" name="!!subtitle"/>
          <p:cNvSpPr txBox="1"/>
          <p:nvPr/>
        </p:nvSpPr>
        <p:spPr>
          <a:xfrm>
            <a:off x="548640" y="2788920"/>
            <a:ext cx="7680960" cy="1097280"/>
          </a:xfrm>
          <a:prstGeom prst="rect">
            <a:avLst/>
          </a:prstGeom>
          <a:noFill/>
        </p:spPr>
        <p:txBody>
          <a:bodyPr wrap="square" lIns="0" rIns="0" tIns="18288" bIns="18288" anchor="t">
            <a:noAutofit/>
          </a:bodyPr>
          <a:lstStyle/>
          <a:p>
            <a:pPr algn="l">
              <a:lnSpc>
                <a:spcPts val="4079"/>
              </a:lnSpc>
              <a:spcBef>
                <a:spcPts val="0"/>
              </a:spcBef>
              <a:spcAft>
                <a:spcPts val="0"/>
              </a:spcAft>
            </a:pPr>
            <a:r>
              <a:rPr sz="3400" b="0" i="1">
                <a:solidFill>
                  <a:srgbClr val="F4ECD8"/>
                </a:solidFill>
                <a:latin typeface="Cormorant Garamond" panose="02020404030301010803" pitchFamily="18"/>
              </a:rPr>
              <a:t>and its Development Project Financing Activities in Vietnam</a:t>
            </a:r>
          </a:p>
        </p:txBody>
      </p:sp>
      <p:sp>
        <p:nvSpPr>
          <p:cNvPr id="11" name="TextBox 10"/>
          <p:cNvSpPr txBox="1"/>
          <p:nvPr/>
        </p:nvSpPr>
        <p:spPr>
          <a:xfrm>
            <a:off x="548640" y="3977639"/>
            <a:ext cx="5669280" cy="329184"/>
          </a:xfrm>
          <a:prstGeom prst="rect">
            <a:avLst/>
          </a:prstGeom>
          <a:noFill/>
        </p:spPr>
        <p:txBody>
          <a:bodyPr wrap="square" lIns="0" rIns="0" tIns="18288" bIns="18288" anchor="t">
            <a:noAutofit/>
          </a:bodyPr>
          <a:lstStyle/>
          <a:p>
            <a:pPr algn="l">
              <a:lnSpc>
                <a:spcPts val="1920"/>
              </a:lnSpc>
              <a:spcBef>
                <a:spcPts val="0"/>
              </a:spcBef>
              <a:spcAft>
                <a:spcPts val="0"/>
              </a:spcAft>
            </a:pPr>
            <a:r>
              <a:rPr sz="1600" b="1" i="0" spc="200">
                <a:solidFill>
                  <a:srgbClr val="F4ECD8"/>
                </a:solidFill>
                <a:latin typeface="Be Vietnam Pro" panose="020F0502020204030204" pitchFamily="34"/>
              </a:rPr>
              <a:t>GROUP 6</a:t>
            </a:r>
          </a:p>
        </p:txBody>
      </p:sp>
      <p:sp>
        <p:nvSpPr>
          <p:cNvPr id="12" name="TextBox 11"/>
          <p:cNvSpPr txBox="1"/>
          <p:nvPr/>
        </p:nvSpPr>
        <p:spPr>
          <a:xfrm>
            <a:off x="548640" y="4315968"/>
            <a:ext cx="5669280" cy="155448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F4ECD8"/>
                </a:solidFill>
                <a:latin typeface="Be Vietnam Pro" panose="020F0502020204030204" pitchFamily="34"/>
              </a:rPr>
              <a:t>Đặng Việt Hoàng - 11232291</a:t>
            </a:r>
          </a:p>
          <a:p>
            <a:pPr algn="l">
              <a:lnSpc>
                <a:spcPts val="1920"/>
              </a:lnSpc>
              <a:spcBef>
                <a:spcPts val="0"/>
              </a:spcBef>
              <a:spcAft>
                <a:spcPts val="0"/>
              </a:spcAft>
            </a:pPr>
            <a:r>
              <a:rPr sz="1600" b="0" i="0">
                <a:solidFill>
                  <a:srgbClr val="F4ECD8"/>
                </a:solidFill>
                <a:latin typeface="Be Vietnam Pro" panose="020F0502020204030204" pitchFamily="34"/>
              </a:rPr>
              <a:t>Trần Lan Quyên - 11232506</a:t>
            </a:r>
          </a:p>
          <a:p>
            <a:pPr algn="l">
              <a:lnSpc>
                <a:spcPts val="1920"/>
              </a:lnSpc>
              <a:spcBef>
                <a:spcPts val="0"/>
              </a:spcBef>
              <a:spcAft>
                <a:spcPts val="0"/>
              </a:spcAft>
            </a:pPr>
            <a:r>
              <a:rPr sz="1600" b="0" i="0">
                <a:solidFill>
                  <a:srgbClr val="F4ECD8"/>
                </a:solidFill>
                <a:latin typeface="Be Vietnam Pro" panose="020F0502020204030204" pitchFamily="34"/>
              </a:rPr>
              <a:t>Đào Bảo Bình - 11230612</a:t>
            </a:r>
          </a:p>
          <a:p>
            <a:pPr algn="l">
              <a:lnSpc>
                <a:spcPts val="1920"/>
              </a:lnSpc>
              <a:spcBef>
                <a:spcPts val="0"/>
              </a:spcBef>
              <a:spcAft>
                <a:spcPts val="0"/>
              </a:spcAft>
            </a:pPr>
            <a:r>
              <a:rPr sz="1600" b="0" i="0">
                <a:solidFill>
                  <a:srgbClr val="F4ECD8"/>
                </a:solidFill>
                <a:latin typeface="Be Vietnam Pro" panose="020F0502020204030204" pitchFamily="34"/>
              </a:rPr>
              <a:t>Nguyễn Anh Đức - 11232399</a:t>
            </a:r>
          </a:p>
          <a:p>
            <a:pPr algn="l">
              <a:lnSpc>
                <a:spcPts val="1920"/>
              </a:lnSpc>
              <a:spcBef>
                <a:spcPts val="0"/>
              </a:spcBef>
              <a:spcAft>
                <a:spcPts val="0"/>
              </a:spcAft>
            </a:pPr>
            <a:r>
              <a:rPr sz="1600" b="0" i="0">
                <a:solidFill>
                  <a:srgbClr val="F4ECD8"/>
                </a:solidFill>
                <a:latin typeface="Be Vietnam Pro" panose="020F0502020204030204" pitchFamily="34"/>
              </a:rPr>
              <a:t>Lê Thị Yến Nhi - 11233123</a:t>
            </a:r>
          </a:p>
        </p:txBody>
      </p:sp>
      <p:sp>
        <p:nvSpPr>
          <p:cNvPr id="13" name="TextBox 12"/>
          <p:cNvSpPr txBox="1"/>
          <p:nvPr/>
        </p:nvSpPr>
        <p:spPr>
          <a:xfrm>
            <a:off x="4937760" y="4315968"/>
            <a:ext cx="4023360" cy="329184"/>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F4ECD8"/>
                </a:solidFill>
                <a:latin typeface="Be Vietnam Pro" panose="020F0502020204030204" pitchFamily="34"/>
              </a:rPr>
              <a:t>Class: Investment Economics 65</a:t>
            </a:r>
          </a:p>
        </p:txBody>
      </p:sp>
      <p:sp>
        <p:nvSpPr>
          <p:cNvPr id="14" name="Lecturer placeholder"/>
          <p:cNvSpPr/>
          <p:nvPr/>
        </p:nvSpPr>
        <p:spPr>
          <a:xfrm>
            <a:off x="4937760" y="4754880"/>
            <a:ext cx="3840480" cy="420624"/>
          </a:xfrm>
          <a:prstGeom prst="rect">
            <a:avLst/>
          </a:prstGeom>
          <a:noFill/>
          <a:ln w="19050">
            <a:solidFill>
              <a:srgbClr val="F2C9BE"/>
            </a:solid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noAutofit/>
          </a:bodyPr>
          <a:lstStyle/>
          <a:p>
            <a:pPr algn="l">
              <a:lnSpc>
                <a:spcPts val="1920"/>
              </a:lnSpc>
              <a:spcBef>
                <a:spcPts val="0"/>
              </a:spcBef>
              <a:spcAft>
                <a:spcPts val="0"/>
              </a:spcAft>
            </a:pPr>
            <a:r>
              <a:rPr sz="1600" b="1" i="0">
                <a:solidFill>
                  <a:srgbClr val="FFE2DA"/>
                </a:solidFill>
                <a:latin typeface="Be Vietnam Pro" panose="020F0502020204030204" pitchFamily="34"/>
              </a:rPr>
              <a:t>Lecturer: [TO BE CONFIRMED]</a:t>
            </a:r>
          </a:p>
        </p:txBody>
      </p:sp>
      <p:sp>
        <p:nvSpPr>
          <p:cNvPr id="15" name="TextBox 14"/>
          <p:cNvSpPr txBox="1"/>
          <p:nvPr/>
        </p:nvSpPr>
        <p:spPr>
          <a:xfrm>
            <a:off x="4937760" y="5349240"/>
            <a:ext cx="4023360" cy="329184"/>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F4ECD8"/>
                </a:solidFill>
                <a:latin typeface="Be Vietnam Pro" panose="020F0502020204030204" pitchFamily="34"/>
              </a:rPr>
              <a:t>Hanoi, 2026</a:t>
            </a:r>
          </a:p>
        </p:txBody>
      </p:sp>
      <p:pic>
        <p:nvPicPr>
          <p:cNvPr id="16" name="!!art" descr="Engraving-style line drawing of a classical bank building (original illustration)"/>
          <p:cNvPicPr>
            <a:picLocks noChangeAspect="1"/>
          </p:cNvPicPr>
          <p:nvPr/>
        </p:nvPicPr>
        <p:blipFill>
          <a:blip r:embed="rId5"/>
          <a:stretch>
            <a:fillRect/>
          </a:stretch>
        </p:blipFill>
        <p:spPr>
          <a:xfrm>
            <a:off x="8229600" y="495808"/>
            <a:ext cx="3749039" cy="2665983"/>
          </a:xfrm>
          <a:prstGeom prst="rect">
            <a:avLst/>
          </a:prstGeom>
        </p:spPr>
      </p:pic>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7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29639" y="44149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6157" y="644249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0219" y="313079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Contents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IBRD · GROUP 6</a:t>
            </a:r>
          </a:p>
        </p:txBody>
      </p:sp>
      <p:sp>
        <p:nvSpPr>
          <p:cNvPr id="9" name="!!card1">
            <a:hlinkClick r:id="rId7" action="ppaction://hlinksldjump"/>
          </p:cNvPr>
          <p:cNvSpPr/>
          <p:nvPr/>
        </p:nvSpPr>
        <p:spPr>
          <a:xfrm>
            <a:off x="548640" y="1572768"/>
            <a:ext cx="7162495" cy="78638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lnSpc>
                <a:spcPts val="2879"/>
              </a:lnSpc>
              <a:spcBef>
                <a:spcPts val="0"/>
              </a:spcBef>
              <a:spcAft>
                <a:spcPts val="0"/>
              </a:spcAft>
            </a:pPr>
            <a:r>
              <a:rPr sz="3000" b="1" i="0">
                <a:solidFill>
                  <a:srgbClr val="B4432F"/>
                </a:solidFill>
                <a:latin typeface="Cormorant Garamond" panose="02020404030301010803" pitchFamily="18"/>
              </a:rPr>
              <a:t>01  </a:t>
            </a:r>
            <a:r>
              <a:rPr sz="2200" b="1" i="0">
                <a:solidFill>
                  <a:srgbClr val="2E4257"/>
                </a:solidFill>
                <a:latin typeface="Be Vietnam Pro" panose="020F0502020204030204" pitchFamily="34"/>
              </a:rPr>
              <a:t>Introduction — </a:t>
            </a:r>
            <a:r>
              <a:rPr sz="2000" b="0" i="0">
                <a:solidFill>
                  <a:srgbClr val="2E4257"/>
                </a:solidFill>
                <a:latin typeface="Be Vietnam Pro" panose="020F0502020204030204" pitchFamily="34"/>
              </a:rPr>
              <a:t>Rationale, research problem and questions, objectives, methodology, scope</a:t>
            </a:r>
          </a:p>
        </p:txBody>
      </p:sp>
      <p:sp>
        <p:nvSpPr>
          <p:cNvPr id="10" name="!!card2">
            <a:hlinkClick r:id="rId8" action="ppaction://hlinksldjump"/>
          </p:cNvPr>
          <p:cNvSpPr/>
          <p:nvPr/>
        </p:nvSpPr>
        <p:spPr>
          <a:xfrm>
            <a:off x="548640" y="2468880"/>
            <a:ext cx="7162495" cy="78638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lnSpc>
                <a:spcPts val="2879"/>
              </a:lnSpc>
              <a:spcBef>
                <a:spcPts val="0"/>
              </a:spcBef>
              <a:spcAft>
                <a:spcPts val="0"/>
              </a:spcAft>
            </a:pPr>
            <a:r>
              <a:rPr sz="3000" b="1" i="0">
                <a:solidFill>
                  <a:srgbClr val="B4432F"/>
                </a:solidFill>
                <a:latin typeface="Cormorant Garamond" panose="02020404030301010803" pitchFamily="18"/>
              </a:rPr>
              <a:t>02  </a:t>
            </a:r>
            <a:r>
              <a:rPr sz="2200" b="1" i="0">
                <a:solidFill>
                  <a:srgbClr val="2E4257"/>
                </a:solidFill>
                <a:latin typeface="Be Vietnam Pro" panose="020F0502020204030204" pitchFamily="34"/>
              </a:rPr>
              <a:t>Chapter 1 — </a:t>
            </a:r>
            <a:r>
              <a:rPr sz="2000" b="0" i="0">
                <a:solidFill>
                  <a:srgbClr val="2E4257"/>
                </a:solidFill>
                <a:latin typeface="Be Vietnam Pro" panose="020F0502020204030204" pitchFamily="34"/>
              </a:rPr>
              <a:t>Overview of the IBRD</a:t>
            </a:r>
          </a:p>
        </p:txBody>
      </p:sp>
      <p:sp>
        <p:nvSpPr>
          <p:cNvPr id="11" name="!!card3">
            <a:hlinkClick r:id="rId9" action="ppaction://hlinksldjump"/>
          </p:cNvPr>
          <p:cNvSpPr/>
          <p:nvPr/>
        </p:nvSpPr>
        <p:spPr>
          <a:xfrm>
            <a:off x="548640" y="3364992"/>
            <a:ext cx="7162495" cy="78638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lnSpc>
                <a:spcPts val="2879"/>
              </a:lnSpc>
              <a:spcBef>
                <a:spcPts val="0"/>
              </a:spcBef>
              <a:spcAft>
                <a:spcPts val="0"/>
              </a:spcAft>
            </a:pPr>
            <a:r>
              <a:rPr sz="3000" b="1" i="0">
                <a:solidFill>
                  <a:srgbClr val="B4432F"/>
                </a:solidFill>
                <a:latin typeface="Cormorant Garamond" panose="02020404030301010803" pitchFamily="18"/>
              </a:rPr>
              <a:t>03  </a:t>
            </a:r>
            <a:r>
              <a:rPr sz="2200" b="1" i="0">
                <a:solidFill>
                  <a:srgbClr val="2E4257"/>
                </a:solidFill>
                <a:latin typeface="Be Vietnam Pro" panose="020F0502020204030204" pitchFamily="34"/>
              </a:rPr>
              <a:t>Chapter 2 — </a:t>
            </a:r>
            <a:r>
              <a:rPr sz="2000" b="0" i="0">
                <a:solidFill>
                  <a:srgbClr val="2E4257"/>
                </a:solidFill>
                <a:latin typeface="Be Vietnam Pro" panose="020F0502020204030204" pitchFamily="34"/>
              </a:rPr>
              <a:t>How the IBRD supports project financing</a:t>
            </a:r>
          </a:p>
        </p:txBody>
      </p:sp>
      <p:sp>
        <p:nvSpPr>
          <p:cNvPr id="12" name="!!card4">
            <a:hlinkClick r:id="rId10" action="ppaction://hlinksldjump"/>
          </p:cNvPr>
          <p:cNvSpPr/>
          <p:nvPr/>
        </p:nvSpPr>
        <p:spPr>
          <a:xfrm>
            <a:off x="548640" y="4261104"/>
            <a:ext cx="7162495" cy="78638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lnSpc>
                <a:spcPts val="2879"/>
              </a:lnSpc>
              <a:spcBef>
                <a:spcPts val="0"/>
              </a:spcBef>
              <a:spcAft>
                <a:spcPts val="0"/>
              </a:spcAft>
            </a:pPr>
            <a:r>
              <a:rPr sz="3000" b="1" i="0">
                <a:solidFill>
                  <a:srgbClr val="B4432F"/>
                </a:solidFill>
                <a:latin typeface="Cormorant Garamond" panose="02020404030301010803" pitchFamily="18"/>
              </a:rPr>
              <a:t>04  </a:t>
            </a:r>
            <a:r>
              <a:rPr sz="2200" b="1" i="0">
                <a:solidFill>
                  <a:srgbClr val="2E4257"/>
                </a:solidFill>
                <a:latin typeface="Be Vietnam Pro" panose="020F0502020204030204" pitchFamily="34"/>
              </a:rPr>
              <a:t>Chapter 3 — </a:t>
            </a:r>
            <a:r>
              <a:rPr sz="2000" b="0" i="0">
                <a:solidFill>
                  <a:srgbClr val="2E4257"/>
                </a:solidFill>
                <a:latin typeface="Be Vietnam Pro" panose="020F0502020204030204" pitchFamily="34"/>
              </a:rPr>
              <a:t>The IBRD and selected projects in Vietnam: TEP and CCSEP</a:t>
            </a:r>
          </a:p>
        </p:txBody>
      </p:sp>
      <p:sp>
        <p:nvSpPr>
          <p:cNvPr id="13" name="!!card5">
            <a:hlinkClick r:id="rId11" action="ppaction://hlinksldjump"/>
          </p:cNvPr>
          <p:cNvSpPr/>
          <p:nvPr/>
        </p:nvSpPr>
        <p:spPr>
          <a:xfrm>
            <a:off x="548640" y="5157216"/>
            <a:ext cx="7162495" cy="78638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8288" bIns="18288">
            <a:noAutofit/>
          </a:bodyPr>
          <a:lstStyle/>
          <a:p>
            <a:pPr algn="l">
              <a:lnSpc>
                <a:spcPts val="2879"/>
              </a:lnSpc>
              <a:spcBef>
                <a:spcPts val="0"/>
              </a:spcBef>
              <a:spcAft>
                <a:spcPts val="0"/>
              </a:spcAft>
            </a:pPr>
            <a:r>
              <a:rPr sz="3000" b="1" i="0">
                <a:solidFill>
                  <a:srgbClr val="B4432F"/>
                </a:solidFill>
                <a:latin typeface="Cormorant Garamond" panose="02020404030301010803" pitchFamily="18"/>
              </a:rPr>
              <a:t>05  </a:t>
            </a:r>
            <a:r>
              <a:rPr sz="2200" b="1" i="0">
                <a:solidFill>
                  <a:srgbClr val="2E4257"/>
                </a:solidFill>
                <a:latin typeface="Be Vietnam Pro" panose="020F0502020204030204" pitchFamily="34"/>
              </a:rPr>
              <a:t>Conclusion — </a:t>
            </a:r>
            <a:r>
              <a:rPr sz="2000" b="0" i="0">
                <a:solidFill>
                  <a:srgbClr val="2E4257"/>
                </a:solidFill>
                <a:latin typeface="Be Vietnam Pro" panose="020F0502020204030204" pitchFamily="34"/>
              </a:rPr>
              <a:t>Findings, significance, limitations, further research</a:t>
            </a:r>
          </a:p>
        </p:txBody>
      </p:sp>
      <p:pic>
        <p:nvPicPr>
          <p:cNvPr id="14" name="!!art" descr="Engraving-style globe (original illustration)"/>
          <p:cNvPicPr>
            <a:picLocks noChangeAspect="1"/>
          </p:cNvPicPr>
          <p:nvPr/>
        </p:nvPicPr>
        <p:blipFill>
          <a:blip r:embed="rId5"/>
          <a:stretch>
            <a:fillRect/>
          </a:stretch>
        </p:blipFill>
        <p:spPr>
          <a:xfrm>
            <a:off x="8138160" y="1614569"/>
            <a:ext cx="3566160" cy="4177501"/>
          </a:xfrm>
          <a:prstGeom prst="rect">
            <a:avLst/>
          </a:prstGeom>
        </p:spPr>
      </p:pic>
      <p:sp>
        <p:nvSpPr>
          <p:cNvPr id="15" name="TextBox 14"/>
          <p:cNvSpPr txBox="1"/>
          <p:nvPr/>
        </p:nvSpPr>
        <p:spPr>
          <a:xfrm>
            <a:off x="548640" y="6053328"/>
            <a:ext cx="731520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Click a part to jump to its opening slide.</a:t>
            </a:r>
          </a:p>
        </p:txBody>
      </p:sp>
      <p:sp>
        <p:nvSpPr>
          <p:cNvPr id="16"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414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3835" y="493402"/>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515506" y="6240129"/>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454202" y="1241954"/>
            <a:ext cx="256032" cy="256032"/>
          </a:xfrm>
          <a:prstGeom prst="rect">
            <a:avLst/>
          </a:prstGeom>
        </p:spPr>
      </p:pic>
      <p:sp>
        <p:nvSpPr>
          <p:cNvPr id="2" name="!!title"/>
          <p:cNvSpPr>
            <a:spLocks noGrp="1"/>
          </p:cNvSpPr>
          <p:nvPr>
            <p:ph type="title"/>
          </p:nvPr>
        </p:nvSpPr>
        <p:spPr>
          <a:xfrm>
            <a:off x="548640" y="4978399"/>
            <a:ext cx="7680960" cy="599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Introduction</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Why the IBRD matters for Vietnam after IDA</a:t>
            </a:r>
          </a:p>
        </p:txBody>
      </p:sp>
      <p:sp>
        <p:nvSpPr>
          <p:cNvPr id="9" name="!!section"/>
          <p:cNvSpPr txBox="1"/>
          <p:nvPr/>
        </p:nvSpPr>
        <p:spPr>
          <a:xfrm>
            <a:off x="457200" y="502920"/>
            <a:ext cx="11277295" cy="2933700"/>
          </a:xfrm>
          <a:prstGeom prst="rect">
            <a:avLst/>
          </a:prstGeom>
          <a:noFill/>
        </p:spPr>
        <p:txBody>
          <a:bodyPr wrap="square" lIns="0" rIns="0" tIns="18288" bIns="18288" anchor="t">
            <a:noAutofit/>
          </a:bodyPr>
          <a:lstStyle/>
          <a:p>
            <a:pPr algn="l">
              <a:lnSpc>
                <a:spcPts val="20900"/>
              </a:lnSpc>
              <a:spcBef>
                <a:spcPts val="0"/>
              </a:spcBef>
              <a:spcAft>
                <a:spcPts val="0"/>
              </a:spcAft>
            </a:pPr>
            <a:r>
              <a:rPr sz="22000" b="0" i="0" spc="600">
                <a:solidFill>
                  <a:srgbClr val="F4ECD8"/>
                </a:solidFill>
                <a:latin typeface="Cormorant Garamond" panose="02020404030301010803" pitchFamily="18"/>
              </a:rPr>
              <a:t>INTRO</a:t>
            </a:r>
          </a:p>
        </p:txBody>
      </p:sp>
      <p:pic>
        <p:nvPicPr>
          <p:cNvPr id="10" name="!!art" descr="Original engraving-style illustration"/>
          <p:cNvPicPr>
            <a:picLocks noChangeAspect="1"/>
          </p:cNvPicPr>
          <p:nvPr/>
        </p:nvPicPr>
        <p:blipFill>
          <a:blip r:embed="rId5"/>
          <a:stretch>
            <a:fillRect/>
          </a:stretch>
        </p:blipFill>
        <p:spPr>
          <a:xfrm>
            <a:off x="8744786" y="3017520"/>
            <a:ext cx="2810107" cy="3291840"/>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55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05339" y="412465"/>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44972" y="647068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7791" y="324538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The role of multilateral development finance</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Funding gap:</a:t>
            </a:r>
            <a:r>
              <a:rPr sz="2400" b="0" i="0">
                <a:solidFill>
                  <a:srgbClr val="2E4257"/>
                </a:solidFill>
                <a:latin typeface="Be Vietnam Pro" panose="020F0502020204030204" pitchFamily="34"/>
              </a:rPr>
              <a:t> long-term investment needs far exceed domestic resources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Costly markets:</a:t>
            </a:r>
            <a:r>
              <a:rPr sz="2400" b="0" i="0">
                <a:solidFill>
                  <a:srgbClr val="2E4257"/>
                </a:solidFill>
                <a:latin typeface="Be Vietnam Pro" panose="020F0502020204030204" pitchFamily="34"/>
              </a:rPr>
              <a:t> international borrowing is costly, short-term or unavailable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MDB advantage:</a:t>
            </a:r>
            <a:r>
              <a:rPr sz="2400" b="0" i="0">
                <a:solidFill>
                  <a:srgbClr val="2E4257"/>
                </a:solidFill>
                <a:latin typeface="Be Vietnam Pro" panose="020F0502020204030204" pitchFamily="34"/>
              </a:rPr>
              <a:t> cheap funds passed on as longer maturities, lower rates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Crisis role:</a:t>
            </a:r>
            <a:r>
              <a:rPr sz="2400" b="0" i="0">
                <a:solidFill>
                  <a:srgbClr val="2E4257"/>
                </a:solidFill>
                <a:latin typeface="Be Vietnam Pro" panose="020F0502020204030204" pitchFamily="34"/>
              </a:rPr>
              <a:t> MDBs expanded lending in 2008 and COVID-19</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Beyond finance:</a:t>
            </a:r>
            <a:r>
              <a:rPr sz="2400" b="0" i="0">
                <a:solidFill>
                  <a:srgbClr val="2E4257"/>
                </a:solidFill>
                <a:latin typeface="Be Vietnam Pro" panose="020F0502020204030204" pitchFamily="34"/>
              </a:rPr>
              <a:t> co-financing, guarantees, appraisal, technical assistance, standards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1.1 · p. 4</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25910"/>
            <a:ext cx="2834640" cy="3320578"/>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9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23095" y="42570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00192" y="6455532"/>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5866" y="378719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Vietnam's shift from IDA to IBRD</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1.2 · p. 4</a:t>
            </a:r>
          </a:p>
        </p:txBody>
      </p:sp>
      <p:sp>
        <p:nvSpPr>
          <p:cNvPr id="10" name="!!axis"/>
          <p:cNvSpPr/>
          <p:nvPr/>
        </p:nvSpPr>
        <p:spPr>
          <a:xfrm>
            <a:off x="548640" y="2825496"/>
            <a:ext cx="11094415" cy="27432"/>
          </a:xfrm>
          <a:prstGeom prst="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1" name="Date 1"/>
          <p:cNvSpPr txBox="1"/>
          <p:nvPr/>
        </p:nvSpPr>
        <p:spPr>
          <a:xfrm>
            <a:off x="548640"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2007</a:t>
            </a:r>
          </a:p>
        </p:txBody>
      </p:sp>
      <p:sp>
        <p:nvSpPr>
          <p:cNvPr id="12" name="!!tick1"/>
          <p:cNvSpPr/>
          <p:nvPr/>
        </p:nvSpPr>
        <p:spPr>
          <a:xfrm>
            <a:off x="566928"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3" name="Event 1"/>
          <p:cNvSpPr txBox="1"/>
          <p:nvPr/>
        </p:nvSpPr>
        <p:spPr>
          <a:xfrm>
            <a:off x="548640" y="3172968"/>
            <a:ext cx="1944563" cy="9601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Bank declares Vietnam IBRD-eligible</a:t>
            </a:r>
          </a:p>
        </p:txBody>
      </p:sp>
      <p:sp>
        <p:nvSpPr>
          <p:cNvPr id="14" name="Date 2"/>
          <p:cNvSpPr txBox="1"/>
          <p:nvPr/>
        </p:nvSpPr>
        <p:spPr>
          <a:xfrm>
            <a:off x="2767523" y="2212848"/>
            <a:ext cx="1944563" cy="548640"/>
          </a:xfrm>
          <a:prstGeom prst="rect">
            <a:avLst/>
          </a:prstGeom>
          <a:noFill/>
        </p:spPr>
        <p:txBody>
          <a:bodyPr wrap="square" lIns="0" rIns="0" tIns="18288" bIns="18288" anchor="t">
            <a:noAutofit/>
          </a:bodyPr>
          <a:lstStyle/>
          <a:p>
            <a:pPr algn="l">
              <a:lnSpc>
                <a:spcPts val="2640"/>
              </a:lnSpc>
              <a:spcBef>
                <a:spcPts val="0"/>
              </a:spcBef>
              <a:spcAft>
                <a:spcPts val="0"/>
              </a:spcAft>
            </a:pPr>
            <a:r>
              <a:rPr sz="2200" b="1" i="0">
                <a:solidFill>
                  <a:srgbClr val="2E4257"/>
                </a:solidFill>
                <a:latin typeface="Cormorant Garamond" panose="02020404030301010803" pitchFamily="18"/>
              </a:rPr>
              <a:t>December 2009</a:t>
            </a:r>
          </a:p>
        </p:txBody>
      </p:sp>
      <p:sp>
        <p:nvSpPr>
          <p:cNvPr id="15" name="!!tick2"/>
          <p:cNvSpPr/>
          <p:nvPr/>
        </p:nvSpPr>
        <p:spPr>
          <a:xfrm>
            <a:off x="2785811"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6" name="Event 2"/>
          <p:cNvSpPr txBox="1"/>
          <p:nvPr/>
        </p:nvSpPr>
        <p:spPr>
          <a:xfrm>
            <a:off x="2767523" y="3172968"/>
            <a:ext cx="1944563" cy="15697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First IBRD loan: US$500 million Public Investment Reform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1</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7" action="ppaction://hlinksldjump"/>
              </a:rPr>
              <a:t>2</a:t>
            </a:r>
            <a:r>
              <a:rPr sz="2000" b="0" i="0">
                <a:solidFill>
                  <a:srgbClr val="2E4257"/>
                </a:solidFill>
                <a:latin typeface="Be Vietnam Pro" panose="020F0502020204030204" pitchFamily="34"/>
              </a:rPr>
              <a:t>]</a:t>
            </a:r>
          </a:p>
        </p:txBody>
      </p:sp>
      <p:sp>
        <p:nvSpPr>
          <p:cNvPr id="17" name="Date 3"/>
          <p:cNvSpPr txBox="1"/>
          <p:nvPr/>
        </p:nvSpPr>
        <p:spPr>
          <a:xfrm>
            <a:off x="4986406"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July 2017</a:t>
            </a:r>
          </a:p>
        </p:txBody>
      </p:sp>
      <p:sp>
        <p:nvSpPr>
          <p:cNvPr id="18" name="!!tick3"/>
          <p:cNvSpPr/>
          <p:nvPr/>
        </p:nvSpPr>
        <p:spPr>
          <a:xfrm>
            <a:off x="5004694"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9" name="Event 3"/>
          <p:cNvSpPr txBox="1"/>
          <p:nvPr/>
        </p:nvSpPr>
        <p:spPr>
          <a:xfrm>
            <a:off x="4986406" y="3172968"/>
            <a:ext cx="1944563" cy="12649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Graduates from IDA; no more regular IDA credits</a:t>
            </a:r>
          </a:p>
        </p:txBody>
      </p:sp>
      <p:sp>
        <p:nvSpPr>
          <p:cNvPr id="20" name="Date 4"/>
          <p:cNvSpPr txBox="1"/>
          <p:nvPr/>
        </p:nvSpPr>
        <p:spPr>
          <a:xfrm>
            <a:off x="7205289"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2018 →</a:t>
            </a:r>
          </a:p>
        </p:txBody>
      </p:sp>
      <p:sp>
        <p:nvSpPr>
          <p:cNvPr id="21" name="!!tick4"/>
          <p:cNvSpPr/>
          <p:nvPr/>
        </p:nvSpPr>
        <p:spPr>
          <a:xfrm>
            <a:off x="7223577"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2" name="Event 4"/>
          <p:cNvSpPr txBox="1"/>
          <p:nvPr/>
        </p:nvSpPr>
        <p:spPr>
          <a:xfrm>
            <a:off x="7205289" y="3172968"/>
            <a:ext cx="1944563" cy="21793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IBRD and non-concessional IDA only; IDA18 transitional support (FY18–20)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3</a:t>
            </a:r>
            <a:r>
              <a:rPr sz="2000" b="0" i="0">
                <a:solidFill>
                  <a:srgbClr val="2E4257"/>
                </a:solidFill>
                <a:latin typeface="Be Vietnam Pro" panose="020F0502020204030204" pitchFamily="34"/>
              </a:rPr>
              <a:t>]</a:t>
            </a:r>
          </a:p>
        </p:txBody>
      </p:sp>
      <p:sp>
        <p:nvSpPr>
          <p:cNvPr id="23" name="Date 5"/>
          <p:cNvSpPr txBox="1"/>
          <p:nvPr/>
        </p:nvSpPr>
        <p:spPr>
          <a:xfrm>
            <a:off x="9424172"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July 2026</a:t>
            </a:r>
          </a:p>
        </p:txBody>
      </p:sp>
      <p:sp>
        <p:nvSpPr>
          <p:cNvPr id="24" name="!!tick5"/>
          <p:cNvSpPr/>
          <p:nvPr/>
        </p:nvSpPr>
        <p:spPr>
          <a:xfrm>
            <a:off x="9442460"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5" name="Event 5"/>
          <p:cNvSpPr txBox="1"/>
          <p:nvPr/>
        </p:nvSpPr>
        <p:spPr>
          <a:xfrm>
            <a:off x="9424172" y="3172968"/>
            <a:ext cx="1944563" cy="15697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Reclassified as an upper-middle-income economy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9" action="ppaction://hlinksldjump"/>
              </a:rPr>
              <a:t>4</a:t>
            </a:r>
            <a:r>
              <a:rPr sz="2000" b="0" i="0">
                <a:solidFill>
                  <a:srgbClr val="2E4257"/>
                </a:solidFill>
                <a:latin typeface="Be Vietnam Pro" panose="020F0502020204030204" pitchFamily="34"/>
              </a:rPr>
              <a:t>]</a:t>
            </a:r>
          </a:p>
        </p:txBody>
      </p:sp>
      <p:sp>
        <p:nvSpPr>
          <p:cNvPr id="26"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82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75489" y="21872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7320" y="640094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0523" y="323309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Why the IBRD matters now</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Main source:</a:t>
            </a:r>
            <a:r>
              <a:rPr sz="2400" b="0" i="0">
                <a:solidFill>
                  <a:srgbClr val="2E4257"/>
                </a:solidFill>
                <a:latin typeface="Be Vietnam Pro" panose="020F0502020204030204" pitchFamily="34"/>
              </a:rPr>
              <a:t> the IBRD is now Vietnam's main source of World Bank financing</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Middle path:</a:t>
            </a:r>
            <a:r>
              <a:rPr sz="2400" b="0" i="0">
                <a:solidFill>
                  <a:srgbClr val="2E4257"/>
                </a:solidFill>
                <a:latin typeface="Be Vietnam Pro" panose="020F0502020204030204" pitchFamily="34"/>
              </a:rPr>
              <a:t> dearer than IDA credits, but cheaper and longer-term than most commercial loans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Growing needs:</a:t>
            </a:r>
            <a:r>
              <a:rPr sz="2400" b="0" i="0">
                <a:solidFill>
                  <a:srgbClr val="2E4257"/>
                </a:solidFill>
                <a:latin typeface="Be Vietnam Pro" panose="020F0502020204030204" pitchFamily="34"/>
              </a:rPr>
              <a:t> official financing alone will not be enough; capital markets at higher cost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Careful choices:</a:t>
            </a:r>
            <a:r>
              <a:rPr sz="2400" b="0" i="0">
                <a:solidFill>
                  <a:srgbClr val="2E4257"/>
                </a:solidFill>
                <a:latin typeface="Be Vietnam Pro" panose="020F0502020204030204" pitchFamily="34"/>
              </a:rPr>
              <a:t> higher costs mean projects must be chosen and managed more carefully</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Beyond money:</a:t>
            </a:r>
            <a:r>
              <a:rPr sz="2400" b="0" i="0">
                <a:solidFill>
                  <a:srgbClr val="2E4257"/>
                </a:solidFill>
                <a:latin typeface="Be Vietnam Pro" panose="020F0502020204030204" pitchFamily="34"/>
              </a:rPr>
              <a:t> appraisal, technical advice and international standards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1.2 · p. 5</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878328"/>
            <a:ext cx="2834640" cy="2015744"/>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96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12002" y="415031"/>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04654" y="637856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02225" y="308249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Research problem and four questions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2 · p. 5–6</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IBRD loans have different terms and procedures from the concessional credits Vietnam knew.</a:t>
            </a:r>
          </a:p>
        </p:txBody>
      </p:sp>
      <p:sp>
        <p:nvSpPr>
          <p:cNvPr id="11" name="!!card1"/>
          <p:cNvSpPr/>
          <p:nvPr/>
        </p:nvSpPr>
        <p:spPr>
          <a:xfrm>
            <a:off x="548640" y="2151888"/>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Q1</a:t>
            </a:r>
          </a:p>
          <a:p>
            <a:pPr algn="l">
              <a:lnSpc>
                <a:spcPts val="2400"/>
              </a:lnSpc>
              <a:spcBef>
                <a:spcPts val="0"/>
              </a:spcBef>
              <a:spcAft>
                <a:spcPts val="0"/>
              </a:spcAft>
            </a:pPr>
            <a:r>
              <a:rPr sz="2000" b="0" i="0">
                <a:solidFill>
                  <a:srgbClr val="2E4257"/>
                </a:solidFill>
                <a:latin typeface="Be Vietnam Pro" panose="020F0502020204030204" pitchFamily="34"/>
              </a:rPr>
              <a:t>What is the IBRD, and how was it formed and developed?</a:t>
            </a:r>
          </a:p>
        </p:txBody>
      </p:sp>
      <p:sp>
        <p:nvSpPr>
          <p:cNvPr id="12" name="!!card2"/>
          <p:cNvSpPr/>
          <p:nvPr/>
        </p:nvSpPr>
        <p:spPr>
          <a:xfrm>
            <a:off x="6233007" y="2151888"/>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Q2</a:t>
            </a:r>
          </a:p>
          <a:p>
            <a:pPr algn="l">
              <a:lnSpc>
                <a:spcPts val="2400"/>
              </a:lnSpc>
              <a:spcBef>
                <a:spcPts val="0"/>
              </a:spcBef>
              <a:spcAft>
                <a:spcPts val="0"/>
              </a:spcAft>
            </a:pPr>
            <a:r>
              <a:rPr sz="2000" b="0" i="0">
                <a:solidFill>
                  <a:srgbClr val="2E4257"/>
                </a:solidFill>
                <a:latin typeface="Be Vietnam Pro" panose="020F0502020204030204" pitchFamily="34"/>
              </a:rPr>
              <a:t>How is the IBRD organized and funded, and on what terms does it lend?</a:t>
            </a:r>
          </a:p>
        </p:txBody>
      </p:sp>
      <p:sp>
        <p:nvSpPr>
          <p:cNvPr id="13" name="!!card3"/>
          <p:cNvSpPr/>
          <p:nvPr/>
        </p:nvSpPr>
        <p:spPr>
          <a:xfrm>
            <a:off x="548640" y="3886200"/>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Q3</a:t>
            </a:r>
          </a:p>
          <a:p>
            <a:pPr algn="l">
              <a:lnSpc>
                <a:spcPts val="2400"/>
              </a:lnSpc>
              <a:spcBef>
                <a:spcPts val="0"/>
              </a:spcBef>
              <a:spcAft>
                <a:spcPts val="0"/>
              </a:spcAft>
            </a:pPr>
            <a:r>
              <a:rPr sz="2000" b="0" i="0">
                <a:solidFill>
                  <a:srgbClr val="2E4257"/>
                </a:solidFill>
                <a:latin typeface="Be Vietnam Pro" panose="020F0502020204030204" pitchFamily="34"/>
              </a:rPr>
              <a:t>How does the IBRD support project financing through financial, technical and training assistance?</a:t>
            </a:r>
          </a:p>
        </p:txBody>
      </p:sp>
      <p:sp>
        <p:nvSpPr>
          <p:cNvPr id="14" name="!!card4"/>
          <p:cNvSpPr/>
          <p:nvPr/>
        </p:nvSpPr>
        <p:spPr>
          <a:xfrm>
            <a:off x="6233007" y="3886200"/>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Q4</a:t>
            </a:r>
          </a:p>
          <a:p>
            <a:pPr algn="l">
              <a:lnSpc>
                <a:spcPts val="2400"/>
              </a:lnSpc>
              <a:spcBef>
                <a:spcPts val="0"/>
              </a:spcBef>
              <a:spcAft>
                <a:spcPts val="0"/>
              </a:spcAft>
            </a:pPr>
            <a:r>
              <a:rPr sz="2000" b="0" i="0">
                <a:solidFill>
                  <a:srgbClr val="2E4257"/>
                </a:solidFill>
                <a:latin typeface="Be Vietnam Pro" panose="020F0502020204030204" pitchFamily="34"/>
              </a:rPr>
              <a:t>What results and limitations have selected IBRD-supported projects in Vietnam shown, and what lessons follow?</a:t>
            </a:r>
          </a:p>
        </p:txBody>
      </p:sp>
      <p:sp>
        <p:nvSpPr>
          <p:cNvPr id="15"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10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48013" y="342204"/>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3044" y="6435636"/>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3031" y="463788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Research objectives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3 · p. 6–7</a:t>
            </a:r>
          </a:p>
        </p:txBody>
      </p:sp>
      <p:sp>
        <p:nvSpPr>
          <p:cNvPr id="10" name="!!card1"/>
          <p:cNvSpPr/>
          <p:nvPr/>
        </p:nvSpPr>
        <p:spPr>
          <a:xfrm>
            <a:off x="548640"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3.1 Mechanisms</a:t>
            </a:r>
          </a:p>
          <a:p>
            <a:pPr algn="l">
              <a:lnSpc>
                <a:spcPts val="2400"/>
              </a:lnSpc>
              <a:spcBef>
                <a:spcPts val="0"/>
              </a:spcBef>
              <a:spcAft>
                <a:spcPts val="0"/>
              </a:spcAft>
            </a:pPr>
            <a:r>
              <a:rPr sz="2000" b="0" i="0">
                <a:solidFill>
                  <a:srgbClr val="2E4257"/>
                </a:solidFill>
                <a:latin typeface="Be Vietnam Pro" panose="020F0502020204030204" pitchFamily="34"/>
              </a:rPr>
              <a:t>How the IBRD raises funds (member capital, bonds), lends (IPF, DPF, PforR, guarantees) and runs the project cycle with borrowers and co-financiers</a:t>
            </a:r>
          </a:p>
        </p:txBody>
      </p:sp>
      <p:sp>
        <p:nvSpPr>
          <p:cNvPr id="11" name="!!card2"/>
          <p:cNvSpPr/>
          <p:nvPr/>
        </p:nvSpPr>
        <p:spPr>
          <a:xfrm>
            <a:off x="6233007"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3.2 Practice in Vietnam</a:t>
            </a:r>
          </a:p>
          <a:p>
            <a:pPr algn="l">
              <a:lnSpc>
                <a:spcPts val="2400"/>
              </a:lnSpc>
              <a:spcBef>
                <a:spcPts val="0"/>
              </a:spcBef>
              <a:spcAft>
                <a:spcPts val="0"/>
              </a:spcAft>
            </a:pPr>
            <a:r>
              <a:rPr sz="2000" b="0" i="0">
                <a:solidFill>
                  <a:srgbClr val="2E4257"/>
                </a:solidFill>
                <a:latin typeface="Be Vietnam Pro" panose="020F0502020204030204" pitchFamily="34"/>
              </a:rPr>
              <a:t>Transmission Efficiency Project (2015-2021), fully IBRD-financed; judged on relevance, effectiveness, efficiency, sustainability</a:t>
            </a:r>
          </a:p>
        </p:txBody>
      </p:sp>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4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84844" y="25686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0419" y="645859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0901" y="349012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Research methodology</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Qualitative approach:</a:t>
            </a:r>
            <a:r>
              <a:rPr sz="2400" b="0" i="0">
                <a:solidFill>
                  <a:srgbClr val="2E4257"/>
                </a:solidFill>
                <a:latin typeface="Be Vietnam Pro" panose="020F0502020204030204" pitchFamily="34"/>
              </a:rPr>
              <a:t> literature review combined with case study analysis, mainly secondary data</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Sources:</a:t>
            </a:r>
            <a:r>
              <a:rPr sz="2400" b="0" i="0">
                <a:solidFill>
                  <a:srgbClr val="2E4257"/>
                </a:solidFill>
                <a:latin typeface="Be Vietnam Pro" panose="020F0502020204030204" pitchFamily="34"/>
              </a:rPr>
              <a:t> World Bank reports and documents; Vietnamese government and ministry documents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Case study:</a:t>
            </a:r>
            <a:r>
              <a:rPr sz="2400" b="0" i="0">
                <a:solidFill>
                  <a:srgbClr val="2E4257"/>
                </a:solidFill>
                <a:latin typeface="Be Vietnam Pro" panose="020F0502020204030204" pitchFamily="34"/>
              </a:rPr>
              <a:t> TEP planned targets vs actual results, on the four criteria of Section 3.2</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Reducing bias:</a:t>
            </a:r>
            <a:r>
              <a:rPr sz="2400" b="0" i="0">
                <a:solidFill>
                  <a:srgbClr val="2E4257"/>
                </a:solidFill>
                <a:latin typeface="Be Vietnam Pro" panose="020F0502020204030204" pitchFamily="34"/>
              </a:rPr>
              <a:t> World Bank data checked against IEG and Vietnamese government sources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Limits:</a:t>
            </a:r>
            <a:r>
              <a:rPr sz="2400" b="0" i="0">
                <a:solidFill>
                  <a:srgbClr val="2E4257"/>
                </a:solidFill>
                <a:latin typeface="Be Vietnam Pro" panose="020F0502020204030204" pitchFamily="34"/>
              </a:rPr>
              <a:t> no field surveys or interviews; some data from World Bank's own reports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4 · p. 7–8</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38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79771" y="29862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9298" y="6386494"/>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2943" y="308095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Research scope</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INTRO</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Introduction · 5 · p. 8</a:t>
            </a:r>
          </a:p>
        </p:txBody>
      </p:sp>
      <p:sp>
        <p:nvSpPr>
          <p:cNvPr id="10" name="!!card1"/>
          <p:cNvSpPr/>
          <p:nvPr/>
        </p:nvSpPr>
        <p:spPr>
          <a:xfrm>
            <a:off x="548640" y="157276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Subject</a:t>
            </a:r>
          </a:p>
          <a:p>
            <a:pPr algn="l">
              <a:lnSpc>
                <a:spcPts val="2400"/>
              </a:lnSpc>
              <a:spcBef>
                <a:spcPts val="0"/>
              </a:spcBef>
              <a:spcAft>
                <a:spcPts val="0"/>
              </a:spcAft>
            </a:pPr>
            <a:r>
              <a:rPr sz="2000" b="0" i="0">
                <a:solidFill>
                  <a:srgbClr val="2E4257"/>
                </a:solidFill>
                <a:latin typeface="Be Vietnam Pro" panose="020F0502020204030204" pitchFamily="34"/>
              </a:rPr>
              <a:t>The IBRD and its project financing; IDA, IFC, MIGA only for comparison</a:t>
            </a:r>
          </a:p>
        </p:txBody>
      </p:sp>
      <p:sp>
        <p:nvSpPr>
          <p:cNvPr id="11" name="!!card2"/>
          <p:cNvSpPr/>
          <p:nvPr/>
        </p:nvSpPr>
        <p:spPr>
          <a:xfrm>
            <a:off x="6233007" y="157276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Content</a:t>
            </a:r>
          </a:p>
          <a:p>
            <a:pPr algn="l">
              <a:lnSpc>
                <a:spcPts val="2400"/>
              </a:lnSpc>
              <a:spcBef>
                <a:spcPts val="0"/>
              </a:spcBef>
              <a:spcAft>
                <a:spcPts val="0"/>
              </a:spcAft>
            </a:pPr>
            <a:r>
              <a:rPr sz="2000" b="0" i="0">
                <a:solidFill>
                  <a:srgbClr val="2E4257"/>
                </a:solidFill>
                <a:latin typeface="Be Vietnam Pro" panose="020F0502020204030204" pitchFamily="34"/>
              </a:rPr>
              <a:t>Formation, funding, instruments, project cycle, financial, technical and training support</a:t>
            </a:r>
          </a:p>
        </p:txBody>
      </p:sp>
      <p:sp>
        <p:nvSpPr>
          <p:cNvPr id="12" name="!!card3"/>
          <p:cNvSpPr/>
          <p:nvPr/>
        </p:nvSpPr>
        <p:spPr>
          <a:xfrm>
            <a:off x="548640" y="3611880"/>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Space</a:t>
            </a:r>
          </a:p>
          <a:p>
            <a:pPr algn="l">
              <a:lnSpc>
                <a:spcPts val="2400"/>
              </a:lnSpc>
              <a:spcBef>
                <a:spcPts val="0"/>
              </a:spcBef>
              <a:spcAft>
                <a:spcPts val="0"/>
              </a:spcAft>
            </a:pPr>
            <a:r>
              <a:rPr sz="2000" b="0" i="0">
                <a:solidFill>
                  <a:srgbClr val="2E4257"/>
                </a:solidFill>
                <a:latin typeface="Be Vietnam Pro" panose="020F0502020204030204" pitchFamily="34"/>
              </a:rPr>
              <a:t>Vietnam; international examples only to explain how the IBRD works</a:t>
            </a:r>
          </a:p>
        </p:txBody>
      </p:sp>
      <p:sp>
        <p:nvSpPr>
          <p:cNvPr id="13" name="!!card4"/>
          <p:cNvSpPr/>
          <p:nvPr/>
        </p:nvSpPr>
        <p:spPr>
          <a:xfrm>
            <a:off x="6233007" y="3611880"/>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Time</a:t>
            </a:r>
          </a:p>
          <a:p>
            <a:pPr algn="l">
              <a:lnSpc>
                <a:spcPts val="2400"/>
              </a:lnSpc>
              <a:spcBef>
                <a:spcPts val="0"/>
              </a:spcBef>
              <a:spcAft>
                <a:spcPts val="0"/>
              </a:spcAft>
            </a:pPr>
            <a:r>
              <a:rPr sz="2000" b="0" i="0">
                <a:solidFill>
                  <a:srgbClr val="2E4257"/>
                </a:solidFill>
                <a:latin typeface="Be Vietnam Pro" panose="020F0502020204030204" pitchFamily="34"/>
              </a:rPr>
              <a:t>2014 to the present, with special attention to the years after 2017</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1518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857495" y="805383"/>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03428" y="6296770"/>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265458" y="1728638"/>
            <a:ext cx="256032" cy="256032"/>
          </a:xfrm>
          <a:prstGeom prst="rect">
            <a:avLst/>
          </a:prstGeom>
        </p:spPr>
      </p:pic>
      <p:sp>
        <p:nvSpPr>
          <p:cNvPr id="2" name="!!title"/>
          <p:cNvSpPr>
            <a:spLocks noGrp="1"/>
          </p:cNvSpPr>
          <p:nvPr>
            <p:ph type="title"/>
          </p:nvPr>
        </p:nvSpPr>
        <p:spPr>
          <a:xfrm>
            <a:off x="548640" y="4978399"/>
            <a:ext cx="7680960" cy="599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Overview of the IBRD</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Chapter 1</a:t>
            </a:r>
          </a:p>
        </p:txBody>
      </p:sp>
      <p:sp>
        <p:nvSpPr>
          <p:cNvPr id="9" name="!!section"/>
          <p:cNvSpPr txBox="1"/>
          <p:nvPr/>
        </p:nvSpPr>
        <p:spPr>
          <a:xfrm>
            <a:off x="457200" y="502920"/>
            <a:ext cx="11277295" cy="2933700"/>
          </a:xfrm>
          <a:prstGeom prst="rect">
            <a:avLst/>
          </a:prstGeom>
          <a:noFill/>
        </p:spPr>
        <p:txBody>
          <a:bodyPr wrap="square" lIns="0" rIns="0" tIns="18288" bIns="18288" anchor="t">
            <a:noAutofit/>
          </a:bodyPr>
          <a:lstStyle/>
          <a:p>
            <a:pPr algn="l">
              <a:lnSpc>
                <a:spcPts val="20900"/>
              </a:lnSpc>
              <a:spcBef>
                <a:spcPts val="0"/>
              </a:spcBef>
              <a:spcAft>
                <a:spcPts val="0"/>
              </a:spcAft>
            </a:pPr>
            <a:r>
              <a:rPr sz="22000" b="0" i="0" spc="600">
                <a:solidFill>
                  <a:srgbClr val="F4ECD8"/>
                </a:solidFill>
                <a:latin typeface="Cormorant Garamond" panose="02020404030301010803" pitchFamily="18"/>
              </a:rPr>
              <a:t>BANK</a:t>
            </a:r>
          </a:p>
        </p:txBody>
      </p:sp>
      <p:pic>
        <p:nvPicPr>
          <p:cNvPr id="10" name="!!art" descr="Original engraving-style illustration"/>
          <p:cNvPicPr>
            <a:picLocks noChangeAspect="1"/>
          </p:cNvPicPr>
          <p:nvPr/>
        </p:nvPicPr>
        <p:blipFill>
          <a:blip r:embed="rId5"/>
          <a:stretch>
            <a:fillRect/>
          </a:stretch>
        </p:blipFill>
        <p:spPr>
          <a:xfrm>
            <a:off x="8503920" y="3493008"/>
            <a:ext cx="3291840" cy="2340864"/>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11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65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22184" y="18461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78409" y="6397968"/>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5034" y="256058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Definition, mission and borrowers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Cooperative:</a:t>
            </a:r>
            <a:r>
              <a:rPr sz="2400" b="0" i="0">
                <a:solidFill>
                  <a:srgbClr val="2E4257"/>
                </a:solidFill>
                <a:latin typeface="Be Vietnam Pro" panose="020F0502020204030204" pitchFamily="34"/>
              </a:rPr>
              <a:t> a global development cooperative owned by 189 member countries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World Bank:</a:t>
            </a:r>
            <a:r>
              <a:rPr sz="2400" b="0" i="0">
                <a:solidFill>
                  <a:srgbClr val="2E4257"/>
                </a:solidFill>
                <a:latin typeface="Be Vietnam Pro" panose="020F0502020204030204" pitchFamily="34"/>
              </a:rPr>
              <a:t> one of five World Bank Group institutions; with IDA forms the World Bank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Not profit-maximizing:</a:t>
            </a:r>
            <a:r>
              <a:rPr sz="2400" b="0" i="0">
                <a:solidFill>
                  <a:srgbClr val="2E4257"/>
                </a:solidFill>
                <a:latin typeface="Be Vietnam Pro" panose="020F0502020204030204" pitchFamily="34"/>
              </a:rPr>
              <a:t> raises funds on capital markets and lends for development purposes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Mission:</a:t>
            </a:r>
            <a:r>
              <a:rPr sz="2400" b="0" i="0">
                <a:solidFill>
                  <a:srgbClr val="2E4257"/>
                </a:solidFill>
                <a:latin typeface="Be Vietnam Pro" panose="020F0502020204030204" pitchFamily="34"/>
              </a:rPr>
              <a:t> end extreme poverty and boost shared prosperity on a livable planet; jobs central</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Borrowers:</a:t>
            </a:r>
            <a:r>
              <a:rPr sz="2400" b="0" i="0">
                <a:solidFill>
                  <a:srgbClr val="2E4257"/>
                </a:solidFill>
                <a:latin typeface="Be Vietnam Pro" panose="020F0502020204030204" pitchFamily="34"/>
              </a:rPr>
              <a:t> middle-income and creditworthy poorer countries, usually governments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1.1.1 · p. 10</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878328"/>
            <a:ext cx="2834640" cy="2015744"/>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79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04001" y="39792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2899" y="6455426"/>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2080" y="275478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The five institutions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1.1.2 · p. 10–11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 The five institutions of the World Bank Group</a:t>
            </a:r>
          </a:p>
        </p:txBody>
      </p:sp>
      <p:graphicFrame>
        <p:nvGraphicFramePr>
          <p:cNvPr id="11" name="!!tbl" descr="Table 1. The five institutions of the World Bank Group. Editable table, 5 rows."/>
          <p:cNvGraphicFramePr>
            <a:graphicFrameLocks noGrp="1"/>
          </p:cNvGraphicFramePr>
          <p:nvPr/>
        </p:nvGraphicFramePr>
        <p:xfrm>
          <a:off x="548640" y="1938528"/>
          <a:ext cx="11094414" cy="2512770"/>
        </p:xfrm>
        <a:graphic>
          <a:graphicData uri="http://schemas.openxmlformats.org/drawingml/2006/table">
            <a:tbl>
              <a:tblPr firstRow="1" bandRow="0">
                <a:tableStyleId>{5940675A-B579-460E-94D1-54222C63F5DA}</a:tableStyleId>
              </a:tblPr>
              <a:tblGrid>
                <a:gridCol w="1726660"/>
                <a:gridCol w="1859204"/>
                <a:gridCol w="7508550"/>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Institution</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Year founded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Main clients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1944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Governments of middle-income and creditworthy poorer countries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IDA</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1960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Governments of the poorest countries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IFC</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1956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Private enterprises in developing countries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MIGA</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1988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Foreign investors and lenders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ICSID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1966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Governments and foreign investors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6" action="ppaction://hlinksldjump"/>
              </a:rPr>
              <a:t>7</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 and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7" action="ppaction://hlinksldjump"/>
              </a:rPr>
              <a:t>8</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3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26962" y="219794"/>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7483" y="641139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26631" y="395166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The five institutions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1.1.2 · p. 11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 The five institutions of the World Bank Group</a:t>
            </a:r>
          </a:p>
        </p:txBody>
      </p:sp>
      <p:graphicFrame>
        <p:nvGraphicFramePr>
          <p:cNvPr id="11" name="!!tbl" descr="Table 1. The five institutions of the World Bank Group. Editable table, 5 rows."/>
          <p:cNvGraphicFramePr>
            <a:graphicFrameLocks noGrp="1"/>
          </p:cNvGraphicFramePr>
          <p:nvPr/>
        </p:nvGraphicFramePr>
        <p:xfrm>
          <a:off x="548640" y="1938528"/>
          <a:ext cx="11094414" cy="3302811"/>
        </p:xfrm>
        <a:graphic>
          <a:graphicData uri="http://schemas.openxmlformats.org/drawingml/2006/table">
            <a:tbl>
              <a:tblPr firstRow="1" bandRow="0">
                <a:tableStyleId>{5940675A-B579-460E-94D1-54222C63F5DA}</a:tableStyleId>
              </a:tblPr>
              <a:tblGrid>
                <a:gridCol w="1249513"/>
                <a:gridCol w="5308205"/>
                <a:gridCol w="4536696"/>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Institution</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Main activities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Source of funds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Loans, guarantees, risk management, advisory services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Bonds on international capital markets, member capital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IDA</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Grants and very low-interest or interest-free loans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Contributions from donor countries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IFC</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Loans, equity investment, advisory services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Own capital and market borrowing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MIGA</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Insurance against political risks such as war or expropriation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Member capital and premiums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ICSID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Settling investment disputes through arbitration and conciliation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Contributions from the World Bank and fees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332780"/>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6" action="ppaction://hlinksldjump"/>
              </a:rPr>
              <a:t>7</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 and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7" action="ppaction://hlinksldjump"/>
              </a:rPr>
              <a:t>8</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07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64349" y="17385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4555" y="6370402"/>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9990" y="391838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How the IBRD differs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Oldest and largest:</a:t>
            </a:r>
            <a:r>
              <a:rPr sz="2400" b="0" i="0">
                <a:solidFill>
                  <a:srgbClr val="2E4257"/>
                </a:solidFill>
                <a:latin typeface="Be Vietnam Pro" panose="020F0502020204030204" pitchFamily="34"/>
              </a:rPr>
              <a:t> founded in 1944; the largest development bank in the world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IBRD vs IDA:</a:t>
            </a:r>
            <a:r>
              <a:rPr sz="2400" b="0" i="0">
                <a:solidFill>
                  <a:srgbClr val="2E4257"/>
                </a:solidFill>
                <a:latin typeface="Be Vietnam Pro" panose="020F0502020204030204" pitchFamily="34"/>
              </a:rPr>
              <a:t> market-based interest rates vs much cheaper, donor-funded terms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IBRD vs IFC:</a:t>
            </a:r>
            <a:r>
              <a:rPr sz="2400" b="0" i="0">
                <a:solidFill>
                  <a:srgbClr val="2E4257"/>
                </a:solidFill>
                <a:latin typeface="Be Vietnam Pro" panose="020F0502020204030204" pitchFamily="34"/>
              </a:rPr>
              <a:t> governments or guaranteed entities vs private companies without guarantee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MIGA and ICSID:</a:t>
            </a:r>
            <a:r>
              <a:rPr sz="2400" b="0" i="0">
                <a:solidFill>
                  <a:srgbClr val="2E4257"/>
                </a:solidFill>
                <a:latin typeface="Be Vietnam Pro" panose="020F0502020204030204" pitchFamily="34"/>
              </a:rPr>
              <a:t> no direct finance; reduce investor risk and settle disputes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Main channel:</a:t>
            </a:r>
            <a:r>
              <a:rPr sz="2400" b="0" i="0">
                <a:solidFill>
                  <a:srgbClr val="2E4257"/>
                </a:solidFill>
                <a:latin typeface="Be Vietnam Pro" panose="020F0502020204030204" pitchFamily="34"/>
              </a:rPr>
              <a:t> public financing to middle-income countries, hence its importance for Vietnam</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1.1.2 · p. 10–12</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25910"/>
            <a:ext cx="2834640" cy="3320578"/>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4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75071" y="30976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1703" y="647017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5136" y="468043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History in four stages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1.2 · p. 12–13</a:t>
            </a:r>
          </a:p>
        </p:txBody>
      </p:sp>
      <p:sp>
        <p:nvSpPr>
          <p:cNvPr id="10" name="!!card1"/>
          <p:cNvSpPr/>
          <p:nvPr/>
        </p:nvSpPr>
        <p:spPr>
          <a:xfrm>
            <a:off x="548640"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1944–1950s · Reconstruction</a:t>
            </a:r>
          </a:p>
          <a:p>
            <a:pPr algn="l">
              <a:lnSpc>
                <a:spcPts val="2400"/>
              </a:lnSpc>
              <a:spcBef>
                <a:spcPts val="0"/>
              </a:spcBef>
              <a:spcAft>
                <a:spcPts val="0"/>
              </a:spcAft>
            </a:pPr>
            <a:r>
              <a:rPr sz="2000" b="0" i="0">
                <a:solidFill>
                  <a:srgbClr val="2E4257"/>
                </a:solidFill>
                <a:latin typeface="Be Vietnam Pro" panose="020F0502020204030204" pitchFamily="34"/>
              </a:rPr>
              <a:t>Bretton Woods, July 1944; first loan US$250 million to France in 1947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9</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Marshall Plan turns focus to developing countries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8</a:t>
            </a:r>
            <a:r>
              <a:rPr sz="2000" b="0" i="0">
                <a:solidFill>
                  <a:srgbClr val="2E4257"/>
                </a:solidFill>
                <a:latin typeface="Be Vietnam Pro" panose="020F0502020204030204" pitchFamily="34"/>
              </a:rPr>
              <a:t>]</a:t>
            </a:r>
          </a:p>
        </p:txBody>
      </p:sp>
      <p:sp>
        <p:nvSpPr>
          <p:cNvPr id="11" name="!!card2"/>
          <p:cNvSpPr/>
          <p:nvPr/>
        </p:nvSpPr>
        <p:spPr>
          <a:xfrm>
            <a:off x="6233007"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1950s–1970s · Development</a:t>
            </a:r>
          </a:p>
          <a:p>
            <a:pPr algn="l">
              <a:lnSpc>
                <a:spcPts val="2400"/>
              </a:lnSpc>
              <a:spcBef>
                <a:spcPts val="0"/>
              </a:spcBef>
              <a:spcAft>
                <a:spcPts val="0"/>
              </a:spcAft>
            </a:pPr>
            <a:r>
              <a:rPr sz="2000" b="0" i="0">
                <a:solidFill>
                  <a:srgbClr val="2E4257"/>
                </a:solidFill>
                <a:latin typeface="Be Vietnam Pro" panose="020F0502020204030204" pitchFamily="34"/>
              </a:rPr>
              <a:t>Power, roads, railways, irrigation; IFC 1956, IDA 1960; McNamara era poverty focus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8</a:t>
            </a:r>
            <a:r>
              <a:rPr sz="2000" b="0" i="0">
                <a:solidFill>
                  <a:srgbClr val="2E4257"/>
                </a:solidFill>
                <a:latin typeface="Be Vietnam Pro" panose="020F0502020204030204" pitchFamily="34"/>
              </a:rPr>
              <a:t>]</a:t>
            </a:r>
          </a:p>
        </p:txBody>
      </p:sp>
      <p:sp>
        <p:nvSpPr>
          <p:cNvPr id="12" name="!!card3"/>
          <p:cNvSpPr/>
          <p:nvPr/>
        </p:nvSpPr>
        <p:spPr>
          <a:xfrm>
            <a:off x="548640" y="3916680"/>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1980s–1990s · Crisis and reform</a:t>
            </a:r>
          </a:p>
          <a:p>
            <a:pPr algn="l">
              <a:lnSpc>
                <a:spcPts val="2400"/>
              </a:lnSpc>
              <a:spcBef>
                <a:spcPts val="0"/>
              </a:spcBef>
              <a:spcAft>
                <a:spcPts val="0"/>
              </a:spcAft>
            </a:pPr>
            <a:r>
              <a:rPr sz="2000" b="0" i="0">
                <a:solidFill>
                  <a:srgbClr val="2E4257"/>
                </a:solidFill>
                <a:latin typeface="Be Vietnam Pro" panose="020F0502020204030204" pitchFamily="34"/>
              </a:rPr>
              <a:t>Structural adjustment lending after the debt crisis; then governance, anti-corruption, safeguards</a:t>
            </a:r>
          </a:p>
        </p:txBody>
      </p:sp>
      <p:sp>
        <p:nvSpPr>
          <p:cNvPr id="13" name="!!card4"/>
          <p:cNvSpPr/>
          <p:nvPr/>
        </p:nvSpPr>
        <p:spPr>
          <a:xfrm>
            <a:off x="6233007" y="3916680"/>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2000–present · Global goals</a:t>
            </a:r>
          </a:p>
          <a:p>
            <a:pPr algn="l">
              <a:lnSpc>
                <a:spcPts val="2400"/>
              </a:lnSpc>
              <a:spcBef>
                <a:spcPts val="0"/>
              </a:spcBef>
              <a:spcAft>
                <a:spcPts val="0"/>
              </a:spcAft>
            </a:pPr>
            <a:r>
              <a:rPr sz="2000" b="0" i="0">
                <a:solidFill>
                  <a:srgbClr val="2E4257"/>
                </a:solidFill>
                <a:latin typeface="Be Vietnam Pro" panose="020F0502020204030204" pitchFamily="34"/>
              </a:rPr>
              <a:t>Counter-cyclical lending in 2008 and COVID-19; 2013 twin goals; livable planet, jobs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8</a:t>
            </a:r>
            <a:r>
              <a:rPr sz="2000" b="0" i="0">
                <a:solidFill>
                  <a:srgbClr val="2E4257"/>
                </a:solidFill>
                <a:latin typeface="Be Vietnam Pro" panose="020F0502020204030204" pitchFamily="34"/>
              </a:rPr>
              <a:t>]</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96285" y="18534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5430" y="644801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8810" y="451260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Governance: three levels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1.3.1 · p. 13–14</a:t>
            </a:r>
          </a:p>
        </p:txBody>
      </p:sp>
      <p:sp>
        <p:nvSpPr>
          <p:cNvPr id="10" name="!!card1"/>
          <p:cNvSpPr/>
          <p:nvPr/>
        </p:nvSpPr>
        <p:spPr>
          <a:xfrm>
            <a:off x="548640"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Board of Governors</a:t>
            </a:r>
          </a:p>
          <a:p>
            <a:pPr algn="l">
              <a:lnSpc>
                <a:spcPts val="2400"/>
              </a:lnSpc>
              <a:spcBef>
                <a:spcPts val="0"/>
              </a:spcBef>
              <a:spcAft>
                <a:spcPts val="0"/>
              </a:spcAft>
            </a:pPr>
            <a:r>
              <a:rPr sz="2000" b="0" i="0">
                <a:solidFill>
                  <a:srgbClr val="2E4257"/>
                </a:solidFill>
                <a:latin typeface="Be Vietnam Pro" panose="020F0502020204030204" pitchFamily="34"/>
              </a:rPr>
              <a:t>Highest body; one Governor per member; meets once a year; admits members, changes capital</a:t>
            </a:r>
          </a:p>
        </p:txBody>
      </p:sp>
      <p:sp>
        <p:nvSpPr>
          <p:cNvPr id="11" name="!!card2"/>
          <p:cNvSpPr/>
          <p:nvPr/>
        </p:nvSpPr>
        <p:spPr>
          <a:xfrm>
            <a:off x="4338218"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Board of Executive Directors</a:t>
            </a:r>
          </a:p>
          <a:p>
            <a:pPr algn="l">
              <a:lnSpc>
                <a:spcPts val="2400"/>
              </a:lnSpc>
              <a:spcBef>
                <a:spcPts val="0"/>
              </a:spcBef>
              <a:spcAft>
                <a:spcPts val="0"/>
              </a:spcAft>
            </a:pPr>
            <a:r>
              <a:rPr sz="2000" b="0" i="0">
                <a:solidFill>
                  <a:srgbClr val="2E4257"/>
                </a:solidFill>
                <a:latin typeface="Be Vietnam Pro" panose="020F0502020204030204" pitchFamily="34"/>
              </a:rPr>
              <a:t>President and 25 Executive Directors; meets several times a week; approves loans, budget</a:t>
            </a:r>
          </a:p>
        </p:txBody>
      </p:sp>
      <p:sp>
        <p:nvSpPr>
          <p:cNvPr id="12" name="!!card3"/>
          <p:cNvSpPr/>
          <p:nvPr/>
        </p:nvSpPr>
        <p:spPr>
          <a:xfrm>
            <a:off x="8127796"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President</a:t>
            </a:r>
          </a:p>
          <a:p>
            <a:pPr algn="l">
              <a:lnSpc>
                <a:spcPts val="2400"/>
              </a:lnSpc>
              <a:spcBef>
                <a:spcPts val="0"/>
              </a:spcBef>
              <a:spcAft>
                <a:spcPts val="0"/>
              </a:spcAft>
            </a:pPr>
            <a:r>
              <a:rPr sz="2000" b="0" i="0">
                <a:solidFill>
                  <a:srgbClr val="2E4257"/>
                </a:solidFill>
                <a:latin typeface="Be Vietnam Pro" panose="020F0502020204030204" pitchFamily="34"/>
              </a:rPr>
              <a:t>Chairs the Board, leads the Group; five-year term; Ajay Banga since 2 June 2023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10</a:t>
            </a:r>
            <a:r>
              <a:rPr sz="2000" b="0" i="0">
                <a:solidFill>
                  <a:srgbClr val="2E4257"/>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32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13787" y="337370"/>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3114" y="644132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6174" y="328369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Voting power follows shares</a:t>
            </a:r>
          </a:p>
        </p:txBody>
      </p:sp>
      <p:sp>
        <p:nvSpPr>
          <p:cNvPr id="3" name="!!body"/>
          <p:cNvSpPr>
            <a:spLocks noGrp="1"/>
          </p:cNvSpPr>
          <p:nvPr>
            <p:ph idx="1"/>
          </p:nvPr>
        </p:nvSpPr>
        <p:spPr>
          <a:xfrm>
            <a:off x="548640" y="2731008"/>
            <a:ext cx="11094415" cy="356006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One share, one vote:</a:t>
            </a:r>
            <a:r>
              <a:rPr sz="2400" b="0" i="0">
                <a:solidFill>
                  <a:srgbClr val="2E4257"/>
                </a:solidFill>
                <a:latin typeface="Be Vietnam Pro" panose="020F0502020204030204" pitchFamily="34"/>
              </a:rPr>
              <a:t> basic votes shared equally plus one vote per share held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Effective veto:</a:t>
            </a:r>
            <a:r>
              <a:rPr sz="2400" b="0" i="0">
                <a:solidFill>
                  <a:srgbClr val="2E4257"/>
                </a:solidFill>
                <a:latin typeface="Be Vietnam Pro" panose="020F0502020204030204" pitchFamily="34"/>
              </a:rPr>
              <a:t> the United States can block decisions needing an 85 percent majority</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Reforms:</a:t>
            </a:r>
            <a:r>
              <a:rPr sz="2400" b="0" i="0">
                <a:solidFill>
                  <a:srgbClr val="2E4257"/>
                </a:solidFill>
                <a:latin typeface="Be Vietnam Pro" panose="020F0502020204030204" pitchFamily="34"/>
              </a:rPr>
              <a:t> 2008–2010 reforms raised basic votes, shifting power to developing and transition countries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Vietnam:</a:t>
            </a:r>
            <a:r>
              <a:rPr sz="2400" b="0" i="0">
                <a:solidFill>
                  <a:srgbClr val="2E4257"/>
                </a:solidFill>
                <a:latin typeface="Be Vietnam Pro" panose="020F0502020204030204" pitchFamily="34"/>
              </a:rPr>
              <a:t> votes through a constituency sharing one Executive Director</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1.3.2 · p. 14–15</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15–16%</a:t>
            </a:r>
          </a:p>
        </p:txBody>
      </p:sp>
      <p:sp>
        <p:nvSpPr>
          <p:cNvPr id="12" name="!!numl1"/>
          <p:cNvSpPr txBox="1"/>
          <p:nvPr/>
        </p:nvSpPr>
        <p:spPr>
          <a:xfrm>
            <a:off x="548640"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United States share of votes</a:t>
            </a:r>
          </a:p>
        </p:txBody>
      </p:sp>
      <p:sp>
        <p:nvSpPr>
          <p:cNvPr id="13" name="!!num2"/>
          <p:cNvSpPr txBox="1"/>
          <p:nvPr/>
        </p:nvSpPr>
        <p:spPr>
          <a:xfrm>
            <a:off x="4338218"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85%</a:t>
            </a:r>
          </a:p>
        </p:txBody>
      </p:sp>
      <p:sp>
        <p:nvSpPr>
          <p:cNvPr id="14" name="!!numl2"/>
          <p:cNvSpPr txBox="1"/>
          <p:nvPr/>
        </p:nvSpPr>
        <p:spPr>
          <a:xfrm>
            <a:off x="4338218"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majority for amending the Articles</a:t>
            </a:r>
          </a:p>
        </p:txBody>
      </p:sp>
      <p:sp>
        <p:nvSpPr>
          <p:cNvPr id="15" name="!!num3"/>
          <p:cNvSpPr txBox="1"/>
          <p:nvPr/>
        </p:nvSpPr>
        <p:spPr>
          <a:xfrm>
            <a:off x="8127796"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0.21%</a:t>
            </a:r>
          </a:p>
        </p:txBody>
      </p:sp>
      <p:sp>
        <p:nvSpPr>
          <p:cNvPr id="16" name="!!numl3"/>
          <p:cNvSpPr txBox="1"/>
          <p:nvPr/>
        </p:nvSpPr>
        <p:spPr>
          <a:xfrm>
            <a:off x="8127796"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Vietnam's votes, April 2026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6" action="ppaction://hlinksldjump"/>
              </a:rPr>
              <a:t>11</a:t>
            </a:r>
            <a:r>
              <a:rPr sz="1600" b="0" i="0">
                <a:solidFill>
                  <a:srgbClr val="4B5A69"/>
                </a:solidFill>
                <a:latin typeface="Be Vietnam Pro" panose="020F0502020204030204" pitchFamily="34"/>
              </a:rPr>
              <a:t>]</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46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76557" y="44063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4705" y="635591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5223" y="299677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Source of funds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1.3.3 · p. 15–16</a:t>
            </a:r>
          </a:p>
        </p:txBody>
      </p:sp>
      <p:sp>
        <p:nvSpPr>
          <p:cNvPr id="10" name="!!card1"/>
          <p:cNvSpPr/>
          <p:nvPr/>
        </p:nvSpPr>
        <p:spPr>
          <a:xfrm>
            <a:off x="548640" y="1572768"/>
            <a:ext cx="2464993" cy="2941320"/>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l">
              <a:lnSpc>
                <a:spcPts val="2640"/>
              </a:lnSpc>
              <a:spcBef>
                <a:spcPts val="0"/>
              </a:spcBef>
              <a:spcAft>
                <a:spcPts val="600"/>
              </a:spcAft>
            </a:pPr>
            <a:r>
              <a:rPr sz="2200" b="1" i="0">
                <a:solidFill>
                  <a:srgbClr val="2E4257"/>
                </a:solidFill>
                <a:latin typeface="Be Vietnam Pro" panose="020F0502020204030204" pitchFamily="34"/>
              </a:rPr>
              <a:t>Member capital</a:t>
            </a:r>
          </a:p>
          <a:p>
            <a:pPr algn="l">
              <a:lnSpc>
                <a:spcPts val="2400"/>
              </a:lnSpc>
              <a:spcBef>
                <a:spcPts val="0"/>
              </a:spcBef>
              <a:spcAft>
                <a:spcPts val="0"/>
              </a:spcAft>
            </a:pPr>
            <a:r>
              <a:rPr sz="2000" b="0" i="0">
                <a:solidFill>
                  <a:srgbClr val="2E4257"/>
                </a:solidFill>
                <a:latin typeface="Be Vietnam Pro" panose="020F0502020204030204" pitchFamily="34"/>
              </a:rPr>
              <a:t>Small paid-in share; callable capital never called; 2018 capital increase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12</a:t>
            </a:r>
            <a:r>
              <a:rPr sz="2000" b="0" i="0">
                <a:solidFill>
                  <a:srgbClr val="2E4257"/>
                </a:solidFill>
                <a:latin typeface="Be Vietnam Pro" panose="020F0502020204030204" pitchFamily="34"/>
              </a:rPr>
              <a:t>]</a:t>
            </a:r>
          </a:p>
        </p:txBody>
      </p:sp>
      <p:sp>
        <p:nvSpPr>
          <p:cNvPr id="11" name="Arrow 1" descr=""/>
          <p:cNvSpPr/>
          <p:nvPr/>
        </p:nvSpPr>
        <p:spPr>
          <a:xfrm>
            <a:off x="3077641" y="2906268"/>
            <a:ext cx="283464" cy="274320"/>
          </a:xfrm>
          <a:prstGeom prst="rightArrow">
            <a:avLst/>
          </a:prstGeom>
          <a:solidFill>
            <a:srgbClr val="B44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d2"/>
          <p:cNvSpPr/>
          <p:nvPr/>
        </p:nvSpPr>
        <p:spPr>
          <a:xfrm>
            <a:off x="3425113" y="1572768"/>
            <a:ext cx="2464993" cy="2941320"/>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l">
              <a:lnSpc>
                <a:spcPts val="2640"/>
              </a:lnSpc>
              <a:spcBef>
                <a:spcPts val="0"/>
              </a:spcBef>
              <a:spcAft>
                <a:spcPts val="600"/>
              </a:spcAft>
            </a:pPr>
            <a:r>
              <a:rPr sz="2200" b="1" i="0">
                <a:solidFill>
                  <a:srgbClr val="2E4257"/>
                </a:solidFill>
                <a:latin typeface="Be Vietnam Pro" panose="020F0502020204030204" pitchFamily="34"/>
              </a:rPr>
              <a:t>Bond issuance</a:t>
            </a:r>
          </a:p>
          <a:p>
            <a:pPr algn="l">
              <a:lnSpc>
                <a:spcPts val="2400"/>
              </a:lnSpc>
              <a:spcBef>
                <a:spcPts val="0"/>
              </a:spcBef>
              <a:spcAft>
                <a:spcPts val="0"/>
              </a:spcAft>
            </a:pPr>
            <a:r>
              <a:rPr sz="2000" b="0" i="0">
                <a:solidFill>
                  <a:srgbClr val="2E4257"/>
                </a:solidFill>
                <a:latin typeface="Be Vietnam Pro" panose="020F0502020204030204" pitchFamily="34"/>
              </a:rPr>
              <a:t>Largest source; AAA rating for decades; sustainable and green bonds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13</a:t>
            </a:r>
            <a:r>
              <a:rPr sz="2000" b="0" i="0">
                <a:solidFill>
                  <a:srgbClr val="2E4257"/>
                </a:solidFill>
                <a:latin typeface="Be Vietnam Pro" panose="020F0502020204030204" pitchFamily="34"/>
              </a:rPr>
              <a:t>]</a:t>
            </a:r>
          </a:p>
        </p:txBody>
      </p:sp>
      <p:sp>
        <p:nvSpPr>
          <p:cNvPr id="13" name="Arrow 2" descr=""/>
          <p:cNvSpPr/>
          <p:nvPr/>
        </p:nvSpPr>
        <p:spPr>
          <a:xfrm>
            <a:off x="5954115" y="2906268"/>
            <a:ext cx="283464" cy="274320"/>
          </a:xfrm>
          <a:prstGeom prst="rightArrow">
            <a:avLst/>
          </a:prstGeom>
          <a:solidFill>
            <a:srgbClr val="B44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ard3"/>
          <p:cNvSpPr/>
          <p:nvPr/>
        </p:nvSpPr>
        <p:spPr>
          <a:xfrm>
            <a:off x="6301587" y="1572768"/>
            <a:ext cx="2464993" cy="2941320"/>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l">
              <a:lnSpc>
                <a:spcPts val="2640"/>
              </a:lnSpc>
              <a:spcBef>
                <a:spcPts val="0"/>
              </a:spcBef>
              <a:spcAft>
                <a:spcPts val="600"/>
              </a:spcAft>
            </a:pPr>
            <a:r>
              <a:rPr sz="2200" b="1" i="0">
                <a:solidFill>
                  <a:srgbClr val="2E4257"/>
                </a:solidFill>
                <a:latin typeface="Be Vietnam Pro" panose="020F0502020204030204" pitchFamily="34"/>
              </a:rPr>
              <a:t>IBRD</a:t>
            </a:r>
          </a:p>
          <a:p>
            <a:pPr algn="l">
              <a:lnSpc>
                <a:spcPts val="2400"/>
              </a:lnSpc>
              <a:spcBef>
                <a:spcPts val="0"/>
              </a:spcBef>
              <a:spcAft>
                <a:spcPts val="0"/>
              </a:spcAft>
            </a:pPr>
            <a:r>
              <a:rPr sz="2000" b="0" i="0">
                <a:solidFill>
                  <a:srgbClr val="2E4257"/>
                </a:solidFill>
                <a:latin typeface="Be Vietnam Pro" panose="020F0502020204030204" pitchFamily="34"/>
              </a:rPr>
              <a:t>Financial intermediary between global markets and member countries</a:t>
            </a:r>
          </a:p>
        </p:txBody>
      </p:sp>
      <p:sp>
        <p:nvSpPr>
          <p:cNvPr id="15" name="Arrow 3" descr=""/>
          <p:cNvSpPr/>
          <p:nvPr/>
        </p:nvSpPr>
        <p:spPr>
          <a:xfrm>
            <a:off x="8830589" y="2906268"/>
            <a:ext cx="283464" cy="274320"/>
          </a:xfrm>
          <a:prstGeom prst="rightArrow">
            <a:avLst/>
          </a:prstGeom>
          <a:solidFill>
            <a:srgbClr val="B44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4"/>
          <p:cNvSpPr/>
          <p:nvPr/>
        </p:nvSpPr>
        <p:spPr>
          <a:xfrm>
            <a:off x="9178061" y="1572768"/>
            <a:ext cx="2464993" cy="2941320"/>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noAutofit/>
          </a:bodyPr>
          <a:lstStyle/>
          <a:p>
            <a:pPr algn="l">
              <a:lnSpc>
                <a:spcPts val="2640"/>
              </a:lnSpc>
              <a:spcBef>
                <a:spcPts val="0"/>
              </a:spcBef>
              <a:spcAft>
                <a:spcPts val="600"/>
              </a:spcAft>
            </a:pPr>
            <a:r>
              <a:rPr sz="2200" b="1" i="0">
                <a:solidFill>
                  <a:srgbClr val="2E4257"/>
                </a:solidFill>
                <a:latin typeface="Be Vietnam Pro" panose="020F0502020204030204" pitchFamily="34"/>
              </a:rPr>
              <a:t>Loans</a:t>
            </a:r>
          </a:p>
          <a:p>
            <a:pPr algn="l">
              <a:lnSpc>
                <a:spcPts val="2400"/>
              </a:lnSpc>
              <a:spcBef>
                <a:spcPts val="0"/>
              </a:spcBef>
              <a:spcAft>
                <a:spcPts val="0"/>
              </a:spcAft>
            </a:pPr>
            <a:r>
              <a:rPr sz="2000" b="0" i="0">
                <a:solidFill>
                  <a:srgbClr val="2E4257"/>
                </a:solidFill>
                <a:latin typeface="Be Vietnam Pro" panose="020F0502020204030204" pitchFamily="34"/>
              </a:rPr>
              <a:t>Long maturities, reasonable costs; repayments recycled into new loans</a:t>
            </a:r>
          </a:p>
        </p:txBody>
      </p:sp>
      <p:sp>
        <p:nvSpPr>
          <p:cNvPr id="17" name="!!body"/>
          <p:cNvSpPr txBox="1"/>
          <p:nvPr/>
        </p:nvSpPr>
        <p:spPr>
          <a:xfrm>
            <a:off x="548640" y="4834128"/>
            <a:ext cx="11094415" cy="1456944"/>
          </a:xfrm>
          <a:prstGeom prst="rect">
            <a:avLst/>
          </a:prstGeom>
          <a:noFill/>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Versus IDA:</a:t>
            </a:r>
            <a:r>
              <a:rPr sz="2400" b="0" i="0">
                <a:solidFill>
                  <a:srgbClr val="2E4257"/>
                </a:solidFill>
                <a:latin typeface="Be Vietnam Pro" panose="020F0502020204030204" pitchFamily="34"/>
              </a:rPr>
              <a:t> IDA depends on donations; the IBRD funds itself through the market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New tools:</a:t>
            </a:r>
            <a:r>
              <a:rPr sz="2400" b="0" i="0">
                <a:solidFill>
                  <a:srgbClr val="2E4257"/>
                </a:solidFill>
                <a:latin typeface="Be Vietnam Pro" panose="020F0502020204030204" pitchFamily="34"/>
              </a:rPr>
              <a:t> hybrid capital and shareholder guarantees</a:t>
            </a:r>
          </a:p>
        </p:txBody>
      </p:sp>
      <p:sp>
        <p:nvSpPr>
          <p:cNvPr id="18"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0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46965" y="297538"/>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17233" y="642875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9266" y="376333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Three lending instruments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1.4.1 · p. 16–17</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Under IPF the IBRD pays for inputs; under DPF, for reforms; under PforR, for results.</a:t>
            </a:r>
          </a:p>
        </p:txBody>
      </p:sp>
      <p:sp>
        <p:nvSpPr>
          <p:cNvPr id="11" name="!!card1"/>
          <p:cNvSpPr/>
          <p:nvPr/>
        </p:nvSpPr>
        <p:spPr>
          <a:xfrm>
            <a:off x="548640" y="2151888"/>
            <a:ext cx="3515258" cy="23743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IPF</a:t>
            </a:r>
          </a:p>
          <a:p>
            <a:pPr algn="l">
              <a:lnSpc>
                <a:spcPts val="2400"/>
              </a:lnSpc>
              <a:spcBef>
                <a:spcPts val="0"/>
              </a:spcBef>
              <a:spcAft>
                <a:spcPts val="0"/>
              </a:spcAft>
            </a:pPr>
            <a:r>
              <a:rPr sz="2000" b="0" i="0">
                <a:solidFill>
                  <a:srgbClr val="2E4257"/>
                </a:solidFill>
                <a:latin typeface="Be Vietnam Pro" panose="020F0502020204030204" pitchFamily="34"/>
              </a:rPr>
              <a:t>Ring-fenced activities; disbursed as eligible expenditures are incurred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14</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TEP and CCSEP</a:t>
            </a:r>
          </a:p>
        </p:txBody>
      </p:sp>
      <p:sp>
        <p:nvSpPr>
          <p:cNvPr id="12" name="!!card2"/>
          <p:cNvSpPr/>
          <p:nvPr/>
        </p:nvSpPr>
        <p:spPr>
          <a:xfrm>
            <a:off x="4338218" y="2151888"/>
            <a:ext cx="3515258" cy="23743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DPF</a:t>
            </a:r>
          </a:p>
          <a:p>
            <a:pPr algn="l">
              <a:lnSpc>
                <a:spcPts val="2400"/>
              </a:lnSpc>
              <a:spcBef>
                <a:spcPts val="0"/>
              </a:spcBef>
              <a:spcAft>
                <a:spcPts val="0"/>
              </a:spcAft>
            </a:pPr>
            <a:r>
              <a:rPr sz="2000" b="0" i="0">
                <a:solidFill>
                  <a:srgbClr val="2E4257"/>
                </a:solidFill>
                <a:latin typeface="Be Vietnam Pro" panose="020F0502020204030204" pitchFamily="34"/>
              </a:rPr>
              <a:t>Reforms; prior actions before approval; funds to the budget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14</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Vietnam's first IBRD loan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2</a:t>
            </a:r>
            <a:r>
              <a:rPr sz="2000" b="0" i="0">
                <a:solidFill>
                  <a:srgbClr val="2E4257"/>
                </a:solidFill>
                <a:latin typeface="Be Vietnam Pro" panose="020F0502020204030204" pitchFamily="34"/>
              </a:rPr>
              <a:t>]</a:t>
            </a:r>
          </a:p>
        </p:txBody>
      </p:sp>
      <p:sp>
        <p:nvSpPr>
          <p:cNvPr id="13" name="!!card3"/>
          <p:cNvSpPr/>
          <p:nvPr/>
        </p:nvSpPr>
        <p:spPr>
          <a:xfrm>
            <a:off x="8127796" y="2151888"/>
            <a:ext cx="3515258" cy="23743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PforR</a:t>
            </a:r>
          </a:p>
          <a:p>
            <a:pPr algn="l">
              <a:lnSpc>
                <a:spcPts val="2400"/>
              </a:lnSpc>
              <a:spcBef>
                <a:spcPts val="0"/>
              </a:spcBef>
              <a:spcAft>
                <a:spcPts val="0"/>
              </a:spcAft>
            </a:pPr>
            <a:r>
              <a:rPr sz="2000" b="0" i="0">
                <a:solidFill>
                  <a:srgbClr val="2E4257"/>
                </a:solidFill>
                <a:latin typeface="Be Vietnam Pro" panose="020F0502020204030204" pitchFamily="34"/>
              </a:rPr>
              <a:t>Since 2012, third instrument since 1944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15</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disbursed on verified DLIs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14</a:t>
            </a:r>
            <a:r>
              <a:rPr sz="2000" b="0" i="0">
                <a:solidFill>
                  <a:srgbClr val="2E4257"/>
                </a:solidFill>
                <a:latin typeface="Be Vietnam Pro" panose="020F0502020204030204" pitchFamily="34"/>
              </a:rPr>
              <a:t>]</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73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22031" y="319047"/>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35053" y="639637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4718" y="276671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Instruments compared</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1.4.1 · p. 17</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2. The IBRD’s three lending instruments</a:t>
            </a:r>
          </a:p>
        </p:txBody>
      </p:sp>
      <p:graphicFrame>
        <p:nvGraphicFramePr>
          <p:cNvPr id="11" name="!!tbl" descr="Table 2. The IBRD’s three lending instruments. Editable table, 3 rows."/>
          <p:cNvGraphicFramePr>
            <a:graphicFrameLocks noGrp="1"/>
          </p:cNvGraphicFramePr>
          <p:nvPr/>
        </p:nvGraphicFramePr>
        <p:xfrm>
          <a:off x="548640" y="1938528"/>
          <a:ext cx="11094414" cy="2991915"/>
        </p:xfrm>
        <a:graphic>
          <a:graphicData uri="http://schemas.openxmlformats.org/drawingml/2006/table">
            <a:tbl>
              <a:tblPr firstRow="1" bandRow="0">
                <a:tableStyleId>{5940675A-B579-460E-94D1-54222C63F5DA}</a:tableStyleId>
              </a:tblPr>
              <a:tblGrid>
                <a:gridCol w="2379912"/>
                <a:gridCol w="3147349"/>
                <a:gridCol w="2825743"/>
                <a:gridCol w="2741410"/>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Instrument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What it finances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Disbursed against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Best suited to</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Investment Project Financing (IPF)</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Ring-fenced project activities: works, goods, consulting services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Eligible expenditures actually incurred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Infrastructure and other projects with a defined scope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Development Policy Financing (DPF)</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 program of policy and institutional actions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Completion of agreed prior actions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Sector or economy-wide reforms; budget support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Program-for-Results (PforR)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Part of a government’s own expenditure program</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Verified achievement of Disbursement-Linked Indicators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Programs where results can be measured and verified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021884"/>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a:t>
            </a:r>
            <a:r>
              <a:rPr sz="1400" b="0" i="1" u="sng">
                <a:solidFill>
                  <a:srgbClr val="A33224"/>
                </a:solidFill>
                <a:latin typeface="Be Vietnam Pro" panose="020F0502020204030204" pitchFamily="34"/>
                <a:hlinkClick r:id="rId6" action="ppaction://hlinksldjump"/>
              </a:rPr>
              <a:t>Wes (2023)</a:t>
            </a:r>
            <a:r>
              <a:rPr sz="1200" b="0" i="1">
                <a:solidFill>
                  <a:srgbClr val="4B5A69"/>
                </a:solidFill>
                <a:latin typeface="Be Vietnam Pro" panose="020F0502020204030204" pitchFamily="34"/>
              </a:rPr>
              <a:t> and </a:t>
            </a:r>
            <a:r>
              <a:rPr sz="1400" b="0" i="1" u="sng">
                <a:solidFill>
                  <a:srgbClr val="A33224"/>
                </a:solidFill>
                <a:latin typeface="Be Vietnam Pro" panose="020F0502020204030204" pitchFamily="34"/>
                <a:hlinkClick r:id="rId7" action="ppaction://hlinksldjump"/>
              </a:rPr>
              <a:t>Gelb et al. (2016)</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87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62985" y="180473"/>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05166" y="6392761"/>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3353" y="296008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Loan terms: price (1/2)</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IBRD Flexible Loan:</a:t>
            </a:r>
            <a:r>
              <a:rPr sz="2400" b="0" i="0">
                <a:solidFill>
                  <a:srgbClr val="2E4257"/>
                </a:solidFill>
                <a:latin typeface="Be Vietnam Pro" panose="020F0502020204030204" pitchFamily="34"/>
              </a:rPr>
              <a:t> leading product for public borrowers in middle-income countries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16</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Three cost parts:</a:t>
            </a:r>
            <a:r>
              <a:rPr sz="2400" b="0" i="0">
                <a:solidFill>
                  <a:srgbClr val="2E4257"/>
                </a:solidFill>
                <a:latin typeface="Be Vietnam Pro" panose="020F0502020204030204" pitchFamily="34"/>
              </a:rPr>
              <a:t> interest rate, front-end fee and commitment fee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16</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Interest:</a:t>
            </a:r>
            <a:r>
              <a:rPr sz="2400" b="0" i="0">
                <a:solidFill>
                  <a:srgbClr val="2E4257"/>
                </a:solidFill>
                <a:latin typeface="Be Vietnam Pro" panose="020F0502020204030204" pitchFamily="34"/>
              </a:rPr>
              <a:t> reference rate plus spread; SOFR replaced LIBOR for US dollar loans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17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Spread:</a:t>
            </a:r>
            <a:r>
              <a:rPr sz="2400" b="0" i="0">
                <a:solidFill>
                  <a:srgbClr val="2E4257"/>
                </a:solidFill>
                <a:latin typeface="Be Vietnam Pro" panose="020F0502020204030204" pitchFamily="34"/>
              </a:rPr>
              <a:t> contractual spread plus maturity premium; fixed-spread option suspended in 2021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17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Commitment fee:</a:t>
            </a:r>
            <a:r>
              <a:rPr sz="2400" b="0" i="0">
                <a:solidFill>
                  <a:srgbClr val="2E4257"/>
                </a:solidFill>
                <a:latin typeface="Be Vietnam Pro" panose="020F0502020204030204" pitchFamily="34"/>
              </a:rPr>
              <a:t> slow disbursement raises the effective cost of the loan</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1.4.2 · p. 17–18</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01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93884" y="26410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7806" y="6480919"/>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0959" y="394115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Loan terms: maturity (2/2)</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2014 extension:</a:t>
            </a:r>
            <a:r>
              <a:rPr sz="2400" b="0" i="0">
                <a:solidFill>
                  <a:srgbClr val="2E4257"/>
                </a:solidFill>
                <a:latin typeface="Be Vietnam Pro" panose="020F0502020204030204" pitchFamily="34"/>
              </a:rPr>
              <a:t> maximum final maturity 30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35 years; average maturity 18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20 years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18</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Up to 50 years:</a:t>
            </a:r>
            <a:r>
              <a:rPr sz="2400" b="0" i="0">
                <a:solidFill>
                  <a:srgbClr val="2E4257"/>
                </a:solidFill>
                <a:latin typeface="Be Vietnam Pro" panose="020F0502020204030204" pitchFamily="34"/>
              </a:rPr>
              <a:t> final maturity for some projects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19</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Short Maturity Loan:</a:t>
            </a:r>
            <a:r>
              <a:rPr sz="2400" b="0" i="0">
                <a:solidFill>
                  <a:srgbClr val="2E4257"/>
                </a:solidFill>
                <a:latin typeface="Be Vietnam Pro" panose="020F0502020204030204" pitchFamily="34"/>
              </a:rPr>
              <a:t> October 2024; 7-year final maturity, 20-basis-point spread discount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20</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a:t>
            </a:r>
            <a:r>
              <a:rPr sz="2400" b="0" i="0">
                <a:solidFill>
                  <a:srgbClr val="2E4257"/>
                </a:solidFill>
                <a:latin typeface="Be Vietnam Pro" panose="020F0502020204030204" pitchFamily="34"/>
              </a:rPr>
              <a:t> 26-year maturity with a 10-year grace period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0" action="ppaction://hlinksldjump"/>
              </a:rPr>
              <a:t>21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CCSEP:</a:t>
            </a:r>
            <a:r>
              <a:rPr sz="2400" b="0" i="0">
                <a:solidFill>
                  <a:srgbClr val="2E4257"/>
                </a:solidFill>
                <a:latin typeface="Be Vietnam Pro" panose="020F0502020204030204" pitchFamily="34"/>
              </a:rPr>
              <a:t> IBRD 29 years, 10-year grace; IDA credit 25 years, 5-year grace</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1.4.2 · p. 18</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15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00151" y="17350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0249" y="645835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2360" y="238051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Main terms of the IBRD Flexible Loan</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1.4.2 · p. 18</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3. Main terms of the IBRD Flexible Loan</a:t>
            </a:r>
          </a:p>
        </p:txBody>
      </p:sp>
      <p:graphicFrame>
        <p:nvGraphicFramePr>
          <p:cNvPr id="11" name="!!tbl" descr="Table 3. Main terms of the IBRD Flexible Loan. Editable table, 6 rows."/>
          <p:cNvGraphicFramePr>
            <a:graphicFrameLocks noGrp="1"/>
          </p:cNvGraphicFramePr>
          <p:nvPr/>
        </p:nvGraphicFramePr>
        <p:xfrm>
          <a:off x="548640" y="1938528"/>
          <a:ext cx="11094413" cy="3721606"/>
        </p:xfrm>
        <a:graphic>
          <a:graphicData uri="http://schemas.openxmlformats.org/drawingml/2006/table">
            <a:tbl>
              <a:tblPr firstRow="1" bandRow="0">
                <a:tableStyleId>{5940675A-B579-460E-94D1-54222C63F5DA}</a:tableStyleId>
              </a:tblPr>
              <a:tblGrid>
                <a:gridCol w="2041295"/>
                <a:gridCol w="5958389"/>
                <a:gridCol w="3094729"/>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Term</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Current setting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Source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Interest rate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Reference rate (SOFR for USD) + variable spread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u="sng">
                          <a:solidFill>
                            <a:srgbClr val="A33224"/>
                          </a:solidFill>
                          <a:latin typeface="Be Vietnam Pro" panose="020F0502020204030204" pitchFamily="34"/>
                          <a:hlinkClick r:id="rId6" action="ppaction://hlinksldjump"/>
                        </a:rPr>
                        <a:t>World Bank Treasury (2020)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Final maturity</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Up to 35 years; up to 50 years for some projects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u="sng">
                          <a:solidFill>
                            <a:srgbClr val="A33224"/>
                          </a:solidFill>
                          <a:latin typeface="Be Vietnam Pro" panose="020F0502020204030204" pitchFamily="34"/>
                          <a:hlinkClick r:id="rId7" action="ppaction://hlinksldjump"/>
                        </a:rPr>
                        <a:t>World Bank (2014b)</a:t>
                      </a:r>
                      <a:r>
                        <a:rPr sz="1600" b="0" i="0">
                          <a:solidFill>
                            <a:srgbClr val="2E4257"/>
                          </a:solidFill>
                          <a:latin typeface="Be Vietnam Pro" panose="020F0502020204030204" pitchFamily="34"/>
                        </a:rPr>
                        <a:t>; </a:t>
                      </a:r>
                      <a:r>
                        <a:rPr sz="1600" b="0" i="0" u="sng">
                          <a:solidFill>
                            <a:srgbClr val="A33224"/>
                          </a:solidFill>
                          <a:latin typeface="Be Vietnam Pro" panose="020F0502020204030204" pitchFamily="34"/>
                          <a:hlinkClick r:id="rId8" action="ppaction://hlinksldjump"/>
                        </a:rPr>
                        <a:t>IBRD (2025)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Average maturity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Up to 20 years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u="sng">
                          <a:solidFill>
                            <a:srgbClr val="A33224"/>
                          </a:solidFill>
                          <a:latin typeface="Be Vietnam Pro" panose="020F0502020204030204" pitchFamily="34"/>
                          <a:hlinkClick r:id="rId7" action="ppaction://hlinksldjump"/>
                        </a:rPr>
                        <a:t>World Bank (2014b)</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Short Maturity Loan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7-year final maturity, 20 bps spread discount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u="sng">
                          <a:solidFill>
                            <a:srgbClr val="A33224"/>
                          </a:solidFill>
                          <a:latin typeface="Be Vietnam Pro" panose="020F0502020204030204" pitchFamily="34"/>
                          <a:hlinkClick r:id="rId9" action="ppaction://hlinksldjump"/>
                        </a:rPr>
                        <a:t>World Bank Treasury (n.d.-b)</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Front-end fee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0.25% of the committed amount, charged once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u="sng">
                          <a:solidFill>
                            <a:srgbClr val="A33224"/>
                          </a:solidFill>
                          <a:latin typeface="Be Vietnam Pro" panose="020F0502020204030204" pitchFamily="34"/>
                          <a:hlinkClick r:id="rId10" action="ppaction://hlinksldjump"/>
                        </a:rPr>
                        <a:t>World Bank Treasury (n.d.-a)</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Commitment fee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0.25% a year on the undisbursed balance, from 60 days after signing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u="sng">
                          <a:solidFill>
                            <a:srgbClr val="A33224"/>
                          </a:solidFill>
                          <a:latin typeface="Be Vietnam Pro" panose="020F0502020204030204" pitchFamily="34"/>
                          <a:hlinkClick r:id="rId10" action="ppaction://hlinksldjump"/>
                        </a:rPr>
                        <a:t>World Bank Treasury (n.d.-a)</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5751576"/>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Note: Terms are reviewed annually and may change; figures are as at October 2026.</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9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29426" y="23934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1774" y="6458841"/>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4942" y="449987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Safeguards and procurement</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ESF:</a:t>
            </a:r>
            <a:r>
              <a:rPr sz="2400" b="0" i="0">
                <a:solidFill>
                  <a:srgbClr val="2E4257"/>
                </a:solidFill>
                <a:latin typeface="Be Vietnam Pro" panose="020F0502020204030204" pitchFamily="34"/>
              </a:rPr>
              <a:t> approved 4 August 2016; applies to IPF initiated on or after 1 October 2018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22</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Older policies:</a:t>
            </a:r>
            <a:r>
              <a:rPr sz="2400" b="0" i="0">
                <a:solidFill>
                  <a:srgbClr val="2E4257"/>
                </a:solidFill>
                <a:latin typeface="Be Vietnam Pro" panose="020F0502020204030204" pitchFamily="34"/>
              </a:rPr>
              <a:t> earlier projects keep Safeguard Policies (OP 4.12); parallel about seven years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23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 and CCSEP:</a:t>
            </a:r>
            <a:r>
              <a:rPr sz="2400" b="0" i="0">
                <a:solidFill>
                  <a:srgbClr val="2E4257"/>
                </a:solidFill>
                <a:latin typeface="Be Vietnam Pro" panose="020F0502020204030204" pitchFamily="34"/>
              </a:rPr>
              <a:t> prepared before 2018, so followed the Safeguard Policies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Procurement Framework:</a:t>
            </a:r>
            <a:r>
              <a:rPr sz="2400" b="0" i="0">
                <a:solidFill>
                  <a:srgbClr val="2E4257"/>
                </a:solidFill>
                <a:latin typeface="Be Vietnam Pro" panose="020F0502020204030204" pitchFamily="34"/>
              </a:rPr>
              <a:t> concept note on or after 1 July 2016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24</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PPSD for CCSEP</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Stricter rules:</a:t>
            </a:r>
            <a:r>
              <a:rPr sz="2400" b="0" i="0">
                <a:solidFill>
                  <a:srgbClr val="2E4257"/>
                </a:solidFill>
                <a:latin typeface="Be Vietnam Pro" panose="020F0502020204030204" pitchFamily="34"/>
              </a:rPr>
              <a:t> gaps with domestic land rules cause delays or, in Nha Trang, lost financing</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1.4.3 · p. 19–20</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3132"/>
            <a:ext cx="2834640" cy="3366135"/>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42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74662" y="44514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9502" y="6370612"/>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9403" y="401837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Ten Environmental and Social Standards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BANK  ·  OVERVIEW OF THE IBRD</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1.4.3 · p. 19</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The ESF shifts more responsibility to the borrower </a:t>
            </a:r>
            <a:r>
              <a:rPr sz="2600" b="0" i="1">
                <a:solidFill>
                  <a:srgbClr val="2E4257"/>
                </a:solidFill>
                <a:latin typeface="Cormorant Garamond" panose="02020404030301010803" pitchFamily="18"/>
              </a:rPr>
              <a:t>[</a:t>
            </a:r>
            <a:r>
              <a:rPr sz="2600" b="0" i="1" u="sng">
                <a:solidFill>
                  <a:srgbClr val="A33224"/>
                </a:solidFill>
                <a:latin typeface="Cormorant Garamond" panose="02020404030301010803" pitchFamily="18"/>
                <a:hlinkClick r:id="rId6" action="ppaction://hlinksldjump"/>
              </a:rPr>
              <a:t>22</a:t>
            </a:r>
            <a:r>
              <a:rPr sz="2600" b="0" i="1">
                <a:solidFill>
                  <a:srgbClr val="2E4257"/>
                </a:solidFill>
                <a:latin typeface="Cormorant Garamond" panose="02020404030301010803" pitchFamily="18"/>
              </a:rPr>
              <a:t>]</a:t>
            </a:r>
            <a:r>
              <a:rPr sz="2600" b="0" i="1">
                <a:solidFill>
                  <a:srgbClr val="2E4257"/>
                </a:solidFill>
                <a:latin typeface="Cormorant Garamond" panose="02020404030301010803" pitchFamily="18"/>
              </a:rPr>
              <a:t>.</a:t>
            </a:r>
          </a:p>
        </p:txBody>
      </p:sp>
      <p:sp>
        <p:nvSpPr>
          <p:cNvPr id="11" name="Standard 1"/>
          <p:cNvSpPr txBox="1"/>
          <p:nvPr/>
        </p:nvSpPr>
        <p:spPr>
          <a:xfrm>
            <a:off x="548640" y="2151888"/>
            <a:ext cx="5410047" cy="950976"/>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ESS1:</a:t>
            </a:r>
            <a:r>
              <a:rPr sz="2000" b="0" i="0">
                <a:solidFill>
                  <a:srgbClr val="2E4257"/>
                </a:solidFill>
                <a:latin typeface="Be Vietnam Pro" panose="020F0502020204030204" pitchFamily="34"/>
              </a:rPr>
              <a:t> Assessment and Management of Environmental and Social Risks and Impacts</a:t>
            </a:r>
          </a:p>
        </p:txBody>
      </p:sp>
      <p:sp>
        <p:nvSpPr>
          <p:cNvPr id="12" name="Standard 6"/>
          <p:cNvSpPr txBox="1"/>
          <p:nvPr/>
        </p:nvSpPr>
        <p:spPr>
          <a:xfrm>
            <a:off x="6233007" y="2151888"/>
            <a:ext cx="5410047" cy="950976"/>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ESS6:</a:t>
            </a:r>
            <a:r>
              <a:rPr sz="2000" b="0" i="0">
                <a:solidFill>
                  <a:srgbClr val="2E4257"/>
                </a:solidFill>
                <a:latin typeface="Be Vietnam Pro" panose="020F0502020204030204" pitchFamily="34"/>
              </a:rPr>
              <a:t> Biodiversity Conservation and Sustainable Management of Living Natural Resources</a:t>
            </a:r>
          </a:p>
        </p:txBody>
      </p:sp>
      <p:sp>
        <p:nvSpPr>
          <p:cNvPr id="13" name="Standard 2"/>
          <p:cNvSpPr txBox="1"/>
          <p:nvPr/>
        </p:nvSpPr>
        <p:spPr>
          <a:xfrm>
            <a:off x="548640" y="3230880"/>
            <a:ext cx="5410047" cy="341375"/>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ESS2:</a:t>
            </a:r>
            <a:r>
              <a:rPr sz="2000" b="0" i="0">
                <a:solidFill>
                  <a:srgbClr val="2E4257"/>
                </a:solidFill>
                <a:latin typeface="Be Vietnam Pro" panose="020F0502020204030204" pitchFamily="34"/>
              </a:rPr>
              <a:t> Labor and Working Conditions</a:t>
            </a:r>
          </a:p>
        </p:txBody>
      </p:sp>
      <p:sp>
        <p:nvSpPr>
          <p:cNvPr id="14" name="Standard 7"/>
          <p:cNvSpPr txBox="1"/>
          <p:nvPr/>
        </p:nvSpPr>
        <p:spPr>
          <a:xfrm>
            <a:off x="6233007" y="3230880"/>
            <a:ext cx="5410047" cy="341375"/>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ESS7:</a:t>
            </a:r>
            <a:r>
              <a:rPr sz="2000" b="0" i="0">
                <a:solidFill>
                  <a:srgbClr val="2E4257"/>
                </a:solidFill>
                <a:latin typeface="Be Vietnam Pro" panose="020F0502020204030204" pitchFamily="34"/>
              </a:rPr>
              <a:t> Indigenous Peoples</a:t>
            </a:r>
          </a:p>
        </p:txBody>
      </p:sp>
      <p:sp>
        <p:nvSpPr>
          <p:cNvPr id="15" name="Standard 3"/>
          <p:cNvSpPr txBox="1"/>
          <p:nvPr/>
        </p:nvSpPr>
        <p:spPr>
          <a:xfrm>
            <a:off x="548640" y="3700272"/>
            <a:ext cx="5410047" cy="646176"/>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ESS3:</a:t>
            </a:r>
            <a:r>
              <a:rPr sz="2000" b="0" i="0">
                <a:solidFill>
                  <a:srgbClr val="2E4257"/>
                </a:solidFill>
                <a:latin typeface="Be Vietnam Pro" panose="020F0502020204030204" pitchFamily="34"/>
              </a:rPr>
              <a:t> Resource Efficiency and Pollution Prevention and Management</a:t>
            </a:r>
          </a:p>
        </p:txBody>
      </p:sp>
      <p:sp>
        <p:nvSpPr>
          <p:cNvPr id="16" name="Standard 8"/>
          <p:cNvSpPr txBox="1"/>
          <p:nvPr/>
        </p:nvSpPr>
        <p:spPr>
          <a:xfrm>
            <a:off x="6233007" y="3700272"/>
            <a:ext cx="5410047" cy="341375"/>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ESS8:</a:t>
            </a:r>
            <a:r>
              <a:rPr sz="2000" b="0" i="0">
                <a:solidFill>
                  <a:srgbClr val="2E4257"/>
                </a:solidFill>
                <a:latin typeface="Be Vietnam Pro" panose="020F0502020204030204" pitchFamily="34"/>
              </a:rPr>
              <a:t> Cultural Heritage</a:t>
            </a:r>
          </a:p>
        </p:txBody>
      </p:sp>
      <p:sp>
        <p:nvSpPr>
          <p:cNvPr id="17" name="Standard 4"/>
          <p:cNvSpPr txBox="1"/>
          <p:nvPr/>
        </p:nvSpPr>
        <p:spPr>
          <a:xfrm>
            <a:off x="548640" y="4474464"/>
            <a:ext cx="5410047" cy="341375"/>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ESS4:</a:t>
            </a:r>
            <a:r>
              <a:rPr sz="2000" b="0" i="0">
                <a:solidFill>
                  <a:srgbClr val="2E4257"/>
                </a:solidFill>
                <a:latin typeface="Be Vietnam Pro" panose="020F0502020204030204" pitchFamily="34"/>
              </a:rPr>
              <a:t> Community Health and Safety</a:t>
            </a:r>
          </a:p>
        </p:txBody>
      </p:sp>
      <p:sp>
        <p:nvSpPr>
          <p:cNvPr id="18" name="Standard 9"/>
          <p:cNvSpPr txBox="1"/>
          <p:nvPr/>
        </p:nvSpPr>
        <p:spPr>
          <a:xfrm>
            <a:off x="6233007" y="4474464"/>
            <a:ext cx="5410047" cy="341375"/>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ESS9:</a:t>
            </a:r>
            <a:r>
              <a:rPr sz="2000" b="0" i="0">
                <a:solidFill>
                  <a:srgbClr val="2E4257"/>
                </a:solidFill>
                <a:latin typeface="Be Vietnam Pro" panose="020F0502020204030204" pitchFamily="34"/>
              </a:rPr>
              <a:t> Financial Intermediaries</a:t>
            </a:r>
          </a:p>
        </p:txBody>
      </p:sp>
      <p:sp>
        <p:nvSpPr>
          <p:cNvPr id="19" name="Standard 5"/>
          <p:cNvSpPr txBox="1"/>
          <p:nvPr/>
        </p:nvSpPr>
        <p:spPr>
          <a:xfrm>
            <a:off x="548640" y="4943856"/>
            <a:ext cx="5410047" cy="646176"/>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ESS5:</a:t>
            </a:r>
            <a:r>
              <a:rPr sz="2000" b="0" i="0">
                <a:solidFill>
                  <a:srgbClr val="2E4257"/>
                </a:solidFill>
                <a:latin typeface="Be Vietnam Pro" panose="020F0502020204030204" pitchFamily="34"/>
              </a:rPr>
              <a:t> Land Acquisition, Restrictions on Land Use and Involuntary Resettlement</a:t>
            </a:r>
          </a:p>
        </p:txBody>
      </p:sp>
      <p:sp>
        <p:nvSpPr>
          <p:cNvPr id="20" name="Standard 10"/>
          <p:cNvSpPr txBox="1"/>
          <p:nvPr/>
        </p:nvSpPr>
        <p:spPr>
          <a:xfrm>
            <a:off x="6233007" y="4943856"/>
            <a:ext cx="5410047" cy="646176"/>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ESS10:</a:t>
            </a:r>
            <a:r>
              <a:rPr sz="2000" b="0" i="0">
                <a:solidFill>
                  <a:srgbClr val="2E4257"/>
                </a:solidFill>
                <a:latin typeface="Be Vietnam Pro" panose="020F0502020204030204" pitchFamily="34"/>
              </a:rPr>
              <a:t> Stakeholder Engagement and Information Disclosure</a:t>
            </a:r>
          </a:p>
        </p:txBody>
      </p:sp>
      <p:sp>
        <p:nvSpPr>
          <p:cNvPr id="2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1566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551962" y="911567"/>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23079" y="6231863"/>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97291" y="1038760"/>
            <a:ext cx="256032" cy="256032"/>
          </a:xfrm>
          <a:prstGeom prst="rect">
            <a:avLst/>
          </a:prstGeom>
        </p:spPr>
      </p:pic>
      <p:sp>
        <p:nvSpPr>
          <p:cNvPr id="2" name="!!title"/>
          <p:cNvSpPr>
            <a:spLocks noGrp="1"/>
          </p:cNvSpPr>
          <p:nvPr>
            <p:ph type="title"/>
          </p:nvPr>
        </p:nvSpPr>
        <p:spPr>
          <a:xfrm>
            <a:off x="548640" y="4470400"/>
            <a:ext cx="7680960" cy="1107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How the IBRD supports project financing</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Chapter 2</a:t>
            </a:r>
          </a:p>
        </p:txBody>
      </p:sp>
      <p:sp>
        <p:nvSpPr>
          <p:cNvPr id="9" name="!!section"/>
          <p:cNvSpPr txBox="1"/>
          <p:nvPr/>
        </p:nvSpPr>
        <p:spPr>
          <a:xfrm>
            <a:off x="457200" y="502920"/>
            <a:ext cx="11277295" cy="2266950"/>
          </a:xfrm>
          <a:prstGeom prst="rect">
            <a:avLst/>
          </a:prstGeom>
          <a:noFill/>
        </p:spPr>
        <p:txBody>
          <a:bodyPr wrap="square" lIns="0" rIns="0" tIns="18288" bIns="18288" anchor="t">
            <a:noAutofit/>
          </a:bodyPr>
          <a:lstStyle/>
          <a:p>
            <a:pPr algn="l">
              <a:lnSpc>
                <a:spcPts val="16150"/>
              </a:lnSpc>
              <a:spcBef>
                <a:spcPts val="0"/>
              </a:spcBef>
              <a:spcAft>
                <a:spcPts val="0"/>
              </a:spcAft>
            </a:pPr>
            <a:r>
              <a:rPr sz="17000" b="0" i="0" spc="600">
                <a:solidFill>
                  <a:srgbClr val="F4ECD8"/>
                </a:solidFill>
                <a:latin typeface="Cormorant Garamond" panose="02020404030301010803" pitchFamily="18"/>
              </a:rPr>
              <a:t>SUPPORT</a:t>
            </a:r>
          </a:p>
        </p:txBody>
      </p:sp>
      <p:pic>
        <p:nvPicPr>
          <p:cNvPr id="10" name="!!art" descr="Original engraving-style illustration"/>
          <p:cNvPicPr>
            <a:picLocks noChangeAspect="1"/>
          </p:cNvPicPr>
          <p:nvPr/>
        </p:nvPicPr>
        <p:blipFill>
          <a:blip r:embed="rId5"/>
          <a:stretch>
            <a:fillRect/>
          </a:stretch>
        </p:blipFill>
        <p:spPr>
          <a:xfrm>
            <a:off x="8503920" y="3566160"/>
            <a:ext cx="3291840" cy="2194560"/>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27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70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91746" y="42797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2281" y="6477147"/>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3512" y="331123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The six-stage project cycle</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2.1.1 · p. 21</a:t>
            </a:r>
          </a:p>
        </p:txBody>
      </p:sp>
      <p:sp>
        <p:nvSpPr>
          <p:cNvPr id="10" name="!!lead"/>
          <p:cNvSpPr txBox="1"/>
          <p:nvPr/>
        </p:nvSpPr>
        <p:spPr>
          <a:xfrm>
            <a:off x="548640" y="1847088"/>
            <a:ext cx="3749039" cy="1798320"/>
          </a:xfrm>
          <a:prstGeom prst="rect">
            <a:avLst/>
          </a:prstGeom>
          <a:noFill/>
        </p:spPr>
        <p:txBody>
          <a:bodyPr wrap="square" lIns="0" rIns="0" tIns="18288" bIns="18288" anchor="t">
            <a:noAutofit/>
          </a:bodyPr>
          <a:lstStyle/>
          <a:p>
            <a:pPr algn="l">
              <a:lnSpc>
                <a:spcPts val="3360"/>
              </a:lnSpc>
              <a:spcBef>
                <a:spcPts val="0"/>
              </a:spcBef>
              <a:spcAft>
                <a:spcPts val="0"/>
              </a:spcAft>
            </a:pPr>
            <a:r>
              <a:rPr sz="2800" b="0" i="1">
                <a:solidFill>
                  <a:srgbClr val="2E4257"/>
                </a:solidFill>
                <a:latin typeface="Cormorant Garamond" panose="02020404030301010803" pitchFamily="18"/>
              </a:rPr>
              <a:t>The borrower owns and implements; the Bank advises, appraises, finances and supervises </a:t>
            </a:r>
            <a:r>
              <a:rPr sz="2800" b="0" i="1">
                <a:solidFill>
                  <a:srgbClr val="2E4257"/>
                </a:solidFill>
                <a:latin typeface="Cormorant Garamond" panose="02020404030301010803" pitchFamily="18"/>
              </a:rPr>
              <a:t>[</a:t>
            </a:r>
            <a:r>
              <a:rPr sz="2800" b="0" i="1" u="sng">
                <a:solidFill>
                  <a:srgbClr val="A33224"/>
                </a:solidFill>
                <a:latin typeface="Cormorant Garamond" panose="02020404030301010803" pitchFamily="18"/>
                <a:hlinkClick r:id="rId6" action="ppaction://hlinksldjump"/>
              </a:rPr>
              <a:t>25</a:t>
            </a:r>
            <a:r>
              <a:rPr sz="2800" b="0" i="1">
                <a:solidFill>
                  <a:srgbClr val="2E4257"/>
                </a:solidFill>
                <a:latin typeface="Cormorant Garamond" panose="02020404030301010803" pitchFamily="18"/>
              </a:rPr>
              <a:t>]</a:t>
            </a:r>
            <a:r>
              <a:rPr sz="2800" b="0" i="1">
                <a:solidFill>
                  <a:srgbClr val="2E4257"/>
                </a:solidFill>
                <a:latin typeface="Cormorant Garamond" panose="02020404030301010803" pitchFamily="18"/>
              </a:rPr>
              <a:t>.</a:t>
            </a:r>
          </a:p>
        </p:txBody>
      </p:sp>
      <p:sp>
        <p:nvSpPr>
          <p:cNvPr id="11" name="!!ring"/>
          <p:cNvSpPr/>
          <p:nvPr/>
        </p:nvSpPr>
        <p:spPr>
          <a:xfrm>
            <a:off x="6492240" y="2103120"/>
            <a:ext cx="3383280" cy="3383280"/>
          </a:xfrm>
          <a:prstGeom prst="ellipse">
            <a:avLst/>
          </a:prstGeom>
          <a:noFill/>
          <a:ln w="15875">
            <a:solidFill>
              <a:srgbClr val="4B5A69"/>
            </a:solid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pic>
        <p:nvPicPr>
          <p:cNvPr id="12" name="!!art"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360919" y="2971800"/>
            <a:ext cx="1645920" cy="1645920"/>
          </a:xfrm>
          <a:prstGeom prst="rect">
            <a:avLst/>
          </a:prstGeom>
        </p:spPr>
      </p:pic>
      <p:sp>
        <p:nvSpPr>
          <p:cNvPr id="13" name="Stage marker 1"/>
          <p:cNvSpPr/>
          <p:nvPr/>
        </p:nvSpPr>
        <p:spPr>
          <a:xfrm>
            <a:off x="7927848" y="1847088"/>
            <a:ext cx="512064" cy="51206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2400"/>
              </a:lnSpc>
              <a:spcBef>
                <a:spcPts val="0"/>
              </a:spcBef>
              <a:spcAft>
                <a:spcPts val="0"/>
              </a:spcAft>
            </a:pPr>
            <a:r>
              <a:rPr sz="2200" b="1" i="0">
                <a:solidFill>
                  <a:srgbClr val="FFFFFF"/>
                </a:solidFill>
                <a:latin typeface="Cormorant Garamond" panose="02020404030301010803" pitchFamily="18"/>
              </a:rPr>
              <a:t>1</a:t>
            </a:r>
          </a:p>
        </p:txBody>
      </p:sp>
      <p:sp>
        <p:nvSpPr>
          <p:cNvPr id="14" name="Stage 1"/>
          <p:cNvSpPr txBox="1"/>
          <p:nvPr/>
        </p:nvSpPr>
        <p:spPr>
          <a:xfrm>
            <a:off x="6629399" y="1423416"/>
            <a:ext cx="3108960" cy="359664"/>
          </a:xfrm>
          <a:prstGeom prst="rect">
            <a:avLst/>
          </a:prstGeom>
          <a:noFill/>
        </p:spPr>
        <p:txBody>
          <a:bodyPr wrap="square" lIns="0" rIns="0" tIns="18288" bIns="18288" anchor="t">
            <a:noAutofit/>
          </a:bodyPr>
          <a:lstStyle/>
          <a:p>
            <a:pPr algn="ctr">
              <a:lnSpc>
                <a:spcPts val="2400"/>
              </a:lnSpc>
              <a:spcBef>
                <a:spcPts val="0"/>
              </a:spcBef>
              <a:spcAft>
                <a:spcPts val="0"/>
              </a:spcAft>
            </a:pPr>
            <a:r>
              <a:rPr sz="2000" b="1" i="0">
                <a:solidFill>
                  <a:srgbClr val="2E4257"/>
                </a:solidFill>
                <a:latin typeface="Be Vietnam Pro" panose="020F0502020204030204" pitchFamily="34"/>
              </a:rPr>
              <a:t>Identification</a:t>
            </a:r>
          </a:p>
        </p:txBody>
      </p:sp>
      <p:sp>
        <p:nvSpPr>
          <p:cNvPr id="15" name="Stage marker 2"/>
          <p:cNvSpPr/>
          <p:nvPr/>
        </p:nvSpPr>
        <p:spPr>
          <a:xfrm>
            <a:off x="9392851" y="2692908"/>
            <a:ext cx="512064" cy="51206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2400"/>
              </a:lnSpc>
              <a:spcBef>
                <a:spcPts val="0"/>
              </a:spcBef>
              <a:spcAft>
                <a:spcPts val="0"/>
              </a:spcAft>
            </a:pPr>
            <a:r>
              <a:rPr sz="2200" b="1" i="0">
                <a:solidFill>
                  <a:srgbClr val="FFFFFF"/>
                </a:solidFill>
                <a:latin typeface="Cormorant Garamond" panose="02020404030301010803" pitchFamily="18"/>
              </a:rPr>
              <a:t>2</a:t>
            </a:r>
          </a:p>
        </p:txBody>
      </p:sp>
      <p:sp>
        <p:nvSpPr>
          <p:cNvPr id="16" name="Stage 2"/>
          <p:cNvSpPr txBox="1"/>
          <p:nvPr/>
        </p:nvSpPr>
        <p:spPr>
          <a:xfrm>
            <a:off x="9996355" y="2674620"/>
            <a:ext cx="2011680" cy="359664"/>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Preparation</a:t>
            </a:r>
          </a:p>
        </p:txBody>
      </p:sp>
      <p:sp>
        <p:nvSpPr>
          <p:cNvPr id="17" name="Stage marker 3"/>
          <p:cNvSpPr/>
          <p:nvPr/>
        </p:nvSpPr>
        <p:spPr>
          <a:xfrm>
            <a:off x="9392851" y="4384548"/>
            <a:ext cx="512064" cy="51206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2400"/>
              </a:lnSpc>
              <a:spcBef>
                <a:spcPts val="0"/>
              </a:spcBef>
              <a:spcAft>
                <a:spcPts val="0"/>
              </a:spcAft>
            </a:pPr>
            <a:r>
              <a:rPr sz="2200" b="1" i="0">
                <a:solidFill>
                  <a:srgbClr val="FFFFFF"/>
                </a:solidFill>
                <a:latin typeface="Cormorant Garamond" panose="02020404030301010803" pitchFamily="18"/>
              </a:rPr>
              <a:t>3</a:t>
            </a:r>
          </a:p>
        </p:txBody>
      </p:sp>
      <p:sp>
        <p:nvSpPr>
          <p:cNvPr id="18" name="Stage 3"/>
          <p:cNvSpPr txBox="1"/>
          <p:nvPr/>
        </p:nvSpPr>
        <p:spPr>
          <a:xfrm>
            <a:off x="9996355" y="4366260"/>
            <a:ext cx="2011680" cy="359664"/>
          </a:xfrm>
          <a:prstGeom prst="rect">
            <a:avLst/>
          </a:prstGeom>
          <a:noFill/>
        </p:spPr>
        <p:txBody>
          <a:bodyPr wrap="square" lIns="0" rIns="0" tIns="18288" bIns="18288" anchor="t">
            <a:noAutofit/>
          </a:bodyPr>
          <a:lstStyle/>
          <a:p>
            <a:pPr algn="l">
              <a:lnSpc>
                <a:spcPts val="2400"/>
              </a:lnSpc>
              <a:spcBef>
                <a:spcPts val="0"/>
              </a:spcBef>
              <a:spcAft>
                <a:spcPts val="0"/>
              </a:spcAft>
            </a:pPr>
            <a:r>
              <a:rPr sz="2000" b="1" i="0">
                <a:solidFill>
                  <a:srgbClr val="2E4257"/>
                </a:solidFill>
                <a:latin typeface="Be Vietnam Pro" panose="020F0502020204030204" pitchFamily="34"/>
              </a:rPr>
              <a:t>Appraisal</a:t>
            </a:r>
          </a:p>
        </p:txBody>
      </p:sp>
      <p:sp>
        <p:nvSpPr>
          <p:cNvPr id="19" name="Stage marker 4"/>
          <p:cNvSpPr/>
          <p:nvPr/>
        </p:nvSpPr>
        <p:spPr>
          <a:xfrm>
            <a:off x="7927848" y="5230368"/>
            <a:ext cx="512064" cy="51206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2400"/>
              </a:lnSpc>
              <a:spcBef>
                <a:spcPts val="0"/>
              </a:spcBef>
              <a:spcAft>
                <a:spcPts val="0"/>
              </a:spcAft>
            </a:pPr>
            <a:r>
              <a:rPr sz="2200" b="1" i="0">
                <a:solidFill>
                  <a:srgbClr val="FFFFFF"/>
                </a:solidFill>
                <a:latin typeface="Cormorant Garamond" panose="02020404030301010803" pitchFamily="18"/>
              </a:rPr>
              <a:t>4</a:t>
            </a:r>
          </a:p>
        </p:txBody>
      </p:sp>
      <p:sp>
        <p:nvSpPr>
          <p:cNvPr id="20" name="Stage 4"/>
          <p:cNvSpPr txBox="1"/>
          <p:nvPr/>
        </p:nvSpPr>
        <p:spPr>
          <a:xfrm>
            <a:off x="6629399" y="5806440"/>
            <a:ext cx="3108960" cy="664463"/>
          </a:xfrm>
          <a:prstGeom prst="rect">
            <a:avLst/>
          </a:prstGeom>
          <a:noFill/>
        </p:spPr>
        <p:txBody>
          <a:bodyPr wrap="square" lIns="0" rIns="0" tIns="18288" bIns="18288" anchor="t">
            <a:noAutofit/>
          </a:bodyPr>
          <a:lstStyle/>
          <a:p>
            <a:pPr algn="ctr">
              <a:lnSpc>
                <a:spcPts val="2400"/>
              </a:lnSpc>
              <a:spcBef>
                <a:spcPts val="0"/>
              </a:spcBef>
              <a:spcAft>
                <a:spcPts val="0"/>
              </a:spcAft>
            </a:pPr>
            <a:r>
              <a:rPr sz="2000" b="1" i="0">
                <a:solidFill>
                  <a:srgbClr val="2E4257"/>
                </a:solidFill>
                <a:latin typeface="Be Vietnam Pro" panose="020F0502020204030204" pitchFamily="34"/>
              </a:rPr>
              <a:t>Negotiation and Board approval</a:t>
            </a:r>
          </a:p>
        </p:txBody>
      </p:sp>
      <p:sp>
        <p:nvSpPr>
          <p:cNvPr id="21" name="Stage marker 5"/>
          <p:cNvSpPr/>
          <p:nvPr/>
        </p:nvSpPr>
        <p:spPr>
          <a:xfrm>
            <a:off x="6462844" y="4384548"/>
            <a:ext cx="512064" cy="51206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2400"/>
              </a:lnSpc>
              <a:spcBef>
                <a:spcPts val="0"/>
              </a:spcBef>
              <a:spcAft>
                <a:spcPts val="0"/>
              </a:spcAft>
            </a:pPr>
            <a:r>
              <a:rPr sz="2200" b="1" i="0">
                <a:solidFill>
                  <a:srgbClr val="FFFFFF"/>
                </a:solidFill>
                <a:latin typeface="Cormorant Garamond" panose="02020404030301010803" pitchFamily="18"/>
              </a:rPr>
              <a:t>5</a:t>
            </a:r>
          </a:p>
        </p:txBody>
      </p:sp>
      <p:sp>
        <p:nvSpPr>
          <p:cNvPr id="22" name="Stage 5"/>
          <p:cNvSpPr txBox="1"/>
          <p:nvPr/>
        </p:nvSpPr>
        <p:spPr>
          <a:xfrm>
            <a:off x="4359724" y="4366260"/>
            <a:ext cx="2011680" cy="969264"/>
          </a:xfrm>
          <a:prstGeom prst="rect">
            <a:avLst/>
          </a:prstGeom>
          <a:noFill/>
        </p:spPr>
        <p:txBody>
          <a:bodyPr wrap="square" lIns="0" rIns="0" tIns="18288" bIns="18288" anchor="t">
            <a:noAutofit/>
          </a:bodyPr>
          <a:lstStyle/>
          <a:p>
            <a:pPr algn="r">
              <a:lnSpc>
                <a:spcPts val="2400"/>
              </a:lnSpc>
              <a:spcBef>
                <a:spcPts val="0"/>
              </a:spcBef>
              <a:spcAft>
                <a:spcPts val="0"/>
              </a:spcAft>
            </a:pPr>
            <a:r>
              <a:rPr sz="2000" b="1" i="0">
                <a:solidFill>
                  <a:srgbClr val="2E4257"/>
                </a:solidFill>
                <a:latin typeface="Be Vietnam Pro" panose="020F0502020204030204" pitchFamily="34"/>
              </a:rPr>
              <a:t>Implementation and supervision</a:t>
            </a:r>
          </a:p>
        </p:txBody>
      </p:sp>
      <p:sp>
        <p:nvSpPr>
          <p:cNvPr id="23" name="Stage marker 6"/>
          <p:cNvSpPr/>
          <p:nvPr/>
        </p:nvSpPr>
        <p:spPr>
          <a:xfrm>
            <a:off x="6462844" y="2692908"/>
            <a:ext cx="512064" cy="51206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2400"/>
              </a:lnSpc>
              <a:spcBef>
                <a:spcPts val="0"/>
              </a:spcBef>
              <a:spcAft>
                <a:spcPts val="0"/>
              </a:spcAft>
            </a:pPr>
            <a:r>
              <a:rPr sz="2200" b="1" i="0">
                <a:solidFill>
                  <a:srgbClr val="FFFFFF"/>
                </a:solidFill>
                <a:latin typeface="Cormorant Garamond" panose="02020404030301010803" pitchFamily="18"/>
              </a:rPr>
              <a:t>6</a:t>
            </a:r>
          </a:p>
        </p:txBody>
      </p:sp>
      <p:sp>
        <p:nvSpPr>
          <p:cNvPr id="24" name="Stage 6"/>
          <p:cNvSpPr txBox="1"/>
          <p:nvPr/>
        </p:nvSpPr>
        <p:spPr>
          <a:xfrm>
            <a:off x="4359724" y="2674620"/>
            <a:ext cx="2011680" cy="664463"/>
          </a:xfrm>
          <a:prstGeom prst="rect">
            <a:avLst/>
          </a:prstGeom>
          <a:noFill/>
        </p:spPr>
        <p:txBody>
          <a:bodyPr wrap="square" lIns="0" rIns="0" tIns="18288" bIns="18288" anchor="t">
            <a:noAutofit/>
          </a:bodyPr>
          <a:lstStyle/>
          <a:p>
            <a:pPr algn="r">
              <a:lnSpc>
                <a:spcPts val="2400"/>
              </a:lnSpc>
              <a:spcBef>
                <a:spcPts val="0"/>
              </a:spcBef>
              <a:spcAft>
                <a:spcPts val="0"/>
              </a:spcAft>
            </a:pPr>
            <a:r>
              <a:rPr sz="2000" b="1" i="0">
                <a:solidFill>
                  <a:srgbClr val="2E4257"/>
                </a:solidFill>
                <a:latin typeface="Be Vietnam Pro" panose="020F0502020204030204" pitchFamily="34"/>
              </a:rPr>
              <a:t>Completion and evaluation</a:t>
            </a:r>
          </a:p>
        </p:txBody>
      </p:sp>
      <p:sp>
        <p:nvSpPr>
          <p:cNvPr id="25"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4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52571" y="177258"/>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9312" y="6423811"/>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0610" y="289606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Stages of the project cycle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2.1.1 · p. 21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4. Stages of the World Bank project cycle</a:t>
            </a:r>
          </a:p>
        </p:txBody>
      </p:sp>
      <p:graphicFrame>
        <p:nvGraphicFramePr>
          <p:cNvPr id="11" name="!!tbl" descr="Table 4. Stages of the World Bank project cycle. Editable table, 3 rows."/>
          <p:cNvGraphicFramePr>
            <a:graphicFrameLocks noGrp="1"/>
          </p:cNvGraphicFramePr>
          <p:nvPr/>
        </p:nvGraphicFramePr>
        <p:xfrm>
          <a:off x="548640" y="1938528"/>
          <a:ext cx="11094413" cy="2991915"/>
        </p:xfrm>
        <a:graphic>
          <a:graphicData uri="http://schemas.openxmlformats.org/drawingml/2006/table">
            <a:tbl>
              <a:tblPr firstRow="1" bandRow="0">
                <a:tableStyleId>{5940675A-B579-460E-94D1-54222C63F5DA}</a:tableStyleId>
              </a:tblPr>
              <a:tblGrid>
                <a:gridCol w="1592532"/>
                <a:gridCol w="4943484"/>
                <a:gridCol w="1678490"/>
                <a:gridCol w="2879907"/>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Stage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Main activities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Lead role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Key document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 Identification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 and government agree on a project concept consistent with the Country Partnership Framework</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and Bank</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Project Concept Note, Project Information Document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 Preparation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Feasibility studies, technical design, environmental and social instruments, procurement plan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with Bank advice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Feasibility study, ESIA, resettlement plan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 Appraisal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 reviews technical, economic, financial, institutional and E&amp;S aspects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Project Appraisal Document (PAD)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021884"/>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6" action="ppaction://hlinksldjump"/>
              </a:rPr>
              <a:t>25</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29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8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39474" y="43491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6173" y="6459257"/>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5795" y="375085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Stages of the project cycle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2.1.1 · p. 21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4. Stages of the World Bank project cycle</a:t>
            </a:r>
          </a:p>
        </p:txBody>
      </p:sp>
      <p:graphicFrame>
        <p:nvGraphicFramePr>
          <p:cNvPr id="11" name="!!tbl" descr="Table 4. Stages of the World Bank project cycle. Editable table, 3 rows."/>
          <p:cNvGraphicFramePr>
            <a:graphicFrameLocks noGrp="1"/>
          </p:cNvGraphicFramePr>
          <p:nvPr/>
        </p:nvGraphicFramePr>
        <p:xfrm>
          <a:off x="548640" y="1938528"/>
          <a:ext cx="11094413" cy="2991915"/>
        </p:xfrm>
        <a:graphic>
          <a:graphicData uri="http://schemas.openxmlformats.org/drawingml/2006/table">
            <a:tbl>
              <a:tblPr firstRow="1" bandRow="0">
                <a:tableStyleId>{5940675A-B579-460E-94D1-54222C63F5DA}</a:tableStyleId>
              </a:tblPr>
              <a:tblGrid>
                <a:gridCol w="2087959"/>
                <a:gridCol w="4384986"/>
                <a:gridCol w="1649051"/>
                <a:gridCol w="2972417"/>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Stage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Main activities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Lead role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Key document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 Negotiation and Board approval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Legal agreements negotiated; Board approves; loan signed and declared effective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and Bank</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Agreement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 Implementation and supervision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carries out the project; Bank supervises and may restructure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Bank supervises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 Status and Results Report (ISR)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 Completion and evaluation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Results assessed; lessons recorded; independent validation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 then IEG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 Completion and Results Report (ICR)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021884"/>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6" action="ppaction://hlinksldjump"/>
              </a:rPr>
              <a:t>25</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11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70771" y="26701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5701" y="6376217"/>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9599" y="380868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The cycle does not end at approval</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Restructuring:</a:t>
            </a:r>
            <a:r>
              <a:rPr sz="2400" b="0" i="0">
                <a:solidFill>
                  <a:srgbClr val="2E4257"/>
                </a:solidFill>
                <a:latin typeface="Be Vietnam Pro" panose="020F0502020204030204" pitchFamily="34"/>
              </a:rPr>
              <a:t> TEP restructured in 2019 and extended by two years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Cancellation:</a:t>
            </a:r>
            <a:r>
              <a:rPr sz="2400" b="0" i="0">
                <a:solidFill>
                  <a:srgbClr val="2E4257"/>
                </a:solidFill>
                <a:latin typeface="Be Vietnam Pro" panose="020F0502020204030204" pitchFamily="34"/>
              </a:rPr>
              <a:t> CCSEP restructured in 2022; about US$45.6 million of loan funds cancelled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Two systems:</a:t>
            </a:r>
            <a:r>
              <a:rPr sz="2400" b="0" i="0">
                <a:solidFill>
                  <a:srgbClr val="2E4257"/>
                </a:solidFill>
                <a:latin typeface="Be Vietnam Pro" panose="020F0502020204030204" pitchFamily="34"/>
              </a:rPr>
              <a:t> domestic approvals, counterpart funds and on-lending run alongside each stage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Joint delays:</a:t>
            </a:r>
            <a:r>
              <a:rPr sz="2400" b="0" i="0">
                <a:solidFill>
                  <a:srgbClr val="2E4257"/>
                </a:solidFill>
                <a:latin typeface="Be Vietnam Pro" panose="020F0502020204030204" pitchFamily="34"/>
              </a:rPr>
              <a:t> CCSEP became effective about five and a half months later than planned</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2.1.1 · p. 22</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23960" y="2468880"/>
            <a:ext cx="2834640" cy="283464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9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76026" y="41179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8967" y="648963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21638" y="399466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Four disbursement methods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2.1.2 · p. 22</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5. IBRD disbursement methods for investment projects</a:t>
            </a:r>
          </a:p>
        </p:txBody>
      </p:sp>
      <p:graphicFrame>
        <p:nvGraphicFramePr>
          <p:cNvPr id="11" name="!!tbl" descr="Table 5. IBRD disbursement methods for investment projects. Editable table, 4 rows."/>
          <p:cNvGraphicFramePr>
            <a:graphicFrameLocks noGrp="1"/>
          </p:cNvGraphicFramePr>
          <p:nvPr/>
        </p:nvGraphicFramePr>
        <p:xfrm>
          <a:off x="548640" y="1938528"/>
          <a:ext cx="11094414" cy="3147363"/>
        </p:xfrm>
        <a:graphic>
          <a:graphicData uri="http://schemas.openxmlformats.org/drawingml/2006/table">
            <a:tbl>
              <a:tblPr firstRow="1" bandRow="0">
                <a:tableStyleId>{5940675A-B579-460E-94D1-54222C63F5DA}</a:tableStyleId>
              </a:tblPr>
              <a:tblGrid>
                <a:gridCol w="1792636"/>
                <a:gridCol w="6455167"/>
                <a:gridCol w="2846611"/>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Method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How it works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Typical use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Advance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 deposits funds in a designated account; borrower pays eligible expenses, documents them later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Many small and recurring payments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Reimbursement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pays first from its own funds; the Bank then refunds eligible expenditures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Expenses the borrower can pre-finance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Direct payment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 pays a supplier, contractor or consultant directly at the borrower’s request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Large contract payments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Special commitment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Bank commits to pay a third party under a letter of credit opened by a commercial bank</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Imported goods and equipment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5177332"/>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6" action="ppaction://hlinksldjump"/>
              </a:rPr>
              <a:t>26</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7" action="ppaction://hlinksldjump"/>
              </a:rPr>
              <a:t>27</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3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90982" y="290242"/>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6532" y="6372971"/>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3189" y="283392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Counterpart funding as the constraint</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Documentation:</a:t>
            </a:r>
            <a:r>
              <a:rPr sz="2400" b="0" i="0">
                <a:solidFill>
                  <a:srgbClr val="2E4257"/>
                </a:solidFill>
                <a:latin typeface="Be Vietnam Pro" panose="020F0502020204030204" pitchFamily="34"/>
              </a:rPr>
              <a:t> each withdrawal documented; deadline usually four months after closing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26</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Counterpart share:</a:t>
            </a:r>
            <a:r>
              <a:rPr sz="2400" b="0" i="0">
                <a:solidFill>
                  <a:srgbClr val="2E4257"/>
                </a:solidFill>
                <a:latin typeface="Be Vietnam Pro" panose="020F0502020204030204" pitchFamily="34"/>
              </a:rPr>
              <a:t> CCSEP funds covered land, resettlement, staff, operating costs, training</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a:t>
            </a:r>
            <a:r>
              <a:rPr sz="2400" b="0" i="0">
                <a:solidFill>
                  <a:srgbClr val="2E4257"/>
                </a:solidFill>
                <a:latin typeface="Be Vietnam Pro" panose="020F0502020204030204" pitchFamily="34"/>
              </a:rPr>
              <a:t> NPT provided US$231.25 million of the planned US$731.25 million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21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Binding constraint:</a:t>
            </a:r>
            <a:r>
              <a:rPr sz="2400" b="0" i="0">
                <a:solidFill>
                  <a:srgbClr val="2E4257"/>
                </a:solidFill>
                <a:latin typeface="Be Vietnam Pro" panose="020F0502020204030204" pitchFamily="34"/>
              </a:rPr>
              <a:t> CCSEP allocations began July 2019; no disbursement in 2017 and 2018</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Real debt:</a:t>
            </a:r>
            <a:r>
              <a:rPr sz="2400" b="0" i="0">
                <a:solidFill>
                  <a:srgbClr val="2E4257"/>
                </a:solidFill>
                <a:latin typeface="Be Vietnam Pro" panose="020F0502020204030204" pitchFamily="34"/>
              </a:rPr>
              <a:t> where loans are on-lent, provinces take on real debt obligations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2.1.2 · p. 23</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37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83289" y="342867"/>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24647" y="6396761"/>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0880" y="387327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Instruments in practice: IPF and PforR</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IPF:</a:t>
            </a:r>
            <a:r>
              <a:rPr sz="2400" b="0" i="0">
                <a:solidFill>
                  <a:srgbClr val="2E4257"/>
                </a:solidFill>
                <a:latin typeface="Be Vietnam Pro" panose="020F0502020204030204" pitchFamily="34"/>
              </a:rPr>
              <a:t> components, results framework, implementing agency; funds follow contract progress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 model:</a:t>
            </a:r>
            <a:r>
              <a:rPr sz="2400" b="0" i="0">
                <a:solidFill>
                  <a:srgbClr val="2E4257"/>
                </a:solidFill>
                <a:latin typeface="Be Vietnam Pro" panose="020F0502020204030204" pitchFamily="34"/>
              </a:rPr>
              <a:t> three components via NPT boards; land or bidding delays slow funds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PforR:</a:t>
            </a:r>
            <a:r>
              <a:rPr sz="2400" b="0" i="0">
                <a:solidFill>
                  <a:srgbClr val="2E4257"/>
                </a:solidFill>
                <a:latin typeface="Be Vietnam Pro" panose="020F0502020204030204" pitchFamily="34"/>
              </a:rPr>
              <a:t> funds released only after verified Disbursement-Linked Indicators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IEG on DLIs:</a:t>
            </a:r>
            <a:r>
              <a:rPr sz="2400" b="0" i="0">
                <a:solidFill>
                  <a:srgbClr val="2E4257"/>
                </a:solidFill>
                <a:latin typeface="Be Vietnam Pro" panose="020F0502020204030204" pitchFamily="34"/>
              </a:rPr>
              <a:t> choice is critical; monitoring should not focus on DLIs alone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32</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For Vietnam:</a:t>
            </a:r>
            <a:r>
              <a:rPr sz="2400" b="0" i="0">
                <a:solidFill>
                  <a:srgbClr val="2E4257"/>
                </a:solidFill>
                <a:latin typeface="Be Vietnam Pro" panose="020F0502020204030204" pitchFamily="34"/>
              </a:rPr>
              <a:t> results-based design shifts responsibility, and risk, to domestic agencies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2.1.3 · p. 23–24</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7794"/>
            <a:ext cx="2834640" cy="335681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51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79408" y="172548"/>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7682" y="649514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4543" y="413372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DPF in Vietnam: policy matrix to budget</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PIR 1:</a:t>
            </a:r>
            <a:r>
              <a:rPr sz="2400" b="0" i="0">
                <a:solidFill>
                  <a:srgbClr val="2E4257"/>
                </a:solidFill>
                <a:latin typeface="Be Vietnam Pro" panose="020F0502020204030204" pitchFamily="34"/>
              </a:rPr>
              <a:t> US$500 million IBRD, December 2009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2</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PIR 2:</a:t>
            </a:r>
            <a:r>
              <a:rPr sz="2400" b="0" i="0">
                <a:solidFill>
                  <a:srgbClr val="2E4257"/>
                </a:solidFill>
                <a:latin typeface="Be Vietnam Pro" panose="020F0502020204030204" pitchFamily="34"/>
              </a:rPr>
              <a:t> May 2011; IBRD US$87.3 million, IDA US$262.7 million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28</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Aims:</a:t>
            </a:r>
            <a:r>
              <a:rPr sz="2400" b="0" i="0">
                <a:solidFill>
                  <a:srgbClr val="2E4257"/>
                </a:solidFill>
                <a:latin typeface="Be Vietnam Pro" panose="020F0502020204030204" pitchFamily="34"/>
              </a:rPr>
              <a:t> investment cycle; legal basis for public-private partnerships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29</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10" action="ppaction://hlinksldjump"/>
              </a:rPr>
              <a:t>30</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Power sector:</a:t>
            </a:r>
            <a:r>
              <a:rPr sz="2400" b="0" i="0">
                <a:solidFill>
                  <a:srgbClr val="2E4257"/>
                </a:solidFill>
                <a:latin typeface="Be Vietnam Pro" panose="020F0502020204030204" pitchFamily="34"/>
              </a:rPr>
              <a:t> 2010; IBRD US$200 million, IDA US$111.8 million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1" action="ppaction://hlinksldjump"/>
              </a:rPr>
              <a:t>31</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2.1.3 · p. 24</a:t>
            </a:r>
          </a:p>
        </p:txBody>
      </p:sp>
      <p:graphicFrame>
        <p:nvGraphicFramePr>
          <p:cNvPr id="11" name="!!chart" descr="DPF operations named in Section 2.1.3 (million USD). Native chart. IBRD: PIR 1 (Dec 2009) 500, PIR 2 (May 2011) 87.3, Power-sector DPF (2010) 200; IDA: PIR 1 (Dec 2009) n/a, PIR 2 (May 2011) 262.7, Power-sector DPF (2010) 111.8"/>
          <p:cNvGraphicFramePr>
            <a:graphicFrameLocks noGrp="1"/>
          </p:cNvGraphicFramePr>
          <p:nvPr/>
        </p:nvGraphicFramePr>
        <p:xfrm>
          <a:off x="5943599" y="1572768"/>
          <a:ext cx="5699455" cy="440029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6082792"/>
            <a:ext cx="569945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Data: Section 2.1.3 of the paper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7" action="ppaction://hlinksldjump"/>
              </a:rPr>
              <a:t>2</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8" action="ppaction://hlinksldjump"/>
              </a:rPr>
              <a:t>28</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11" action="ppaction://hlinksldjump"/>
              </a:rPr>
              <a:t>31</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4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67524" y="321948"/>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4830" y="6464829"/>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98482" y="413127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Technical support: preparation</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Task team:</a:t>
            </a:r>
            <a:r>
              <a:rPr sz="2400" b="0" i="0">
                <a:solidFill>
                  <a:srgbClr val="2E4257"/>
                </a:solidFill>
                <a:latin typeface="Be Vietnam Pro" panose="020F0502020204030204" pitchFamily="34"/>
              </a:rPr>
              <a:t> technical, financial, procurement and safeguard specialists advise the borrower</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Viability check:</a:t>
            </a:r>
            <a:r>
              <a:rPr sz="2400" b="0" i="0">
                <a:solidFill>
                  <a:srgbClr val="2E4257"/>
                </a:solidFill>
                <a:latin typeface="Be Vietnam Pro" panose="020F0502020204030204" pitchFamily="34"/>
              </a:rPr>
              <a:t> TEP appraisal estimated an EIRR of 31.4%</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E&amp;S instruments:</a:t>
            </a:r>
            <a:r>
              <a:rPr sz="2400" b="0" i="0">
                <a:solidFill>
                  <a:srgbClr val="2E4257"/>
                </a:solidFill>
                <a:latin typeface="Be Vietnam Pro" panose="020F0502020204030204" pitchFamily="34"/>
              </a:rPr>
              <a:t> CCSEP: an ESIA per city, one resettlement framework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33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Preparation Advance:</a:t>
            </a:r>
            <a:r>
              <a:rPr sz="2400" b="0" i="0">
                <a:solidFill>
                  <a:srgbClr val="2E4257"/>
                </a:solidFill>
                <a:latin typeface="Be Vietnam Pro" panose="020F0502020204030204" pitchFamily="34"/>
              </a:rPr>
              <a:t> finances preparation; refinanced from the loan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27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Quality matters:</a:t>
            </a:r>
            <a:r>
              <a:rPr sz="2400" b="0" i="0">
                <a:solidFill>
                  <a:srgbClr val="2E4257"/>
                </a:solidFill>
                <a:latin typeface="Be Vietnam Pro" panose="020F0502020204030204" pitchFamily="34"/>
              </a:rPr>
              <a:t> better TEP smart-grid preparation would have avoided the extension</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2.2.1 · p. 24–25</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23960" y="2468880"/>
            <a:ext cx="2834640" cy="283464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78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65196" y="310976"/>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3909" y="6484318"/>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8662" y="458652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Advisory Services and Analytics</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ASA:</a:t>
            </a:r>
            <a:r>
              <a:rPr sz="2400" b="0" i="0">
                <a:solidFill>
                  <a:srgbClr val="2E4257"/>
                </a:solidFill>
                <a:latin typeface="Be Vietnam Pro" panose="020F0502020204030204" pitchFamily="34"/>
              </a:rPr>
              <a:t> reports, policy notes, advice, workshops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34</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2023:</a:t>
            </a:r>
            <a:r>
              <a:rPr sz="2400" b="0" i="0">
                <a:solidFill>
                  <a:srgbClr val="2E4257"/>
                </a:solidFill>
                <a:latin typeface="Be Vietnam Pro" panose="020F0502020204030204" pitchFamily="34"/>
              </a:rPr>
              <a:t> US$991 million disbursed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35</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RAS:</a:t>
            </a:r>
            <a:r>
              <a:rPr sz="2400" b="0" i="0">
                <a:solidFill>
                  <a:srgbClr val="2E4257"/>
                </a:solidFill>
                <a:latin typeface="Be Vietnam Pro" panose="020F0502020204030204" pitchFamily="34"/>
              </a:rPr>
              <a:t> client-paid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34</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mainly middle- and high-income countries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36</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Vietnam:</a:t>
            </a:r>
            <a:r>
              <a:rPr sz="2400" b="0" i="0">
                <a:solidFill>
                  <a:srgbClr val="2E4257"/>
                </a:solidFill>
                <a:latin typeface="Be Vietnam Pro" panose="020F0502020204030204" pitchFamily="34"/>
              </a:rPr>
              <a:t> PIR dialogue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0" action="ppaction://hlinksldjump"/>
              </a:rPr>
              <a:t>2</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PPIAF US$350,000 and GIZ for CCSEP</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2.2.2 · p. 25</a:t>
            </a:r>
          </a:p>
        </p:txBody>
      </p:sp>
      <p:graphicFrame>
        <p:nvGraphicFramePr>
          <p:cNvPr id="11" name="!!chart" descr="Analytical and advisory disbursements, 2023 (US$991 million). Native chart. Share (%): Donor trust funds 68, Bank administrative budget 26, Reimbursable Advisory Services 6"/>
          <p:cNvGraphicFramePr>
            <a:graphicFrameLocks noGrp="1"/>
          </p:cNvGraphicFramePr>
          <p:nvPr/>
        </p:nvGraphicFramePr>
        <p:xfrm>
          <a:off x="5943599" y="1572768"/>
          <a:ext cx="5699455" cy="440029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6082792"/>
            <a:ext cx="569945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Data: Section 2.2.2 of the paper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8" action="ppaction://hlinksldjump"/>
              </a:rPr>
              <a:t>35</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92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91746" y="285625"/>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3031" y="649851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4828" y="414242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Monitoring and evaluation: three levels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2.2.3 · p. 26</a:t>
            </a:r>
          </a:p>
        </p:txBody>
      </p:sp>
      <p:sp>
        <p:nvSpPr>
          <p:cNvPr id="10" name="!!lead"/>
          <p:cNvSpPr txBox="1"/>
          <p:nvPr/>
        </p:nvSpPr>
        <p:spPr>
          <a:xfrm>
            <a:off x="548640" y="1572768"/>
            <a:ext cx="11094415" cy="83820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CCSEP results framework: about 290,000 beneficiaries, 256,000 sewer connections, 100% cost recovery.</a:t>
            </a:r>
          </a:p>
        </p:txBody>
      </p:sp>
      <p:sp>
        <p:nvSpPr>
          <p:cNvPr id="11" name="!!card1"/>
          <p:cNvSpPr/>
          <p:nvPr/>
        </p:nvSpPr>
        <p:spPr>
          <a:xfrm>
            <a:off x="548640" y="254812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Supervision</a:t>
            </a:r>
          </a:p>
          <a:p>
            <a:pPr algn="l">
              <a:lnSpc>
                <a:spcPts val="2400"/>
              </a:lnSpc>
              <a:spcBef>
                <a:spcPts val="0"/>
              </a:spcBef>
              <a:spcAft>
                <a:spcPts val="0"/>
              </a:spcAft>
            </a:pPr>
            <a:r>
              <a:rPr sz="2000" b="0" i="0">
                <a:solidFill>
                  <a:srgbClr val="2E4257"/>
                </a:solidFill>
                <a:latin typeface="Be Vietnam Pro" panose="020F0502020204030204" pitchFamily="34"/>
              </a:rPr>
              <a:t>Regular ISRs rate progress to the PDO and implementation (</a:t>
            </a:r>
            <a:r>
              <a:rPr sz="2000" b="0" i="0" u="sng">
                <a:solidFill>
                  <a:srgbClr val="A33224"/>
                </a:solidFill>
                <a:latin typeface="Be Vietnam Pro" panose="020F0502020204030204" pitchFamily="34"/>
                <a:hlinkClick r:id="rId6" action="ppaction://hlinksldjump"/>
              </a:rPr>
              <a:t>World Bank, n.d.-c</a:t>
            </a:r>
            <a:r>
              <a:rPr sz="2000" b="0" i="0">
                <a:solidFill>
                  <a:srgbClr val="2E4257"/>
                </a:solidFill>
                <a:latin typeface="Be Vietnam Pro" panose="020F0502020204030204" pitchFamily="34"/>
              </a:rPr>
              <a:t>)</a:t>
            </a:r>
          </a:p>
        </p:txBody>
      </p:sp>
      <p:sp>
        <p:nvSpPr>
          <p:cNvPr id="12" name="!!card2"/>
          <p:cNvSpPr/>
          <p:nvPr/>
        </p:nvSpPr>
        <p:spPr>
          <a:xfrm>
            <a:off x="4338218" y="254812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Completion</a:t>
            </a:r>
          </a:p>
          <a:p>
            <a:pPr algn="l">
              <a:lnSpc>
                <a:spcPts val="2400"/>
              </a:lnSpc>
              <a:spcBef>
                <a:spcPts val="0"/>
              </a:spcBef>
              <a:spcAft>
                <a:spcPts val="0"/>
              </a:spcAft>
            </a:pPr>
            <a:r>
              <a:rPr sz="2000" b="0" i="0">
                <a:solidFill>
                  <a:srgbClr val="2E4257"/>
                </a:solidFill>
                <a:latin typeface="Be Vietnam Pro" panose="020F0502020204030204" pitchFamily="34"/>
              </a:rPr>
              <a:t>ICR at closing compares results with targets</a:t>
            </a:r>
          </a:p>
        </p:txBody>
      </p:sp>
      <p:sp>
        <p:nvSpPr>
          <p:cNvPr id="13" name="!!card3"/>
          <p:cNvSpPr/>
          <p:nvPr/>
        </p:nvSpPr>
        <p:spPr>
          <a:xfrm>
            <a:off x="8127796" y="254812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Independent evaluation</a:t>
            </a:r>
          </a:p>
          <a:p>
            <a:pPr algn="l">
              <a:lnSpc>
                <a:spcPts val="2400"/>
              </a:lnSpc>
              <a:spcBef>
                <a:spcPts val="0"/>
              </a:spcBef>
              <a:spcAft>
                <a:spcPts val="0"/>
              </a:spcAft>
            </a:pPr>
            <a:r>
              <a:rPr sz="2000" b="0" i="0">
                <a:solidFill>
                  <a:srgbClr val="2E4257"/>
                </a:solidFill>
                <a:latin typeface="Be Vietnam Pro" panose="020F0502020204030204" pitchFamily="34"/>
              </a:rPr>
              <a:t>IEG validates the ICR; PPAR for selected projects</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06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12888" y="250315"/>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1492" y="638605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5974" y="289102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What M&amp;E shows and its limits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 PPAR:</a:t>
            </a:r>
            <a:r>
              <a:rPr sz="2400" b="0" i="0">
                <a:solidFill>
                  <a:srgbClr val="2E4257"/>
                </a:solidFill>
                <a:latin typeface="Be Vietnam Pro" panose="020F0502020204030204" pitchFamily="34"/>
              </a:rPr>
              <a:t> outcome highly satisfactory, Bank performance satisfactory, M&amp;E quality substantial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37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Early warning:</a:t>
            </a:r>
            <a:r>
              <a:rPr sz="2400" b="0" i="0">
                <a:solidFill>
                  <a:srgbClr val="2E4257"/>
                </a:solidFill>
                <a:latin typeface="Be Vietnam Pro" panose="020F0502020204030204" pitchFamily="34"/>
              </a:rPr>
              <a:t> in 2022, CCSEP's likelihood of achieving its PDO was downgraded to moderately unsatisfactory</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Attribution:</a:t>
            </a:r>
            <a:r>
              <a:rPr sz="2400" b="0" i="0">
                <a:solidFill>
                  <a:srgbClr val="2E4257"/>
                </a:solidFill>
                <a:latin typeface="Be Vietnam Pro" panose="020F0502020204030204" pitchFamily="34"/>
              </a:rPr>
              <a:t> system-wide indicators such as transmission losses are not the project alone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 ICR:</a:t>
            </a:r>
            <a:r>
              <a:rPr sz="2400" b="0" i="0">
                <a:solidFill>
                  <a:srgbClr val="2E4257"/>
                </a:solidFill>
                <a:latin typeface="Be Vietnam Pro" panose="020F0502020204030204" pitchFamily="34"/>
              </a:rPr>
              <a:t> for CCSEP, the assessment must rely on interim reports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2.2.3 · p. 26</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23960" y="2468880"/>
            <a:ext cx="2834640" cy="283464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39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0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05721" y="39593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21249" y="638325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7086" y="467533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Training project management units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PMUs:</a:t>
            </a:r>
            <a:r>
              <a:rPr sz="2400" b="0" i="0">
                <a:solidFill>
                  <a:srgbClr val="2E4257"/>
                </a:solidFill>
                <a:latin typeface="Be Vietnam Pro" panose="020F0502020204030204" pitchFamily="34"/>
              </a:rPr>
              <a:t> TEP used NPT's northern, central and southern boards; CCSEP one PMU per province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Training:</a:t>
            </a:r>
            <a:r>
              <a:rPr sz="2400" b="0" i="0">
                <a:solidFill>
                  <a:srgbClr val="2E4257"/>
                </a:solidFill>
                <a:latin typeface="Be Vietnam Pro" panose="020F0502020204030204" pitchFamily="34"/>
              </a:rPr>
              <a:t> project and financial management, procurement and safeguards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Open Learning Campus:</a:t>
            </a:r>
            <a:r>
              <a:rPr sz="2400" b="0" i="0">
                <a:solidFill>
                  <a:srgbClr val="2E4257"/>
                </a:solidFill>
                <a:latin typeface="Be Vietnam Pro" panose="020F0502020204030204" pitchFamily="34"/>
              </a:rPr>
              <a:t> orientation courses from Bank expectations to M&amp;E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38</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Staff continuity:</a:t>
            </a:r>
            <a:r>
              <a:rPr sz="2400" b="0" i="0">
                <a:solidFill>
                  <a:srgbClr val="2E4257"/>
                </a:solidFill>
                <a:latin typeface="Be Vietnam Pro" panose="020F0502020204030204" pitchFamily="34"/>
              </a:rPr>
              <a:t> the new PMU in Phan Rang drew 10 of its 12 staff from other ODA units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Still weak:</a:t>
            </a:r>
            <a:r>
              <a:rPr sz="2400" b="0" i="0">
                <a:solidFill>
                  <a:srgbClr val="2E4257"/>
                </a:solidFill>
                <a:latin typeface="Be Vietnam Pro" panose="020F0502020204030204" pitchFamily="34"/>
              </a:rPr>
              <a:t> PMU capacity remained a main cause of CCSEP delay</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2.3.1 · p. 27</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33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56671" y="31438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9464" y="6463747"/>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2712" y="364139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Knowledge transfer by doing</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Learning by doing:</a:t>
            </a:r>
            <a:r>
              <a:rPr sz="2400" b="0" i="0">
                <a:solidFill>
                  <a:srgbClr val="2E4257"/>
                </a:solidFill>
                <a:latin typeface="Be Vietnam Pro" panose="020F0502020204030204" pitchFamily="34"/>
              </a:rPr>
              <a:t> staff apply Bank rules on real contracts; Bank specialists review key steps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MOOC:</a:t>
            </a:r>
            <a:r>
              <a:rPr sz="2400" b="0" i="0">
                <a:solidFill>
                  <a:srgbClr val="2E4257"/>
                </a:solidFill>
                <a:latin typeface="Be Vietnam Pro" panose="020F0502020204030204" pitchFamily="34"/>
              </a:rPr>
              <a:t> 2014 public procurement course, more than 540 certified learners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39</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E-procurement:</a:t>
            </a:r>
            <a:r>
              <a:rPr sz="2400" b="0" i="0">
                <a:solidFill>
                  <a:srgbClr val="2E4257"/>
                </a:solidFill>
                <a:latin typeface="Be Vietnam Pro" panose="020F0502020204030204" pitchFamily="34"/>
              </a:rPr>
              <a:t> certification after an examination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40</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a:t>
            </a:r>
            <a:r>
              <a:rPr sz="2400" b="0" i="0">
                <a:solidFill>
                  <a:srgbClr val="2E4257"/>
                </a:solidFill>
                <a:latin typeface="Be Vietnam Pro" panose="020F0502020204030204" pitchFamily="34"/>
              </a:rPr>
              <a:t> NPT boards built procurement, financial and safeguard capabilities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37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Harder to transfer:</a:t>
            </a:r>
            <a:r>
              <a:rPr sz="2400" b="0" i="0">
                <a:solidFill>
                  <a:srgbClr val="2E4257"/>
                </a:solidFill>
                <a:latin typeface="Be Vietnam Pro" panose="020F0502020204030204" pitchFamily="34"/>
              </a:rPr>
              <a:t> in Nha Trang, local compensation rules clashed with Bank standards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2.3.2 · p. 27–28</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3132"/>
            <a:ext cx="2834640" cy="3366135"/>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47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33689" y="44965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9546" y="646369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7300" y="335703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Institutional reform in the two cases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2.3.3 · p. 28</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6. Institutional reform activities in the two case studies</a:t>
            </a:r>
          </a:p>
        </p:txBody>
      </p:sp>
      <p:graphicFrame>
        <p:nvGraphicFramePr>
          <p:cNvPr id="11" name="!!tbl" descr="Table 6. Institutional reform activities in the two case studies. Editable table, 5 rows."/>
          <p:cNvGraphicFramePr>
            <a:graphicFrameLocks noGrp="1"/>
          </p:cNvGraphicFramePr>
          <p:nvPr/>
        </p:nvGraphicFramePr>
        <p:xfrm>
          <a:off x="548640" y="1938528"/>
          <a:ext cx="11094414" cy="3566158"/>
        </p:xfrm>
        <a:graphic>
          <a:graphicData uri="http://schemas.openxmlformats.org/drawingml/2006/table">
            <a:tbl>
              <a:tblPr firstRow="1" bandRow="0">
                <a:tableStyleId>{5940675A-B579-460E-94D1-54222C63F5DA}</a:tableStyleId>
              </a:tblPr>
              <a:tblGrid>
                <a:gridCol w="954833"/>
                <a:gridCol w="5296234"/>
                <a:gridCol w="4843347"/>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Project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Reform activity</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Position at the latest report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TEP</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Asset management system for NPT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Fully operational; used for investment and maintenance decisions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TEP</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Cost-reflective transmission tariff, IFRS reporting, testing laboratory</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Carried out mainly with NPT/EVN funds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CCSEP</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Public Service Management Units in each city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Established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CCSEP</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Wastewater tariff roadmaps, household connection policies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Approved or issued; implementation varies by city</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CCSEP</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Performance-based service contracts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Largely not yet in use, except at the Nha Trang treatment plant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596128"/>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Sections 3.2.3 and 3.3.3, based on World Bank (</a:t>
            </a:r>
            <a:r>
              <a:rPr sz="1400" b="0" i="1" u="sng">
                <a:solidFill>
                  <a:srgbClr val="A33224"/>
                </a:solidFill>
                <a:latin typeface="Be Vietnam Pro" panose="020F0502020204030204" pitchFamily="34"/>
                <a:hlinkClick r:id="rId6" action="ppaction://hlinksldjump"/>
              </a:rPr>
              <a:t>2022a</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7" action="ppaction://hlinksldjump"/>
              </a:rPr>
              <a:t>2022b</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8" action="ppaction://hlinksldjump"/>
              </a:rPr>
              <a:t>2022c</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9" action="ppaction://hlinksldjump"/>
              </a:rPr>
              <a:t>2023</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61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73810" y="447471"/>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9833" y="639722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0682" y="436445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Reform depends on the borrower</a:t>
            </a:r>
          </a:p>
        </p:txBody>
      </p:sp>
      <p:sp>
        <p:nvSpPr>
          <p:cNvPr id="3" name="!!body"/>
          <p:cNvSpPr>
            <a:spLocks noGrp="1"/>
          </p:cNvSpPr>
          <p:nvPr>
            <p:ph idx="1"/>
          </p:nvPr>
        </p:nvSpPr>
        <p:spPr>
          <a:xfrm>
            <a:off x="548640" y="2974848"/>
            <a:ext cx="11094415" cy="331622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National level:</a:t>
            </a:r>
            <a:r>
              <a:rPr sz="2400" b="0" i="0">
                <a:solidFill>
                  <a:srgbClr val="2E4257"/>
                </a:solidFill>
                <a:latin typeface="Be Vietnam Pro" panose="020F0502020204030204" pitchFamily="34"/>
              </a:rPr>
              <a:t> the PIR series strengthened selection and implementation of public investment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2</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CCSEP:</a:t>
            </a:r>
            <a:r>
              <a:rPr sz="2400" b="0" i="0">
                <a:solidFill>
                  <a:srgbClr val="2E4257"/>
                </a:solidFill>
                <a:latin typeface="Be Vietnam Pro" panose="020F0502020204030204" pitchFamily="34"/>
              </a:rPr>
              <a:t> all of Component 4 financed by counterpart funds; many reforms stopped at setup</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Lesson:</a:t>
            </a:r>
            <a:r>
              <a:rPr sz="2400" b="0" i="0">
                <a:solidFill>
                  <a:srgbClr val="2E4257"/>
                </a:solidFill>
                <a:latin typeface="Be Vietnam Pro" panose="020F0502020204030204" pitchFamily="34"/>
              </a:rPr>
              <a:t> the IBRD can design and advise; the borrower must fund and sustain reform</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2.3.3 · p. 28</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5.50</a:t>
            </a:r>
          </a:p>
        </p:txBody>
      </p:sp>
      <p:sp>
        <p:nvSpPr>
          <p:cNvPr id="12" name="!!numl1"/>
          <p:cNvSpPr txBox="1"/>
          <p:nvPr/>
        </p:nvSpPr>
        <p:spPr>
          <a:xfrm>
            <a:off x="548640"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 million from NPT</a:t>
            </a:r>
          </a:p>
        </p:txBody>
      </p:sp>
      <p:sp>
        <p:nvSpPr>
          <p:cNvPr id="13" name="!!num2"/>
          <p:cNvSpPr txBox="1"/>
          <p:nvPr/>
        </p:nvSpPr>
        <p:spPr>
          <a:xfrm>
            <a:off x="4338218"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5.74</a:t>
            </a:r>
          </a:p>
        </p:txBody>
      </p:sp>
      <p:sp>
        <p:nvSpPr>
          <p:cNvPr id="14" name="!!numl2"/>
          <p:cNvSpPr txBox="1"/>
          <p:nvPr/>
        </p:nvSpPr>
        <p:spPr>
          <a:xfrm>
            <a:off x="4338218" y="2322576"/>
            <a:ext cx="3515258" cy="53340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 million, TEP capacity-building cost</a:t>
            </a:r>
          </a:p>
        </p:txBody>
      </p:sp>
      <p:sp>
        <p:nvSpPr>
          <p:cNvPr id="15" name="!!num3"/>
          <p:cNvSpPr txBox="1"/>
          <p:nvPr/>
        </p:nvSpPr>
        <p:spPr>
          <a:xfrm>
            <a:off x="8127796"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0.24</a:t>
            </a:r>
          </a:p>
        </p:txBody>
      </p:sp>
      <p:sp>
        <p:nvSpPr>
          <p:cNvPr id="16" name="!!numl3"/>
          <p:cNvSpPr txBox="1"/>
          <p:nvPr/>
        </p:nvSpPr>
        <p:spPr>
          <a:xfrm>
            <a:off x="8127796"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 million from the IBRD</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75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14658" y="28881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5203" y="638064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8667" y="440182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Three forms of support across the cycle</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2.4 · p. 29</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7. The three forms of IBRD support across the project cycle</a:t>
            </a:r>
          </a:p>
        </p:txBody>
      </p:sp>
      <p:graphicFrame>
        <p:nvGraphicFramePr>
          <p:cNvPr id="11" name="!!tbl" descr="Table 7. The three forms of IBRD support across the project cycle. Editable table, 3 rows."/>
          <p:cNvGraphicFramePr>
            <a:graphicFrameLocks noGrp="1"/>
          </p:cNvGraphicFramePr>
          <p:nvPr/>
        </p:nvGraphicFramePr>
        <p:xfrm>
          <a:off x="548640" y="1938528"/>
          <a:ext cx="11094412" cy="3781956"/>
        </p:xfrm>
        <a:graphic>
          <a:graphicData uri="http://schemas.openxmlformats.org/drawingml/2006/table">
            <a:tbl>
              <a:tblPr firstRow="1" bandRow="0">
                <a:tableStyleId>{5940675A-B579-460E-94D1-54222C63F5DA}</a:tableStyleId>
              </a:tblPr>
              <a:tblGrid>
                <a:gridCol w="1806090"/>
                <a:gridCol w="3176667"/>
                <a:gridCol w="3003651"/>
                <a:gridCol w="3108004"/>
              </a:tblGrid>
              <a:tr h="682142">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Stage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Financial support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Technical support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Training and capacity building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1208836">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Preparation and appraisal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size, instrument and terms agreed; Project Preparation Advance if needed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Feasibility, economic analysis, safeguard instruments, results framework</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Assessment of the implementing agency’s capacity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Disbursement against eligible expenditures or results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Supervision, ISRs, restructuring when needed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PMU training in procurement, financial management and safeguards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945489">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Completion and after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repayment; savings cancelled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ICR and IEG evaluation; lessons for new projects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Systems and institutions left in place (e.g. TEP’s asset management system)</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811926"/>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synthesis of Sections 2.1-2.3.</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9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25370" y="374697"/>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6987" y="645423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2778" y="380276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One package, one dependency</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SUPPORT  ·  HOW THE IBRD SUPPORTS PROJECT FINANCING</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2.4 · p. 29–30</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The package works only when domestic systems are ready to absorb it.</a:t>
            </a:r>
          </a:p>
        </p:txBody>
      </p:sp>
      <p:sp>
        <p:nvSpPr>
          <p:cNvPr id="11" name="!!card1"/>
          <p:cNvSpPr/>
          <p:nvPr/>
        </p:nvSpPr>
        <p:spPr>
          <a:xfrm>
            <a:off x="548640" y="215188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Money gives weight to advice</a:t>
            </a:r>
          </a:p>
          <a:p>
            <a:pPr algn="l">
              <a:lnSpc>
                <a:spcPts val="2400"/>
              </a:lnSpc>
              <a:spcBef>
                <a:spcPts val="0"/>
              </a:spcBef>
              <a:spcAft>
                <a:spcPts val="0"/>
              </a:spcAft>
            </a:pPr>
            <a:r>
              <a:rPr sz="2000" b="0" i="0">
                <a:solidFill>
                  <a:srgbClr val="2E4257"/>
                </a:solidFill>
                <a:latin typeface="Be Vietnam Pro" panose="020F0502020204030204" pitchFamily="34"/>
              </a:rPr>
              <a:t>Standards are adopted when they are loan conditions</a:t>
            </a:r>
          </a:p>
        </p:txBody>
      </p:sp>
      <p:sp>
        <p:nvSpPr>
          <p:cNvPr id="12" name="!!card2"/>
          <p:cNvSpPr/>
          <p:nvPr/>
        </p:nvSpPr>
        <p:spPr>
          <a:xfrm>
            <a:off x="4338218" y="215188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Advice protects the money</a:t>
            </a:r>
          </a:p>
          <a:p>
            <a:pPr algn="l">
              <a:lnSpc>
                <a:spcPts val="2400"/>
              </a:lnSpc>
              <a:spcBef>
                <a:spcPts val="0"/>
              </a:spcBef>
              <a:spcAft>
                <a:spcPts val="0"/>
              </a:spcAft>
            </a:pPr>
            <a:r>
              <a:rPr sz="2000" b="0" i="0">
                <a:solidFill>
                  <a:srgbClr val="2E4257"/>
                </a:solidFill>
                <a:latin typeface="Be Vietnam Pro" panose="020F0502020204030204" pitchFamily="34"/>
              </a:rPr>
              <a:t>Appraisal and supervision reduce the risk of wasted funds</a:t>
            </a:r>
          </a:p>
        </p:txBody>
      </p:sp>
      <p:sp>
        <p:nvSpPr>
          <p:cNvPr id="13" name="!!card3"/>
          <p:cNvSpPr/>
          <p:nvPr/>
        </p:nvSpPr>
        <p:spPr>
          <a:xfrm>
            <a:off x="8127796" y="215188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Training protects results</a:t>
            </a:r>
          </a:p>
          <a:p>
            <a:pPr algn="l">
              <a:lnSpc>
                <a:spcPts val="2400"/>
              </a:lnSpc>
              <a:spcBef>
                <a:spcPts val="0"/>
              </a:spcBef>
              <a:spcAft>
                <a:spcPts val="0"/>
              </a:spcAft>
            </a:pPr>
            <a:r>
              <a:rPr sz="2000" b="0" i="0">
                <a:solidFill>
                  <a:srgbClr val="2E4257"/>
                </a:solidFill>
                <a:latin typeface="Be Vietnam Pro" panose="020F0502020204030204" pitchFamily="34"/>
              </a:rPr>
              <a:t>Assets work only if local institutions run them</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2028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8547" y="499639"/>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175694" y="6102482"/>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397457" y="1777413"/>
            <a:ext cx="256032" cy="256032"/>
          </a:xfrm>
          <a:prstGeom prst="rect">
            <a:avLst/>
          </a:prstGeom>
        </p:spPr>
      </p:pic>
      <p:sp>
        <p:nvSpPr>
          <p:cNvPr id="2" name="!!title"/>
          <p:cNvSpPr>
            <a:spLocks noGrp="1"/>
          </p:cNvSpPr>
          <p:nvPr>
            <p:ph type="title"/>
          </p:nvPr>
        </p:nvSpPr>
        <p:spPr>
          <a:xfrm>
            <a:off x="548640" y="4470400"/>
            <a:ext cx="7680960" cy="1107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The IBRD and selected projects in Vietnam</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Chapter 3</a:t>
            </a:r>
          </a:p>
        </p:txBody>
      </p:sp>
      <p:sp>
        <p:nvSpPr>
          <p:cNvPr id="9" name="!!section"/>
          <p:cNvSpPr txBox="1"/>
          <p:nvPr/>
        </p:nvSpPr>
        <p:spPr>
          <a:xfrm>
            <a:off x="457200" y="502920"/>
            <a:ext cx="11277295" cy="2933700"/>
          </a:xfrm>
          <a:prstGeom prst="rect">
            <a:avLst/>
          </a:prstGeom>
          <a:noFill/>
        </p:spPr>
        <p:txBody>
          <a:bodyPr wrap="square" lIns="0" rIns="0" tIns="18288" bIns="18288" anchor="t">
            <a:noAutofit/>
          </a:bodyPr>
          <a:lstStyle/>
          <a:p>
            <a:pPr algn="l">
              <a:lnSpc>
                <a:spcPts val="20900"/>
              </a:lnSpc>
              <a:spcBef>
                <a:spcPts val="0"/>
              </a:spcBef>
              <a:spcAft>
                <a:spcPts val="0"/>
              </a:spcAft>
            </a:pPr>
            <a:r>
              <a:rPr sz="22000" b="0" i="0" spc="600">
                <a:solidFill>
                  <a:srgbClr val="F4ECD8"/>
                </a:solidFill>
                <a:latin typeface="Cormorant Garamond" panose="02020404030301010803" pitchFamily="18"/>
              </a:rPr>
              <a:t>CASES</a:t>
            </a:r>
          </a:p>
        </p:txBody>
      </p:sp>
      <p:pic>
        <p:nvPicPr>
          <p:cNvPr id="10" name="!!art" descr="Original engraving-style illustration"/>
          <p:cNvPicPr>
            <a:picLocks noChangeAspect="1"/>
          </p:cNvPicPr>
          <p:nvPr/>
        </p:nvPicPr>
        <p:blipFill>
          <a:blip r:embed="rId5"/>
          <a:stretch>
            <a:fillRect/>
          </a:stretch>
        </p:blipFill>
        <p:spPr>
          <a:xfrm>
            <a:off x="8503920" y="3825517"/>
            <a:ext cx="3291840" cy="1675845"/>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46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85253" y="360105"/>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41523" y="6489231"/>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3752" y="389664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Vietnam and the World Bank since 1993</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 · 3.1.1 · p. 31–32</a:t>
            </a:r>
          </a:p>
        </p:txBody>
      </p:sp>
      <p:sp>
        <p:nvSpPr>
          <p:cNvPr id="10" name="!!axis"/>
          <p:cNvSpPr/>
          <p:nvPr/>
        </p:nvSpPr>
        <p:spPr>
          <a:xfrm>
            <a:off x="548640" y="2825496"/>
            <a:ext cx="11094415" cy="27432"/>
          </a:xfrm>
          <a:prstGeom prst="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1" name="Date 1"/>
          <p:cNvSpPr txBox="1"/>
          <p:nvPr/>
        </p:nvSpPr>
        <p:spPr>
          <a:xfrm>
            <a:off x="548640" y="2212848"/>
            <a:ext cx="1944563" cy="548640"/>
          </a:xfrm>
          <a:prstGeom prst="rect">
            <a:avLst/>
          </a:prstGeom>
          <a:noFill/>
        </p:spPr>
        <p:txBody>
          <a:bodyPr wrap="square" lIns="0" rIns="0" tIns="18288" bIns="18288" anchor="t">
            <a:noAutofit/>
          </a:bodyPr>
          <a:lstStyle/>
          <a:p>
            <a:pPr algn="l">
              <a:lnSpc>
                <a:spcPts val="3120"/>
              </a:lnSpc>
              <a:spcBef>
                <a:spcPts val="0"/>
              </a:spcBef>
              <a:spcAft>
                <a:spcPts val="0"/>
              </a:spcAft>
            </a:pPr>
            <a:r>
              <a:rPr sz="2600" b="1" i="0">
                <a:solidFill>
                  <a:srgbClr val="2E4257"/>
                </a:solidFill>
                <a:latin typeface="Cormorant Garamond" panose="02020404030301010803" pitchFamily="18"/>
              </a:rPr>
              <a:t>October 1993</a:t>
            </a:r>
          </a:p>
        </p:txBody>
      </p:sp>
      <p:sp>
        <p:nvSpPr>
          <p:cNvPr id="12" name="!!tick1"/>
          <p:cNvSpPr/>
          <p:nvPr/>
        </p:nvSpPr>
        <p:spPr>
          <a:xfrm>
            <a:off x="566928"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3" name="Event 1"/>
          <p:cNvSpPr txBox="1"/>
          <p:nvPr/>
        </p:nvSpPr>
        <p:spPr>
          <a:xfrm>
            <a:off x="548640" y="3172968"/>
            <a:ext cx="1944563" cy="30937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Lending resumes; IDA credits: approximately USD 70 million primary education, USD 158.5 million highways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45</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7" action="ppaction://hlinksldjump"/>
              </a:rPr>
              <a:t>46</a:t>
            </a:r>
            <a:r>
              <a:rPr sz="2000" b="0" i="0">
                <a:solidFill>
                  <a:srgbClr val="2E4257"/>
                </a:solidFill>
                <a:latin typeface="Be Vietnam Pro" panose="020F0502020204030204" pitchFamily="34"/>
              </a:rPr>
              <a:t>]</a:t>
            </a:r>
          </a:p>
        </p:txBody>
      </p:sp>
      <p:sp>
        <p:nvSpPr>
          <p:cNvPr id="14" name="Date 2"/>
          <p:cNvSpPr txBox="1"/>
          <p:nvPr/>
        </p:nvSpPr>
        <p:spPr>
          <a:xfrm>
            <a:off x="2767523"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1994</a:t>
            </a:r>
          </a:p>
        </p:txBody>
      </p:sp>
      <p:sp>
        <p:nvSpPr>
          <p:cNvPr id="15" name="!!tick2"/>
          <p:cNvSpPr/>
          <p:nvPr/>
        </p:nvSpPr>
        <p:spPr>
          <a:xfrm>
            <a:off x="2785811"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6" name="Event 2"/>
          <p:cNvSpPr txBox="1"/>
          <p:nvPr/>
        </p:nvSpPr>
        <p:spPr>
          <a:xfrm>
            <a:off x="2767523" y="3172968"/>
            <a:ext cx="1944563" cy="15697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Resident office opens in Hanoi, alongside Đổi Mới reforms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45</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7" action="ppaction://hlinksldjump"/>
              </a:rPr>
              <a:t>46</a:t>
            </a:r>
            <a:r>
              <a:rPr sz="2000" b="0" i="0">
                <a:solidFill>
                  <a:srgbClr val="2E4257"/>
                </a:solidFill>
                <a:latin typeface="Be Vietnam Pro" panose="020F0502020204030204" pitchFamily="34"/>
              </a:rPr>
              <a:t>]</a:t>
            </a:r>
          </a:p>
        </p:txBody>
      </p:sp>
      <p:sp>
        <p:nvSpPr>
          <p:cNvPr id="17" name="Date 3"/>
          <p:cNvSpPr txBox="1"/>
          <p:nvPr/>
        </p:nvSpPr>
        <p:spPr>
          <a:xfrm>
            <a:off x="4986406" y="2212848"/>
            <a:ext cx="1944563" cy="548640"/>
          </a:xfrm>
          <a:prstGeom prst="rect">
            <a:avLst/>
          </a:prstGeom>
          <a:noFill/>
        </p:spPr>
        <p:txBody>
          <a:bodyPr wrap="square" lIns="0" rIns="0" tIns="18288" bIns="18288" anchor="t">
            <a:noAutofit/>
          </a:bodyPr>
          <a:lstStyle/>
          <a:p>
            <a:pPr algn="l">
              <a:lnSpc>
                <a:spcPts val="3120"/>
              </a:lnSpc>
              <a:spcBef>
                <a:spcPts val="0"/>
              </a:spcBef>
              <a:spcAft>
                <a:spcPts val="0"/>
              </a:spcAft>
            </a:pPr>
            <a:r>
              <a:rPr sz="2600" b="1" i="0">
                <a:solidFill>
                  <a:srgbClr val="2E4257"/>
                </a:solidFill>
                <a:latin typeface="Cormorant Garamond" panose="02020404030301010803" pitchFamily="18"/>
              </a:rPr>
              <a:t>7 August 2014</a:t>
            </a:r>
          </a:p>
        </p:txBody>
      </p:sp>
      <p:sp>
        <p:nvSpPr>
          <p:cNvPr id="18" name="!!tick3"/>
          <p:cNvSpPr/>
          <p:nvPr/>
        </p:nvSpPr>
        <p:spPr>
          <a:xfrm>
            <a:off x="5004694"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9" name="Event 3"/>
          <p:cNvSpPr txBox="1"/>
          <p:nvPr/>
        </p:nvSpPr>
        <p:spPr>
          <a:xfrm>
            <a:off x="4986406" y="3172968"/>
            <a:ext cx="1944563" cy="1874519"/>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TEP IBRD loan approved, almost three years before graduation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44</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9" action="ppaction://hlinksldjump"/>
              </a:rPr>
              <a:t>41</a:t>
            </a:r>
            <a:r>
              <a:rPr sz="2000" b="0" i="0">
                <a:solidFill>
                  <a:srgbClr val="2E4257"/>
                </a:solidFill>
                <a:latin typeface="Be Vietnam Pro" panose="020F0502020204030204" pitchFamily="34"/>
              </a:rPr>
              <a:t>]</a:t>
            </a:r>
          </a:p>
        </p:txBody>
      </p:sp>
      <p:sp>
        <p:nvSpPr>
          <p:cNvPr id="20" name="Date 4"/>
          <p:cNvSpPr txBox="1"/>
          <p:nvPr/>
        </p:nvSpPr>
        <p:spPr>
          <a:xfrm>
            <a:off x="7205289"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1 July 2017</a:t>
            </a:r>
          </a:p>
        </p:txBody>
      </p:sp>
      <p:sp>
        <p:nvSpPr>
          <p:cNvPr id="21" name="!!tick4"/>
          <p:cNvSpPr/>
          <p:nvPr/>
        </p:nvSpPr>
        <p:spPr>
          <a:xfrm>
            <a:off x="7223577"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2" name="Event 4"/>
          <p:cNvSpPr txBox="1"/>
          <p:nvPr/>
        </p:nvSpPr>
        <p:spPr>
          <a:xfrm>
            <a:off x="7205289" y="3172968"/>
            <a:ext cx="1944563" cy="15697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IDA graduation; IDA18 transitional SDR 1.593 billion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10" action="ppaction://hlinksldjump"/>
              </a:rPr>
              <a:t>3</a:t>
            </a:r>
            <a:r>
              <a:rPr sz="2000" b="0" i="0">
                <a:solidFill>
                  <a:srgbClr val="2E4257"/>
                </a:solidFill>
                <a:latin typeface="Be Vietnam Pro" panose="020F0502020204030204" pitchFamily="34"/>
              </a:rPr>
              <a:t>]</a:t>
            </a:r>
          </a:p>
        </p:txBody>
      </p:sp>
      <p:sp>
        <p:nvSpPr>
          <p:cNvPr id="23" name="Date 5"/>
          <p:cNvSpPr txBox="1"/>
          <p:nvPr/>
        </p:nvSpPr>
        <p:spPr>
          <a:xfrm>
            <a:off x="9424172" y="2212848"/>
            <a:ext cx="1944563"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July 2026</a:t>
            </a:r>
          </a:p>
        </p:txBody>
      </p:sp>
      <p:sp>
        <p:nvSpPr>
          <p:cNvPr id="24" name="!!tick5"/>
          <p:cNvSpPr/>
          <p:nvPr/>
        </p:nvSpPr>
        <p:spPr>
          <a:xfrm>
            <a:off x="9442460" y="271576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5" name="Event 5"/>
          <p:cNvSpPr txBox="1"/>
          <p:nvPr/>
        </p:nvSpPr>
        <p:spPr>
          <a:xfrm>
            <a:off x="9424172" y="3172968"/>
            <a:ext cx="1944563" cy="15697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Upper-middle-income reclassification, distinct from graduation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11" action="ppaction://hlinksldjump"/>
              </a:rPr>
              <a:t>4</a:t>
            </a:r>
            <a:r>
              <a:rPr sz="2000" b="0" i="0">
                <a:solidFill>
                  <a:srgbClr val="2E4257"/>
                </a:solidFill>
                <a:latin typeface="Be Vietnam Pro" panose="020F0502020204030204" pitchFamily="34"/>
              </a:rPr>
              <a:t>]</a:t>
            </a:r>
          </a:p>
        </p:txBody>
      </p:sp>
      <p:sp>
        <p:nvSpPr>
          <p:cNvPr id="26"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4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16989" y="35546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1681" y="6427258"/>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6489" y="279891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A shift in lending mix</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Planned vs actual:</a:t>
            </a:r>
            <a:r>
              <a:rPr sz="2400" b="0" i="0">
                <a:solidFill>
                  <a:srgbClr val="2E4257"/>
                </a:solidFill>
                <a:latin typeface="Be Vietnam Pro" panose="020F0502020204030204" pitchFamily="34"/>
              </a:rPr>
              <a:t> appraisal figures are plans; closing amounts are reported spending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44</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41</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9" action="ppaction://hlinksldjump"/>
              </a:rPr>
              <a:t>37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Umbrella term:</a:t>
            </a:r>
            <a:r>
              <a:rPr sz="2400" b="0" i="0">
                <a:solidFill>
                  <a:srgbClr val="2E4257"/>
                </a:solidFill>
                <a:latin typeface="Be Vietnam Pro" panose="020F0502020204030204" pitchFamily="34"/>
              </a:rPr>
              <a:t> "World Bank financing" may be IDA or IBRD; check legal documents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Market pricing:</a:t>
            </a:r>
            <a:r>
              <a:rPr sz="2400" b="0" i="0">
                <a:solidFill>
                  <a:srgbClr val="2E4257"/>
                </a:solidFill>
                <a:latin typeface="Be Vietnam Pro" panose="020F0502020204030204" pitchFamily="34"/>
              </a:rPr>
              <a:t> debt capacity, selection, returns and fiscal risk matter more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Coexistence:</a:t>
            </a:r>
            <a:r>
              <a:rPr sz="2400" b="0" i="0">
                <a:solidFill>
                  <a:srgbClr val="2E4257"/>
                </a:solidFill>
                <a:latin typeface="Be Vietnam Pro" panose="020F0502020204030204" pitchFamily="34"/>
              </a:rPr>
              <a:t> IBRD-financed TEP ran alongside IDA before 2017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44</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41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Not substitution:</a:t>
            </a:r>
            <a:r>
              <a:rPr sz="2400" b="0" i="0">
                <a:solidFill>
                  <a:srgbClr val="2E4257"/>
                </a:solidFill>
                <a:latin typeface="Be Vietnam Pro" panose="020F0502020204030204" pitchFamily="34"/>
              </a:rPr>
              <a:t> graduation shifted lending mix and conditions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3.1.1 · 3.1.2 · p. 31–32</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25910"/>
            <a:ext cx="2834640" cy="3320578"/>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8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40927" y="32511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50739" y="639448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7278" y="360122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A late IDA project: SAHEP (2017)</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Approval:</a:t>
            </a:r>
            <a:r>
              <a:rPr sz="2400" b="0" i="0">
                <a:solidFill>
                  <a:srgbClr val="2E4257"/>
                </a:solidFill>
                <a:latin typeface="Be Vietnam Pro" panose="020F0502020204030204" pitchFamily="34"/>
              </a:rPr>
              <a:t> SAHEP (P156849) approved by the Board on 15 May 2017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IDA credit:</a:t>
            </a:r>
            <a:r>
              <a:rPr sz="2400" b="0" i="0">
                <a:solidFill>
                  <a:srgbClr val="2E4257"/>
                </a:solidFill>
                <a:latin typeface="Be Vietnam Pro" panose="020F0502020204030204" pitchFamily="34"/>
              </a:rPr>
              <a:t> SDR 114.3 million, equivalent to USD 155 million at appraisal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Cost:</a:t>
            </a:r>
            <a:r>
              <a:rPr sz="2400" b="0" i="0">
                <a:solidFill>
                  <a:srgbClr val="2E4257"/>
                </a:solidFill>
                <a:latin typeface="Be Vietnam Pro" panose="020F0502020204030204" pitchFamily="34"/>
              </a:rPr>
              <a:t> USD 174.60 million total, including USD 19.60 million counterpart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Caution:</a:t>
            </a:r>
            <a:r>
              <a:rPr sz="2400" b="0" i="0">
                <a:solidFill>
                  <a:srgbClr val="2E4257"/>
                </a:solidFill>
                <a:latin typeface="Be Vietnam Pro" panose="020F0502020204030204" pitchFamily="34"/>
              </a:rPr>
              <a:t> illustrative of the late IDA pipeline, not proof IDA stopped in July 2017</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Comparison:</a:t>
            </a:r>
            <a:r>
              <a:rPr sz="2400" b="0" i="0">
                <a:solidFill>
                  <a:srgbClr val="2E4257"/>
                </a:solidFill>
                <a:latin typeface="Be Vietnam Pro" panose="020F0502020204030204" pitchFamily="34"/>
              </a:rPr>
              <a:t> institutional only; outputs not comparable with TEP's indicators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3.1.3 · p. 32</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3132"/>
            <a:ext cx="2834640" cy="3366135"/>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49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42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693321" y="42442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9822" y="640235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8142" y="258371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TEP and SAHEP at appraisal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3.1.3 · p. 33</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8. Selected project financing characteristics at appraisal: TEP and SAHEP</a:t>
            </a:r>
          </a:p>
        </p:txBody>
      </p:sp>
      <p:graphicFrame>
        <p:nvGraphicFramePr>
          <p:cNvPr id="11" name="!!tbl" descr="Table 8. Selected project financing characteristics at appraisal: TEP and SAHEP. Editable table, 4 rows."/>
          <p:cNvGraphicFramePr>
            <a:graphicFrameLocks noGrp="1"/>
          </p:cNvGraphicFramePr>
          <p:nvPr/>
        </p:nvGraphicFramePr>
        <p:xfrm>
          <a:off x="548640" y="1938528"/>
          <a:ext cx="11094414" cy="2620669"/>
        </p:xfrm>
        <a:graphic>
          <a:graphicData uri="http://schemas.openxmlformats.org/drawingml/2006/table">
            <a:tbl>
              <a:tblPr firstRow="1" bandRow="0">
                <a:tableStyleId>{5940675A-B579-460E-94D1-54222C63F5DA}</a:tableStyleId>
              </a:tblPr>
              <a:tblGrid>
                <a:gridCol w="2271006"/>
                <a:gridCol w="3675389"/>
                <a:gridCol w="5148019"/>
              </a:tblGrid>
              <a:tr h="682142">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Indicator</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Transmission Efficiency Project (TEP)</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Support for Autonomous Higher Education Project (SAHEP)</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World Bank project ID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P131558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P156849</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Approval date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7 August 2014</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15 May 2017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Financing institution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 (loan 8417-VN)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IDA (credit 6036-VN)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Primary sector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Electricity transmission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Higher education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4650638"/>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World Bank (</a:t>
            </a:r>
            <a:r>
              <a:rPr sz="1400" b="0" i="1" u="sng">
                <a:solidFill>
                  <a:srgbClr val="A33224"/>
                </a:solidFill>
                <a:latin typeface="Be Vietnam Pro" panose="020F0502020204030204" pitchFamily="34"/>
                <a:hlinkClick r:id="rId6" action="ppaction://hlinksldjump"/>
              </a:rPr>
              <a:t>2014</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7" action="ppaction://hlinksldjump"/>
              </a:rPr>
              <a:t>2017</a:t>
            </a:r>
            <a:r>
              <a:rPr sz="1200" b="0" i="1">
                <a:solidFill>
                  <a:srgbClr val="4B5A69"/>
                </a:solidFill>
                <a:latin typeface="Be Vietnam Pro" panose="020F0502020204030204" pitchFamily="34"/>
              </a:rPr>
              <a:t>), project appraisal documents.</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55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22558" y="21181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32564" y="6358204"/>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2670" y="375047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TEP and SAHEP at appraisal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3.1.3 · p. 33</a:t>
            </a:r>
          </a:p>
        </p:txBody>
      </p:sp>
      <p:sp>
        <p:nvSpPr>
          <p:cNvPr id="10" name="Table caption"/>
          <p:cNvSpPr txBox="1"/>
          <p:nvPr/>
        </p:nvSpPr>
        <p:spPr>
          <a:xfrm>
            <a:off x="548640" y="1572768"/>
            <a:ext cx="5669280" cy="548640"/>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8. Selected project financing characteristics at appraisal: TEP and SAHEP</a:t>
            </a:r>
          </a:p>
        </p:txBody>
      </p:sp>
      <p:graphicFrame>
        <p:nvGraphicFramePr>
          <p:cNvPr id="11" name="!!tbl" descr="Table 8. Selected project financing characteristics at appraisal: TEP and SAHEP. Editable table, 3 rows."/>
          <p:cNvGraphicFramePr>
            <a:graphicFrameLocks noGrp="1"/>
          </p:cNvGraphicFramePr>
          <p:nvPr/>
        </p:nvGraphicFramePr>
        <p:xfrm>
          <a:off x="548640" y="2139696"/>
          <a:ext cx="5669278" cy="3386936"/>
        </p:xfrm>
        <a:graphic>
          <a:graphicData uri="http://schemas.openxmlformats.org/drawingml/2006/table">
            <a:tbl>
              <a:tblPr firstRow="1" bandRow="0">
                <a:tableStyleId>{5940675A-B579-460E-94D1-54222C63F5DA}</a:tableStyleId>
              </a:tblPr>
              <a:tblGrid>
                <a:gridCol w="1612061"/>
                <a:gridCol w="1690033"/>
                <a:gridCol w="2367184"/>
              </a:tblGrid>
              <a:tr h="846734">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Indicator</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Transmission Efficiency Project (TEP)</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Support for Autonomous Higher Education Project (SAHEP)</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846734">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World Bank financing (million USD)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500.00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155.00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846734">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Counterpart financing (million USD)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231.25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19.60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846734">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Total appraisal cost (million USD)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731.25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174.60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618073"/>
            <a:ext cx="5669280"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World Bank (</a:t>
            </a:r>
            <a:r>
              <a:rPr sz="1400" b="0" i="1" u="sng">
                <a:solidFill>
                  <a:srgbClr val="A33224"/>
                </a:solidFill>
                <a:latin typeface="Be Vietnam Pro" panose="020F0502020204030204" pitchFamily="34"/>
                <a:hlinkClick r:id="rId7" action="ppaction://hlinksldjump"/>
              </a:rPr>
              <a:t>2014</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8" action="ppaction://hlinksldjump"/>
              </a:rPr>
              <a:t>2017</a:t>
            </a:r>
            <a:r>
              <a:rPr sz="1200" b="0" i="1">
                <a:solidFill>
                  <a:srgbClr val="4B5A69"/>
                </a:solidFill>
                <a:latin typeface="Be Vietnam Pro" panose="020F0502020204030204" pitchFamily="34"/>
              </a:rPr>
              <a:t>), project appraisal documents.</a:t>
            </a:r>
          </a:p>
        </p:txBody>
      </p:sp>
      <p:graphicFrame>
        <p:nvGraphicFramePr>
          <p:cNvPr id="13" name="!!chart" descr="TEP and SAHEP financing at appraisal (million USD) — from Table 8. Native chart. World Bank financing: TEP 500.0, SAHEP 155.0; Counterpart financing: TEP 231.25, SAHEP 19.6"/>
          <p:cNvGraphicFramePr>
            <a:graphicFrameLocks noGrp="1"/>
          </p:cNvGraphicFramePr>
          <p:nvPr/>
        </p:nvGraphicFramePr>
        <p:xfrm>
          <a:off x="6537959" y="1572768"/>
          <a:ext cx="5105095" cy="4400296"/>
        </p:xfrm>
        <a:graphic>
          <a:graphicData uri="http://schemas.openxmlformats.org/drawingml/2006/chart">
            <c:chart xmlns:c="http://schemas.openxmlformats.org/drawingml/2006/chart" r:id="rId5"/>
          </a:graphicData>
        </a:graphic>
      </p:graphicFrame>
      <p:sp>
        <p:nvSpPr>
          <p:cNvPr id="14" name="Source line 2"/>
          <p:cNvSpPr txBox="1"/>
          <p:nvPr/>
        </p:nvSpPr>
        <p:spPr>
          <a:xfrm>
            <a:off x="6537959" y="6082792"/>
            <a:ext cx="510509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Data: Table 8 of the paper.</a:t>
            </a:r>
          </a:p>
        </p:txBody>
      </p:sp>
      <p:sp>
        <p:nvSpPr>
          <p:cNvPr id="15"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9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60202" y="191176"/>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2143" y="6462757"/>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5163" y="378966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Two overlapping legal systems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Domestic rules:</a:t>
            </a:r>
            <a:r>
              <a:rPr sz="2400" b="0" i="0">
                <a:solidFill>
                  <a:srgbClr val="2E4257"/>
                </a:solidFill>
                <a:latin typeface="Be Vietnam Pro" panose="020F0502020204030204" pitchFamily="34"/>
              </a:rPr>
              <a:t> approval, external loans, on-lending, counterpart funds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Bank rules:</a:t>
            </a:r>
            <a:r>
              <a:rPr sz="2400" b="0" i="0">
                <a:solidFill>
                  <a:srgbClr val="2E4257"/>
                </a:solidFill>
                <a:latin typeface="Be Vietnam Pro" panose="020F0502020204030204" pitchFamily="34"/>
              </a:rPr>
              <a:t> eligible spending, procurement, financial management, safeguards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Decree chain:</a:t>
            </a:r>
            <a:r>
              <a:rPr sz="2400" b="0" i="0">
                <a:solidFill>
                  <a:srgbClr val="2E4257"/>
                </a:solidFill>
                <a:latin typeface="Be Vietnam Pro" panose="020F0502020204030204" pitchFamily="34"/>
              </a:rPr>
              <a:t> 38/2013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48</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16/2016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49</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56/2020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50</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114/2021, 20/2023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0" action="ppaction://hlinksldjump"/>
              </a:rPr>
              <a:t>51</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11" action="ppaction://hlinksldjump"/>
              </a:rPr>
              <a:t>52</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Current:</a:t>
            </a:r>
            <a:r>
              <a:rPr sz="2400" b="0" i="0">
                <a:solidFill>
                  <a:srgbClr val="2E4257"/>
                </a:solidFill>
                <a:latin typeface="Be Vietnam Pro" panose="020F0502020204030204" pitchFamily="34"/>
              </a:rPr>
              <a:t> 242/2025, effective 10 September 2025, amended by 119/2026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2" action="ppaction://hlinksldjump"/>
              </a:rPr>
              <a:t>53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13" action="ppaction://hlinksldjump"/>
              </a:rPr>
              <a:t>54</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ESF timing:</a:t>
            </a:r>
            <a:r>
              <a:rPr sz="2400" b="0" i="0">
                <a:solidFill>
                  <a:srgbClr val="2E4257"/>
                </a:solidFill>
                <a:latin typeface="Be Vietnam Pro" panose="020F0502020204030204" pitchFamily="34"/>
              </a:rPr>
              <a:t> applies from 1 October 2018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4" action="ppaction://hlinksldjump"/>
              </a:rPr>
              <a:t>22</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TEP, Category B, predates it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15" action="ppaction://hlinksldjump"/>
              </a:rPr>
              <a:t>44</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3.1.4 · p. 33–35</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3132"/>
            <a:ext cx="2834640" cy="3366135"/>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83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40565" y="38281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9920" y="642729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2978" y="348429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Regulatory milestones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THE IBRD AND SELECTED PROJECTS IN VIETNAM</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3.1.4 · p. 34</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9. Selected milestones in Vietnam’s regulatory framework for ODA and concessional loans</a:t>
            </a:r>
          </a:p>
        </p:txBody>
      </p:sp>
      <p:graphicFrame>
        <p:nvGraphicFramePr>
          <p:cNvPr id="11" name="!!tbl" descr="Table 9. Selected milestones in Vietnam’s regulatory framework for ODA and concessional loans. Editable table, 6 rows."/>
          <p:cNvGraphicFramePr>
            <a:graphicFrameLocks noGrp="1"/>
          </p:cNvGraphicFramePr>
          <p:nvPr/>
        </p:nvGraphicFramePr>
        <p:xfrm>
          <a:off x="548640" y="1938528"/>
          <a:ext cx="11094414" cy="3853277"/>
        </p:xfrm>
        <a:graphic>
          <a:graphicData uri="http://schemas.openxmlformats.org/drawingml/2006/table">
            <a:tbl>
              <a:tblPr firstRow="1" bandRow="0">
                <a:tableStyleId>{5940675A-B579-460E-94D1-54222C63F5DA}</a:tableStyleId>
              </a:tblPr>
              <a:tblGrid>
                <a:gridCol w="3615000"/>
                <a:gridCol w="3141731"/>
                <a:gridCol w="4337683"/>
              </a:tblGrid>
              <a:tr h="385876">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Instrument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Effective date / period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680"/>
                        </a:lnSpc>
                        <a:spcBef>
                          <a:spcPts val="0"/>
                        </a:spcBef>
                        <a:spcAft>
                          <a:spcPts val="0"/>
                        </a:spcAft>
                      </a:pPr>
                      <a:r>
                        <a:rPr sz="1400" b="1" i="0">
                          <a:solidFill>
                            <a:srgbClr val="2E4257"/>
                          </a:solidFill>
                          <a:latin typeface="Be Vietnam Pro" panose="020F0502020204030204" pitchFamily="34"/>
                        </a:rPr>
                        <a:t>Relevance for the analysis</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16305">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Decree 38/2013/ND-CP</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Issued 23 April 2013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Principal ODA framework at TEP approval in 2014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16305">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Decree 16/2016/ND-CP</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Effective 2 May 2016</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Replaced Decree 38/2013; historical implementation period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16305">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Decree 56/2020/ND-CP</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Effective 25 May 2020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Replaced Decree 16/2016; pre-2021 ODA framework</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16305">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Decree 114/2021/ND-CP and Decree 20/2023/ND-CP</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2021-9 September 2025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Subsequent ODA framework; superseded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385876">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Decree 242/2025/ND-CP</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Effective 10 September 2025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Current principal decree as at October 2026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16305">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Decree 119/2026/ND-CP</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Issued 3 Apr 2026; effective 1 Jan 2026</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680"/>
                        </a:lnSpc>
                        <a:spcBef>
                          <a:spcPts val="0"/>
                        </a:spcBef>
                        <a:spcAft>
                          <a:spcPts val="0"/>
                        </a:spcAft>
                      </a:pPr>
                      <a:r>
                        <a:rPr sz="1400" b="0" i="0">
                          <a:solidFill>
                            <a:srgbClr val="2E4257"/>
                          </a:solidFill>
                          <a:latin typeface="Be Vietnam Pro" panose="020F0502020204030204" pitchFamily="34"/>
                        </a:rPr>
                        <a:t>Amends Decree 242/2025; includes transition rules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588324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Government of Viet Nam (</a:t>
            </a:r>
            <a:r>
              <a:rPr sz="1400" b="0" i="1" u="sng">
                <a:solidFill>
                  <a:srgbClr val="A33224"/>
                </a:solidFill>
                <a:latin typeface="Be Vietnam Pro" panose="020F0502020204030204" pitchFamily="34"/>
                <a:hlinkClick r:id="rId6" action="ppaction://hlinksldjump"/>
              </a:rPr>
              <a:t>2013</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7" action="ppaction://hlinksldjump"/>
              </a:rPr>
              <a:t>2016</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8" action="ppaction://hlinksldjump"/>
              </a:rPr>
              <a:t>2020</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9" action="ppaction://hlinksldjump"/>
              </a:rPr>
              <a:t>2021</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10" action="ppaction://hlinksldjump"/>
              </a:rPr>
              <a:t>2023</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11" action="ppaction://hlinksldjump"/>
              </a:rPr>
              <a:t>2025</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12" action="ppaction://hlinksldjump"/>
              </a:rPr>
              <a:t>2026</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972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78638" y="466566"/>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891854" y="6159974"/>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570343" y="1576319"/>
            <a:ext cx="256032" cy="256032"/>
          </a:xfrm>
          <a:prstGeom prst="rect">
            <a:avLst/>
          </a:prstGeom>
        </p:spPr>
      </p:pic>
      <p:sp>
        <p:nvSpPr>
          <p:cNvPr id="2" name="!!title"/>
          <p:cNvSpPr>
            <a:spLocks noGrp="1"/>
          </p:cNvSpPr>
          <p:nvPr>
            <p:ph type="title"/>
          </p:nvPr>
        </p:nvSpPr>
        <p:spPr>
          <a:xfrm>
            <a:off x="548640" y="4470400"/>
            <a:ext cx="7680960" cy="1107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Case study 1: Transmission Efficiency Project</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3.2 · energy sector</a:t>
            </a:r>
          </a:p>
        </p:txBody>
      </p:sp>
      <p:sp>
        <p:nvSpPr>
          <p:cNvPr id="9" name="!!section"/>
          <p:cNvSpPr txBox="1"/>
          <p:nvPr/>
        </p:nvSpPr>
        <p:spPr>
          <a:xfrm>
            <a:off x="457200" y="502920"/>
            <a:ext cx="11277295" cy="2933700"/>
          </a:xfrm>
          <a:prstGeom prst="rect">
            <a:avLst/>
          </a:prstGeom>
          <a:noFill/>
        </p:spPr>
        <p:txBody>
          <a:bodyPr wrap="square" lIns="0" rIns="0" tIns="18288" bIns="18288" anchor="t">
            <a:noAutofit/>
          </a:bodyPr>
          <a:lstStyle/>
          <a:p>
            <a:pPr algn="l">
              <a:lnSpc>
                <a:spcPts val="20900"/>
              </a:lnSpc>
              <a:spcBef>
                <a:spcPts val="0"/>
              </a:spcBef>
              <a:spcAft>
                <a:spcPts val="0"/>
              </a:spcAft>
            </a:pPr>
            <a:r>
              <a:rPr sz="22000" b="0" i="0" spc="600">
                <a:solidFill>
                  <a:srgbClr val="F4ECD8"/>
                </a:solidFill>
                <a:latin typeface="Cormorant Garamond" panose="02020404030301010803" pitchFamily="18"/>
              </a:rPr>
              <a:t>TEP</a:t>
            </a:r>
          </a:p>
        </p:txBody>
      </p:sp>
      <p:pic>
        <p:nvPicPr>
          <p:cNvPr id="10" name="!!art" descr="Original engraving-style illustration"/>
          <p:cNvPicPr>
            <a:picLocks noChangeAspect="1"/>
          </p:cNvPicPr>
          <p:nvPr/>
        </p:nvPicPr>
        <p:blipFill>
          <a:blip r:embed="rId5"/>
          <a:stretch>
            <a:fillRect/>
          </a:stretch>
        </p:blipFill>
        <p:spPr>
          <a:xfrm>
            <a:off x="8759952" y="3017520"/>
            <a:ext cx="2779776" cy="3291840"/>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54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11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12662" y="276382"/>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1714" y="6366895"/>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6649" y="413128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TEP: project overview</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TEP (P131558, loan 8417-VN):</a:t>
            </a:r>
            <a:r>
              <a:rPr sz="2400" b="0" i="0">
                <a:solidFill>
                  <a:srgbClr val="2E4257"/>
                </a:solidFill>
                <a:latin typeface="Be Vietnam Pro" panose="020F0502020204030204" pitchFamily="34"/>
              </a:rPr>
              <a:t> approved 7 August 2014, effective 10 February 2015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44</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41</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9" action="ppaction://hlinksldjump"/>
              </a:rPr>
              <a:t>37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Closing:</a:t>
            </a:r>
            <a:r>
              <a:rPr sz="2400" b="0" i="0">
                <a:solidFill>
                  <a:srgbClr val="2E4257"/>
                </a:solidFill>
                <a:latin typeface="Be Vietnam Pro" panose="020F0502020204030204" pitchFamily="34"/>
              </a:rPr>
              <a:t> 31 December 2019 extended to 31 December 2021</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Objective:</a:t>
            </a:r>
            <a:r>
              <a:rPr sz="2400" b="0" i="0">
                <a:solidFill>
                  <a:srgbClr val="2E4257"/>
                </a:solidFill>
                <a:latin typeface="Be Vietnam Pro" panose="020F0502020204030204" pitchFamily="34"/>
              </a:rPr>
              <a:t> capacity, efficiency and reliability of transmission; financed via IPF</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Agencies:</a:t>
            </a:r>
            <a:r>
              <a:rPr sz="2400" b="0" i="0">
                <a:solidFill>
                  <a:srgbClr val="2E4257"/>
                </a:solidFill>
                <a:latin typeface="Be Vietnam Pro" panose="020F0502020204030204" pitchFamily="34"/>
              </a:rPr>
              <a:t> NPT (EVN subsidiary) through three regional project boards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44</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9" action="ppaction://hlinksldjump"/>
              </a:rPr>
              <a:t>37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Network:</a:t>
            </a:r>
            <a:r>
              <a:rPr sz="2400" b="0" i="0">
                <a:solidFill>
                  <a:srgbClr val="2E4257"/>
                </a:solidFill>
                <a:latin typeface="Be Vietnam Pro" panose="020F0502020204030204" pitchFamily="34"/>
              </a:rPr>
              <a:t> 220-kV and 500-kV lines and substations in three regions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44</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9" action="ppaction://hlinksldjump"/>
              </a:rPr>
              <a:t>37</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3.2.1 · p. 35</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7794"/>
            <a:ext cx="2834640" cy="335681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4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57703" y="32861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8370" y="641578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4182" y="387101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TEP profile and milestones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3.2.1 · p. 36</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10. TEP: basic project profile and implementation milestones</a:t>
            </a:r>
          </a:p>
        </p:txBody>
      </p:sp>
      <p:graphicFrame>
        <p:nvGraphicFramePr>
          <p:cNvPr id="11" name="!!tbl" descr="Table 10. TEP: basic project profile and implementation milestones. Editable table, 5 rows."/>
          <p:cNvGraphicFramePr>
            <a:graphicFrameLocks noGrp="1"/>
          </p:cNvGraphicFramePr>
          <p:nvPr/>
        </p:nvGraphicFramePr>
        <p:xfrm>
          <a:off x="548640" y="1938528"/>
          <a:ext cx="11094414" cy="2512770"/>
        </p:xfrm>
        <a:graphic>
          <a:graphicData uri="http://schemas.openxmlformats.org/drawingml/2006/table">
            <a:tbl>
              <a:tblPr firstRow="1" bandRow="0">
                <a:tableStyleId>{5940675A-B579-460E-94D1-54222C63F5DA}</a:tableStyleId>
              </a:tblPr>
              <a:tblGrid>
                <a:gridCol w="4155931"/>
                <a:gridCol w="6938483"/>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Item</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Verified information</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Project name / ID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Transmission Efficiency Project (TEP) / P131558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number / instrument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 loan 8417-VN / Investment Project Financing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Borrower / responsible agency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Socialist Republic of Viet Nam / NPT (EVN subsidiary)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Approval / effectiveness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7 August 2014 / 10 February 2015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Original / actual closing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31 December 2019 / 31 December 2021</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World Bank (</a:t>
            </a:r>
            <a:r>
              <a:rPr sz="1400" b="0" i="1" u="sng">
                <a:solidFill>
                  <a:srgbClr val="A33224"/>
                </a:solidFill>
                <a:latin typeface="Be Vietnam Pro" panose="020F0502020204030204" pitchFamily="34"/>
                <a:hlinkClick r:id="rId6" action="ppaction://hlinksldjump"/>
              </a:rPr>
              <a:t>2014, Project Data Sheet</a:t>
            </a:r>
            <a:r>
              <a:rPr sz="1200" b="0" i="1">
                <a:solidFill>
                  <a:srgbClr val="4B5A69"/>
                </a:solidFill>
                <a:latin typeface="Be Vietnam Pro" panose="020F0502020204030204" pitchFamily="34"/>
              </a:rPr>
              <a:t>), World Bank (</a:t>
            </a:r>
            <a:r>
              <a:rPr sz="1400" b="0" i="1" u="sng">
                <a:solidFill>
                  <a:srgbClr val="A33224"/>
                </a:solidFill>
                <a:latin typeface="Be Vietnam Pro" panose="020F0502020204030204" pitchFamily="34"/>
                <a:hlinkClick r:id="rId7" action="ppaction://hlinksldjump"/>
              </a:rPr>
              <a:t>2022a, pp. 1-3, 49</a:t>
            </a:r>
            <a:r>
              <a:rPr sz="1200" b="0" i="1">
                <a:solidFill>
                  <a:srgbClr val="4B5A69"/>
                </a:solidFill>
                <a:latin typeface="Be Vietnam Pro" panose="020F0502020204030204" pitchFamily="34"/>
              </a:rPr>
              <a:t>), and World Bank (</a:t>
            </a:r>
            <a:r>
              <a:rPr sz="1400" b="0" i="1" u="sng">
                <a:solidFill>
                  <a:srgbClr val="A33224"/>
                </a:solidFill>
                <a:latin typeface="Be Vietnam Pro" panose="020F0502020204030204" pitchFamily="34"/>
                <a:hlinkClick r:id="rId8" action="ppaction://hlinksldjump"/>
              </a:rPr>
              <a:t>2023, pp. v-vi</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38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61018" y="408757"/>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7809" y="641849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9511" y="3217629"/>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TEP profile and milestones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3.2.1 · p. 36</a:t>
            </a:r>
          </a:p>
        </p:txBody>
      </p:sp>
      <p:sp>
        <p:nvSpPr>
          <p:cNvPr id="10" name="Table caption"/>
          <p:cNvSpPr txBox="1"/>
          <p:nvPr/>
        </p:nvSpPr>
        <p:spPr>
          <a:xfrm>
            <a:off x="548640" y="1572768"/>
            <a:ext cx="6949440"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10. TEP: basic project profile and implementation milestones</a:t>
            </a:r>
          </a:p>
        </p:txBody>
      </p:sp>
      <p:graphicFrame>
        <p:nvGraphicFramePr>
          <p:cNvPr id="11" name="!!tbl" descr="Table 10. TEP: basic project profile and implementation milestones. Editable table, 4 rows."/>
          <p:cNvGraphicFramePr>
            <a:graphicFrameLocks noGrp="1"/>
          </p:cNvGraphicFramePr>
          <p:nvPr/>
        </p:nvGraphicFramePr>
        <p:xfrm>
          <a:off x="548640" y="1956816"/>
          <a:ext cx="6949439" cy="2093975"/>
        </p:xfrm>
        <a:graphic>
          <a:graphicData uri="http://schemas.openxmlformats.org/drawingml/2006/table">
            <a:tbl>
              <a:tblPr firstRow="1" bandRow="0">
                <a:tableStyleId>{5940675A-B579-460E-94D1-54222C63F5DA}</a:tableStyleId>
              </a:tblPr>
              <a:tblGrid>
                <a:gridCol w="4325120"/>
                <a:gridCol w="2624319"/>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Item</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Verified information</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Appraisal IBRD loan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USD 500.00 million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Appraisal borrower contribution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USD 231.25 million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Appraisal total project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USD 731.25 million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Actual total project cost at closing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USD 517.53 million</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4142231"/>
            <a:ext cx="6949440"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World Bank (</a:t>
            </a:r>
            <a:r>
              <a:rPr sz="1400" b="0" i="1" u="sng">
                <a:solidFill>
                  <a:srgbClr val="A33224"/>
                </a:solidFill>
                <a:latin typeface="Be Vietnam Pro" panose="020F0502020204030204" pitchFamily="34"/>
                <a:hlinkClick r:id="rId6" action="ppaction://hlinksldjump"/>
              </a:rPr>
              <a:t>2014, Project Data Sheet</a:t>
            </a:r>
            <a:r>
              <a:rPr sz="1200" b="0" i="1">
                <a:solidFill>
                  <a:srgbClr val="4B5A69"/>
                </a:solidFill>
                <a:latin typeface="Be Vietnam Pro" panose="020F0502020204030204" pitchFamily="34"/>
              </a:rPr>
              <a:t>), World Bank (</a:t>
            </a:r>
            <a:r>
              <a:rPr sz="1400" b="0" i="1" u="sng">
                <a:solidFill>
                  <a:srgbClr val="A33224"/>
                </a:solidFill>
                <a:latin typeface="Be Vietnam Pro" panose="020F0502020204030204" pitchFamily="34"/>
                <a:hlinkClick r:id="rId7" action="ppaction://hlinksldjump"/>
              </a:rPr>
              <a:t>2022a, pp. 1-3, 49</a:t>
            </a:r>
            <a:r>
              <a:rPr sz="1200" b="0" i="1">
                <a:solidFill>
                  <a:srgbClr val="4B5A69"/>
                </a:solidFill>
                <a:latin typeface="Be Vietnam Pro" panose="020F0502020204030204" pitchFamily="34"/>
              </a:rPr>
              <a:t>), and World Bank (</a:t>
            </a:r>
            <a:r>
              <a:rPr sz="1400" b="0" i="1" u="sng">
                <a:solidFill>
                  <a:srgbClr val="A33224"/>
                </a:solidFill>
                <a:latin typeface="Be Vietnam Pro" panose="020F0502020204030204" pitchFamily="34"/>
                <a:hlinkClick r:id="rId8" action="ppaction://hlinksldjump"/>
              </a:rPr>
              <a:t>2023, pp. v-vi</a:t>
            </a:r>
            <a:r>
              <a:rPr sz="1200" b="0" i="1">
                <a:solidFill>
                  <a:srgbClr val="4B5A69"/>
                </a:solidFill>
                <a:latin typeface="Be Vietnam Pro" panose="020F0502020204030204" pitchFamily="34"/>
              </a:rPr>
              <a:t>).</a:t>
            </a:r>
          </a:p>
        </p:txBody>
      </p:sp>
      <p:sp>
        <p:nvSpPr>
          <p:cNvPr id="13" name="!!num1"/>
          <p:cNvSpPr txBox="1"/>
          <p:nvPr/>
        </p:nvSpPr>
        <p:spPr>
          <a:xfrm>
            <a:off x="7909559" y="1572768"/>
            <a:ext cx="3733495" cy="786384"/>
          </a:xfrm>
          <a:prstGeom prst="rect">
            <a:avLst/>
          </a:prstGeom>
          <a:noFill/>
        </p:spPr>
        <p:txBody>
          <a:bodyPr wrap="square" lIns="0" rIns="0" tIns="18288" bIns="18288" anchor="t">
            <a:noAutofit/>
          </a:bodyPr>
          <a:lstStyle/>
          <a:p>
            <a:pPr algn="l">
              <a:lnSpc>
                <a:spcPts val="5600"/>
              </a:lnSpc>
              <a:spcBef>
                <a:spcPts val="0"/>
              </a:spcBef>
              <a:spcAft>
                <a:spcPts val="0"/>
              </a:spcAft>
            </a:pPr>
            <a:r>
              <a:rPr sz="5600" b="1" i="0">
                <a:solidFill>
                  <a:srgbClr val="2E4257"/>
                </a:solidFill>
                <a:latin typeface="Cormorant Garamond" panose="02020404030301010803" pitchFamily="18"/>
              </a:rPr>
              <a:t>731.25</a:t>
            </a:r>
          </a:p>
        </p:txBody>
      </p:sp>
      <p:sp>
        <p:nvSpPr>
          <p:cNvPr id="14" name="!!numl1"/>
          <p:cNvSpPr txBox="1"/>
          <p:nvPr/>
        </p:nvSpPr>
        <p:spPr>
          <a:xfrm>
            <a:off x="7909559" y="2322576"/>
            <a:ext cx="3733495"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total at appraisal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6" action="ppaction://hlinksldjump"/>
              </a:rPr>
              <a:t>44</a:t>
            </a:r>
            <a:r>
              <a:rPr sz="1600" b="0" i="0">
                <a:solidFill>
                  <a:srgbClr val="4B5A69"/>
                </a:solidFill>
                <a:latin typeface="Be Vietnam Pro" panose="020F0502020204030204" pitchFamily="34"/>
              </a:rPr>
              <a:t>; </a:t>
            </a:r>
            <a:r>
              <a:rPr sz="1600" b="0" i="0" u="sng">
                <a:solidFill>
                  <a:srgbClr val="A33224"/>
                </a:solidFill>
                <a:latin typeface="Be Vietnam Pro" panose="020F0502020204030204" pitchFamily="34"/>
                <a:hlinkClick r:id="rId7" action="ppaction://hlinksldjump"/>
              </a:rPr>
              <a:t>41</a:t>
            </a:r>
            <a:r>
              <a:rPr sz="1600" b="0" i="0">
                <a:solidFill>
                  <a:srgbClr val="4B5A69"/>
                </a:solidFill>
                <a:latin typeface="Be Vietnam Pro" panose="020F0502020204030204" pitchFamily="34"/>
              </a:rPr>
              <a:t>]</a:t>
            </a:r>
          </a:p>
        </p:txBody>
      </p:sp>
      <p:sp>
        <p:nvSpPr>
          <p:cNvPr id="15" name="!!num2"/>
          <p:cNvSpPr txBox="1"/>
          <p:nvPr/>
        </p:nvSpPr>
        <p:spPr>
          <a:xfrm>
            <a:off x="7909559" y="2840736"/>
            <a:ext cx="3733495" cy="786384"/>
          </a:xfrm>
          <a:prstGeom prst="rect">
            <a:avLst/>
          </a:prstGeom>
          <a:noFill/>
        </p:spPr>
        <p:txBody>
          <a:bodyPr wrap="square" lIns="0" rIns="0" tIns="18288" bIns="18288" anchor="t">
            <a:noAutofit/>
          </a:bodyPr>
          <a:lstStyle/>
          <a:p>
            <a:pPr algn="l">
              <a:lnSpc>
                <a:spcPts val="5600"/>
              </a:lnSpc>
              <a:spcBef>
                <a:spcPts val="0"/>
              </a:spcBef>
              <a:spcAft>
                <a:spcPts val="0"/>
              </a:spcAft>
            </a:pPr>
            <a:r>
              <a:rPr sz="5600" b="1" i="0">
                <a:solidFill>
                  <a:srgbClr val="2E4257"/>
                </a:solidFill>
                <a:latin typeface="Cormorant Garamond" panose="02020404030301010803" pitchFamily="18"/>
              </a:rPr>
              <a:t>500.00</a:t>
            </a:r>
          </a:p>
        </p:txBody>
      </p:sp>
      <p:sp>
        <p:nvSpPr>
          <p:cNvPr id="16" name="!!numl2"/>
          <p:cNvSpPr txBox="1"/>
          <p:nvPr/>
        </p:nvSpPr>
        <p:spPr>
          <a:xfrm>
            <a:off x="7909559" y="3590543"/>
            <a:ext cx="3733495"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IBRD loan</a:t>
            </a:r>
          </a:p>
        </p:txBody>
      </p:sp>
      <p:sp>
        <p:nvSpPr>
          <p:cNvPr id="17" name="!!num3"/>
          <p:cNvSpPr txBox="1"/>
          <p:nvPr/>
        </p:nvSpPr>
        <p:spPr>
          <a:xfrm>
            <a:off x="7909559" y="4108704"/>
            <a:ext cx="3733495" cy="786384"/>
          </a:xfrm>
          <a:prstGeom prst="rect">
            <a:avLst/>
          </a:prstGeom>
          <a:noFill/>
        </p:spPr>
        <p:txBody>
          <a:bodyPr wrap="square" lIns="0" rIns="0" tIns="18288" bIns="18288" anchor="t">
            <a:noAutofit/>
          </a:bodyPr>
          <a:lstStyle/>
          <a:p>
            <a:pPr algn="l">
              <a:lnSpc>
                <a:spcPts val="5600"/>
              </a:lnSpc>
              <a:spcBef>
                <a:spcPts val="0"/>
              </a:spcBef>
              <a:spcAft>
                <a:spcPts val="0"/>
              </a:spcAft>
            </a:pPr>
            <a:r>
              <a:rPr sz="5600" b="1" i="0">
                <a:solidFill>
                  <a:srgbClr val="2E4257"/>
                </a:solidFill>
                <a:latin typeface="Cormorant Garamond" panose="02020404030301010803" pitchFamily="18"/>
              </a:rPr>
              <a:t>1.25</a:t>
            </a:r>
          </a:p>
        </p:txBody>
      </p:sp>
      <p:sp>
        <p:nvSpPr>
          <p:cNvPr id="18" name="!!numl3"/>
          <p:cNvSpPr txBox="1"/>
          <p:nvPr/>
        </p:nvSpPr>
        <p:spPr>
          <a:xfrm>
            <a:off x="7909559" y="4858512"/>
            <a:ext cx="3733495"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front-end fee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6" action="ppaction://hlinksldjump"/>
              </a:rPr>
              <a:t>44</a:t>
            </a:r>
            <a:r>
              <a:rPr sz="1600" b="0" i="0">
                <a:solidFill>
                  <a:srgbClr val="4B5A69"/>
                </a:solidFill>
                <a:latin typeface="Be Vietnam Pro" panose="020F0502020204030204" pitchFamily="34"/>
              </a:rPr>
              <a:t>; </a:t>
            </a:r>
            <a:r>
              <a:rPr sz="1600" b="0" i="0" u="sng">
                <a:solidFill>
                  <a:srgbClr val="A33224"/>
                </a:solidFill>
                <a:latin typeface="Be Vietnam Pro" panose="020F0502020204030204" pitchFamily="34"/>
                <a:hlinkClick r:id="rId7" action="ppaction://hlinksldjump"/>
              </a:rPr>
              <a:t>41</a:t>
            </a:r>
            <a:r>
              <a:rPr sz="1600" b="0" i="0">
                <a:solidFill>
                  <a:srgbClr val="4B5A69"/>
                </a:solidFill>
                <a:latin typeface="Be Vietnam Pro" panose="020F0502020204030204" pitchFamily="34"/>
              </a:rPr>
              <a:t>]</a:t>
            </a:r>
          </a:p>
        </p:txBody>
      </p:sp>
      <p:sp>
        <p:nvSpPr>
          <p:cNvPr id="19"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52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28854" y="25710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6747" y="648961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07549" y="309432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Three components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3.2.2 · p. 36</a:t>
            </a:r>
          </a:p>
        </p:txBody>
      </p:sp>
      <p:sp>
        <p:nvSpPr>
          <p:cNvPr id="10" name="!!card1"/>
          <p:cNvSpPr/>
          <p:nvPr/>
        </p:nvSpPr>
        <p:spPr>
          <a:xfrm>
            <a:off x="548640"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 · Transmission infrastructure</a:t>
            </a:r>
          </a:p>
          <a:p>
            <a:pPr algn="l">
              <a:lnSpc>
                <a:spcPts val="2400"/>
              </a:lnSpc>
              <a:spcBef>
                <a:spcPts val="0"/>
              </a:spcBef>
              <a:spcAft>
                <a:spcPts val="0"/>
              </a:spcAft>
            </a:pPr>
            <a:r>
              <a:rPr sz="2000" b="0" i="0">
                <a:solidFill>
                  <a:srgbClr val="2E4257"/>
                </a:solidFill>
                <a:latin typeface="Be Vietnam Pro" panose="020F0502020204030204" pitchFamily="34"/>
              </a:rPr>
              <a:t>Build, rehabilitate, upgrade high-voltage infrastructure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44</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7" action="ppaction://hlinksldjump"/>
              </a:rPr>
              <a:t>42</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USD 625.00 million at appraisal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41</a:t>
            </a:r>
            <a:r>
              <a:rPr sz="2000" b="0" i="0">
                <a:solidFill>
                  <a:srgbClr val="2E4257"/>
                </a:solidFill>
                <a:latin typeface="Be Vietnam Pro" panose="020F0502020204030204" pitchFamily="34"/>
              </a:rPr>
              <a:t>]</a:t>
            </a:r>
          </a:p>
        </p:txBody>
      </p:sp>
      <p:sp>
        <p:nvSpPr>
          <p:cNvPr id="11" name="!!card2"/>
          <p:cNvSpPr/>
          <p:nvPr/>
        </p:nvSpPr>
        <p:spPr>
          <a:xfrm>
            <a:off x="4338218"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2 · Smart-grid network</a:t>
            </a:r>
          </a:p>
          <a:p>
            <a:pPr algn="l">
              <a:lnSpc>
                <a:spcPts val="2400"/>
              </a:lnSpc>
              <a:spcBef>
                <a:spcPts val="0"/>
              </a:spcBef>
              <a:spcAft>
                <a:spcPts val="0"/>
              </a:spcAft>
            </a:pPr>
            <a:r>
              <a:rPr sz="2000" b="0" i="0">
                <a:solidFill>
                  <a:srgbClr val="2E4257"/>
                </a:solidFill>
                <a:latin typeface="Be Vietnam Pro" panose="020F0502020204030204" pitchFamily="34"/>
              </a:rPr>
              <a:t>Monitoring, control, protection equipment; not new capacity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44</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7" action="ppaction://hlinksldjump"/>
              </a:rPr>
              <a:t>42</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USD 80.00 million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41</a:t>
            </a:r>
            <a:r>
              <a:rPr sz="2000" b="0" i="0">
                <a:solidFill>
                  <a:srgbClr val="2E4257"/>
                </a:solidFill>
                <a:latin typeface="Be Vietnam Pro" panose="020F0502020204030204" pitchFamily="34"/>
              </a:rPr>
              <a:t>]</a:t>
            </a:r>
          </a:p>
        </p:txBody>
      </p:sp>
      <p:sp>
        <p:nvSpPr>
          <p:cNvPr id="12" name="!!card3"/>
          <p:cNvSpPr/>
          <p:nvPr/>
        </p:nvSpPr>
        <p:spPr>
          <a:xfrm>
            <a:off x="8127796"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3 · Capacity building</a:t>
            </a:r>
          </a:p>
          <a:p>
            <a:pPr algn="l">
              <a:lnSpc>
                <a:spcPts val="2400"/>
              </a:lnSpc>
              <a:spcBef>
                <a:spcPts val="0"/>
              </a:spcBef>
              <a:spcAft>
                <a:spcPts val="0"/>
              </a:spcAft>
            </a:pPr>
            <a:r>
              <a:rPr sz="2000" b="0" i="0">
                <a:solidFill>
                  <a:srgbClr val="2E4257"/>
                </a:solidFill>
                <a:latin typeface="Be Vietnam Pro" panose="020F0502020204030204" pitchFamily="34"/>
              </a:rPr>
              <a:t>NPT's institutional reform agenda; USD 25.00 million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41</a:t>
            </a:r>
            <a:r>
              <a:rPr sz="2000" b="0" i="0">
                <a:solidFill>
                  <a:srgbClr val="2E4257"/>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66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56405" y="274865"/>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1858" y="648244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8333" y="402752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Cost by component (million USD)</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3.2.2 · p. 37</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11. TEP project cost by component at approval and at closing (million USD)</a:t>
            </a:r>
          </a:p>
        </p:txBody>
      </p:sp>
      <p:graphicFrame>
        <p:nvGraphicFramePr>
          <p:cNvPr id="11" name="!!tbl" descr="Table 11. TEP project cost by component at approval and at closing (million USD). Editable table, 5 rows."/>
          <p:cNvGraphicFramePr>
            <a:graphicFrameLocks noGrp="1"/>
          </p:cNvGraphicFramePr>
          <p:nvPr/>
        </p:nvGraphicFramePr>
        <p:xfrm>
          <a:off x="548640" y="1938528"/>
          <a:ext cx="11094413" cy="2512770"/>
        </p:xfrm>
        <a:graphic>
          <a:graphicData uri="http://schemas.openxmlformats.org/drawingml/2006/table">
            <a:tbl>
              <a:tblPr firstRow="1" bandRow="0">
                <a:tableStyleId>{5940675A-B579-460E-94D1-54222C63F5DA}</a:tableStyleId>
              </a:tblPr>
              <a:tblGrid>
                <a:gridCol w="4145556"/>
                <a:gridCol w="2246947"/>
                <a:gridCol w="2140390"/>
                <a:gridCol w="2561520"/>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Project component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Amount at approval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 at closing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 / approval (%)</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Enhancing Transmission Infrastructure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625.00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464.53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74.30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Developing Smart Grid Network</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80.00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46.01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57.50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Capacity Building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25.00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5.74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22.96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Front-end fee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100.00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 project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731.25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517.53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70.77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World Bank (</a:t>
            </a:r>
            <a:r>
              <a:rPr sz="1400" b="0" i="1" u="sng">
                <a:solidFill>
                  <a:srgbClr val="A33224"/>
                </a:solidFill>
                <a:latin typeface="Be Vietnam Pro" panose="020F0502020204030204" pitchFamily="34"/>
                <a:hlinkClick r:id="rId6" action="ppaction://hlinksldjump"/>
              </a:rPr>
              <a:t>2022a, Annex 3, Table 3.1, p. 48</a:t>
            </a:r>
            <a:r>
              <a:rPr sz="1200" b="0" i="1">
                <a:solidFill>
                  <a:srgbClr val="4B5A69"/>
                </a:solidFill>
                <a:latin typeface="Be Vietnam Pro" panose="020F0502020204030204" pitchFamily="34"/>
              </a:rPr>
              <a:t>). Figures transcribed from the original table; the fee row is labeled using the PAD (World Bank, </a:t>
            </a:r>
            <a:r>
              <a:rPr sz="1400" b="0" i="1" u="sng">
                <a:solidFill>
                  <a:srgbClr val="A33224"/>
                </a:solidFill>
                <a:latin typeface="Be Vietnam Pro" panose="020F0502020204030204" pitchFamily="34"/>
                <a:hlinkClick r:id="rId7" action="ppaction://hlinksldjump"/>
              </a:rPr>
              <a:t>2014</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59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0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04023" y="26957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3587" y="636260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04726" y="423122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Financing by source: totals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3.2.2 · p. 37</a:t>
            </a:r>
          </a:p>
        </p:txBody>
      </p:sp>
      <p:sp>
        <p:nvSpPr>
          <p:cNvPr id="10" name="Table caption"/>
          <p:cNvSpPr txBox="1"/>
          <p:nvPr/>
        </p:nvSpPr>
        <p:spPr>
          <a:xfrm>
            <a:off x="548640" y="1572768"/>
            <a:ext cx="5669280" cy="548640"/>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12. TEP component financing by source: appraisal versus actual (million USD)</a:t>
            </a:r>
          </a:p>
        </p:txBody>
      </p:sp>
      <p:graphicFrame>
        <p:nvGraphicFramePr>
          <p:cNvPr id="11" name="!!tbl" descr="Table 12. TEP component financing by source: appraisal versus actual (million USD). Editable table, 5 rows."/>
          <p:cNvGraphicFramePr>
            <a:graphicFrameLocks noGrp="1"/>
          </p:cNvGraphicFramePr>
          <p:nvPr/>
        </p:nvGraphicFramePr>
        <p:xfrm>
          <a:off x="548640" y="2139696"/>
          <a:ext cx="5669278" cy="3039464"/>
        </p:xfrm>
        <a:graphic>
          <a:graphicData uri="http://schemas.openxmlformats.org/drawingml/2006/table">
            <a:tbl>
              <a:tblPr firstRow="1" bandRow="0">
                <a:tableStyleId>{5940675A-B579-460E-94D1-54222C63F5DA}</a:tableStyleId>
              </a:tblPr>
              <a:tblGrid>
                <a:gridCol w="2815327"/>
                <a:gridCol w="1561900"/>
                <a:gridCol w="1292051"/>
              </a:tblGrid>
              <a:tr h="682142">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Component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Appraisal total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 total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 Transmission infrastructure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625.00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464.53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 Smart-grid network</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80.00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46.01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 Capacity building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25.00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5.74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Front-end fee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731.25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517.53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270601"/>
            <a:ext cx="5669280"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Adapted from World Bank (</a:t>
            </a:r>
            <a:r>
              <a:rPr sz="1400" b="0" i="1" u="sng">
                <a:solidFill>
                  <a:srgbClr val="A33224"/>
                </a:solidFill>
                <a:latin typeface="Be Vietnam Pro" panose="020F0502020204030204" pitchFamily="34"/>
                <a:hlinkClick r:id="rId7" action="ppaction://hlinksldjump"/>
              </a:rPr>
              <a:t>2022a, Annex 3, Table 3.2, p. 49</a:t>
            </a:r>
            <a:r>
              <a:rPr sz="1200" b="0" i="1">
                <a:solidFill>
                  <a:srgbClr val="4B5A69"/>
                </a:solidFill>
                <a:latin typeface="Be Vietnam Pro" panose="020F0502020204030204" pitchFamily="34"/>
              </a:rPr>
              <a:t>). IBRD component allocations and actual costs are taken from the original table.</a:t>
            </a:r>
          </a:p>
        </p:txBody>
      </p:sp>
      <p:graphicFrame>
        <p:nvGraphicFramePr>
          <p:cNvPr id="13" name="!!chart" descr="Figure 2. TEP expenditure by investment component at appraisal and at closing (million USD). Native chart. Appraisal cost: Transmission infrastructure 625.0, Smart-grid network 80.0, Capacity building 25.0; Actual cost: Transmission infrastructure 464.53, Smart-grid network 46.01, Capacity building 5.74"/>
          <p:cNvGraphicFramePr>
            <a:graphicFrameLocks noGrp="1"/>
          </p:cNvGraphicFramePr>
          <p:nvPr/>
        </p:nvGraphicFramePr>
        <p:xfrm>
          <a:off x="6537959" y="1572768"/>
          <a:ext cx="5105095" cy="3851656"/>
        </p:xfrm>
        <a:graphic>
          <a:graphicData uri="http://schemas.openxmlformats.org/drawingml/2006/chart">
            <c:chart xmlns:c="http://schemas.openxmlformats.org/drawingml/2006/chart" r:id="rId5"/>
          </a:graphicData>
        </a:graphic>
      </p:graphicFrame>
      <p:sp>
        <p:nvSpPr>
          <p:cNvPr id="14" name="Source line 2"/>
          <p:cNvSpPr txBox="1"/>
          <p:nvPr/>
        </p:nvSpPr>
        <p:spPr>
          <a:xfrm>
            <a:off x="6537959" y="5534152"/>
            <a:ext cx="5105095" cy="793496"/>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Chart prepared by the authors using data from World Bank (</a:t>
            </a:r>
            <a:r>
              <a:rPr sz="1400" b="0" i="1" u="sng">
                <a:solidFill>
                  <a:srgbClr val="A33224"/>
                </a:solidFill>
                <a:latin typeface="Be Vietnam Pro" panose="020F0502020204030204" pitchFamily="34"/>
                <a:hlinkClick r:id="rId7" action="ppaction://hlinksldjump"/>
              </a:rPr>
              <a:t>2022a, Annex 3, Table 3.1</a:t>
            </a:r>
            <a:r>
              <a:rPr sz="1200" b="0" i="1">
                <a:solidFill>
                  <a:srgbClr val="4B5A69"/>
                </a:solidFill>
                <a:latin typeface="Be Vietnam Pro" panose="020F0502020204030204" pitchFamily="34"/>
              </a:rPr>
              <a:t>). The USD 1.25 million front-end fee is excluded from the three component bars but included in total project costs.</a:t>
            </a:r>
          </a:p>
        </p:txBody>
      </p:sp>
      <p:sp>
        <p:nvSpPr>
          <p:cNvPr id="15"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3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31179" y="18437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96" y="6472452"/>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09848" y="381491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Financing by source: IBRD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3.2.2 · p. 37</a:t>
            </a:r>
          </a:p>
        </p:txBody>
      </p:sp>
      <p:sp>
        <p:nvSpPr>
          <p:cNvPr id="10" name="Table caption"/>
          <p:cNvSpPr txBox="1"/>
          <p:nvPr/>
        </p:nvSpPr>
        <p:spPr>
          <a:xfrm>
            <a:off x="548640" y="1572768"/>
            <a:ext cx="5669280" cy="548640"/>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12. TEP component financing by source: appraisal versus actual (million USD)</a:t>
            </a:r>
          </a:p>
        </p:txBody>
      </p:sp>
      <p:graphicFrame>
        <p:nvGraphicFramePr>
          <p:cNvPr id="11" name="!!tbl" descr="Table 12. TEP component financing by source: appraisal versus actual (million USD). Editable table, 5 rows."/>
          <p:cNvGraphicFramePr>
            <a:graphicFrameLocks noGrp="1"/>
          </p:cNvGraphicFramePr>
          <p:nvPr/>
        </p:nvGraphicFramePr>
        <p:xfrm>
          <a:off x="548640" y="2139696"/>
          <a:ext cx="5669279" cy="3039464"/>
        </p:xfrm>
        <a:graphic>
          <a:graphicData uri="http://schemas.openxmlformats.org/drawingml/2006/table">
            <a:tbl>
              <a:tblPr firstRow="1" bandRow="0">
                <a:tableStyleId>{5940675A-B579-460E-94D1-54222C63F5DA}</a:tableStyleId>
              </a:tblPr>
              <a:tblGrid>
                <a:gridCol w="2908214"/>
                <a:gridCol w="1521535"/>
                <a:gridCol w="1239530"/>
              </a:tblGrid>
              <a:tr h="682142">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Component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Appraisal IBRD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 IBRD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 Transmission infrastructure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429.45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289.03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 Smart-grid network</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28.01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 Capacity building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14.30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0.24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Front-end fee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500.00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318.53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270601"/>
            <a:ext cx="5669280"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Adapted from World Bank (</a:t>
            </a:r>
            <a:r>
              <a:rPr sz="1400" b="0" i="1" u="sng">
                <a:solidFill>
                  <a:srgbClr val="A33224"/>
                </a:solidFill>
                <a:latin typeface="Be Vietnam Pro" panose="020F0502020204030204" pitchFamily="34"/>
                <a:hlinkClick r:id="rId7" action="ppaction://hlinksldjump"/>
              </a:rPr>
              <a:t>2022a, Annex 3, Table 3.2, p. 49</a:t>
            </a:r>
            <a:r>
              <a:rPr sz="1200" b="0" i="1">
                <a:solidFill>
                  <a:srgbClr val="4B5A69"/>
                </a:solidFill>
                <a:latin typeface="Be Vietnam Pro" panose="020F0502020204030204" pitchFamily="34"/>
              </a:rPr>
              <a:t>). IBRD component allocations and actual costs are taken from the original table.</a:t>
            </a:r>
          </a:p>
        </p:txBody>
      </p:sp>
      <p:graphicFrame>
        <p:nvGraphicFramePr>
          <p:cNvPr id="13" name="!!chart" descr="Figure 1. TEP financing structure: committed/appraised resources versus actual closing expenditure (million USD). Native chart. IBRD financing: Appraisal financing 500.0, Actual expenditure 318.53; Borrower financing: Appraisal financing 231.25, Actual expenditure 199.0"/>
          <p:cNvGraphicFramePr>
            <a:graphicFrameLocks noGrp="1"/>
          </p:cNvGraphicFramePr>
          <p:nvPr/>
        </p:nvGraphicFramePr>
        <p:xfrm>
          <a:off x="6537959" y="1572768"/>
          <a:ext cx="5105095" cy="4034535"/>
        </p:xfrm>
        <a:graphic>
          <a:graphicData uri="http://schemas.openxmlformats.org/drawingml/2006/chart">
            <c:chart xmlns:c="http://schemas.openxmlformats.org/drawingml/2006/chart" r:id="rId5"/>
          </a:graphicData>
        </a:graphic>
      </p:graphicFrame>
      <p:sp>
        <p:nvSpPr>
          <p:cNvPr id="14" name="Source line 2"/>
          <p:cNvSpPr txBox="1"/>
          <p:nvPr/>
        </p:nvSpPr>
        <p:spPr>
          <a:xfrm>
            <a:off x="6537959" y="5717032"/>
            <a:ext cx="5105095" cy="610616"/>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Chart prepared by the authors using data from World Bank (</a:t>
            </a:r>
            <a:r>
              <a:rPr sz="1400" b="0" i="1" u="sng">
                <a:solidFill>
                  <a:srgbClr val="A33224"/>
                </a:solidFill>
                <a:latin typeface="Be Vietnam Pro" panose="020F0502020204030204" pitchFamily="34"/>
                <a:hlinkClick r:id="rId7" action="ppaction://hlinksldjump"/>
              </a:rPr>
              <a:t>2022a, Annex 3, Table 3.2</a:t>
            </a:r>
            <a:r>
              <a:rPr sz="1200" b="0" i="1">
                <a:solidFill>
                  <a:srgbClr val="4B5A69"/>
                </a:solidFill>
                <a:latin typeface="Be Vietnam Pro" panose="020F0502020204030204" pitchFamily="34"/>
              </a:rPr>
              <a:t>). Actual expenditure is not equivalent to contractual loan availability.</a:t>
            </a:r>
          </a:p>
        </p:txBody>
      </p:sp>
      <p:sp>
        <p:nvSpPr>
          <p:cNvPr id="15"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07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49881" y="270063"/>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109" y="6508561"/>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2364" y="325773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What the closing accounts show</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IBRD at closing:</a:t>
            </a:r>
            <a:r>
              <a:rPr sz="2400" b="0" i="0">
                <a:solidFill>
                  <a:srgbClr val="2E4257"/>
                </a:solidFill>
                <a:latin typeface="Be Vietnam Pro" panose="020F0502020204030204" pitchFamily="34"/>
              </a:rPr>
              <a:t> USD 289.03 million transmission, USD 28.01 million smart grid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Capacity building:</a:t>
            </a:r>
            <a:r>
              <a:rPr sz="2400" b="0" i="0">
                <a:solidFill>
                  <a:srgbClr val="2E4257"/>
                </a:solidFill>
                <a:latin typeface="Be Vietnam Pro" panose="020F0502020204030204" pitchFamily="34"/>
              </a:rPr>
              <a:t> USD 5.50 of 5.74 million from the borrower; USD 0.24 million IBRD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Disciplines:</a:t>
            </a:r>
            <a:r>
              <a:rPr sz="2400" b="0" i="0">
                <a:solidFill>
                  <a:srgbClr val="2E4257"/>
                </a:solidFill>
                <a:latin typeface="Be Vietnam Pro" panose="020F0502020204030204" pitchFamily="34"/>
              </a:rPr>
              <a:t> spending tied to procurement, financial, technical and E&amp;S rules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Savings:</a:t>
            </a:r>
            <a:r>
              <a:rPr sz="2400" b="0" i="0">
                <a:solidFill>
                  <a:srgbClr val="2E4257"/>
                </a:solidFill>
                <a:latin typeface="Be Vietnam Pro" panose="020F0502020204030204" pitchFamily="34"/>
              </a:rPr>
              <a:t> competitive bidding under Bank guidelines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37</a:t>
            </a:r>
            <a:r>
              <a:rPr sz="2400" b="0" i="0">
                <a:solidFill>
                  <a:srgbClr val="2E4257"/>
                </a:solidFill>
                <a:latin typeface="Be Vietnam Pro" panose="020F0502020204030204" pitchFamily="34"/>
              </a:rPr>
              <a:t>, pp. ix–xi, 17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Less flexibility:</a:t>
            </a:r>
            <a:r>
              <a:rPr sz="2400" b="0" i="0">
                <a:solidFill>
                  <a:srgbClr val="2E4257"/>
                </a:solidFill>
                <a:latin typeface="Be Vietnam Pro" panose="020F0502020204030204" pitchFamily="34"/>
              </a:rPr>
              <a:t> limits on reallocating savings to additional works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3.2.2 · p. 38–39</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5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56463" y="252077"/>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7478" y="637626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9461" y="328883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Capacity building narrowed to the AMS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Four strands:</a:t>
            </a:r>
            <a:r>
              <a:rPr sz="2400" b="0" i="0">
                <a:solidFill>
                  <a:srgbClr val="2E4257"/>
                </a:solidFill>
                <a:latin typeface="Be Vietnam Pro" panose="020F0502020204030204" pitchFamily="34"/>
              </a:rPr>
              <a:t> AMS, cost-reflective tariffs, IFRS reporting, testing laboratory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44</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7" action="ppaction://hlinksldjump"/>
              </a:rPr>
              <a:t>41</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37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AMS:</a:t>
            </a:r>
            <a:r>
              <a:rPr sz="2400" b="0" i="0">
                <a:solidFill>
                  <a:srgbClr val="2E4257"/>
                </a:solidFill>
                <a:latin typeface="Be Vietnam Pro" panose="020F0502020204030204" pitchFamily="34"/>
              </a:rPr>
              <a:t> fully operational; informs investment and maintenance decisions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Counterpart-funded:</a:t>
            </a:r>
            <a:r>
              <a:rPr sz="2400" b="0" i="0">
                <a:solidFill>
                  <a:srgbClr val="2E4257"/>
                </a:solidFill>
                <a:latin typeface="Be Vietnam Pro" panose="020F0502020204030204" pitchFamily="34"/>
              </a:rPr>
              <a:t> tariff, IFRS, laboratory, metering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41</a:t>
            </a:r>
            <a:r>
              <a:rPr sz="2400" b="0" i="0">
                <a:solidFill>
                  <a:srgbClr val="2E4257"/>
                </a:solidFill>
                <a:latin typeface="Be Vietnam Pro" panose="020F0502020204030204" pitchFamily="34"/>
              </a:rPr>
              <a:t>, Annex 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9" action="ppaction://hlinksldjump"/>
              </a:rPr>
              <a:t>42</a:t>
            </a:r>
            <a:r>
              <a:rPr sz="2400" b="0" i="0">
                <a:solidFill>
                  <a:srgbClr val="2E4257"/>
                </a:solidFill>
                <a:latin typeface="Be Vietnam Pro" panose="020F0502020204030204" pitchFamily="34"/>
              </a:rPr>
              <a:t>, pp. 2–3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Cancelled:</a:t>
            </a:r>
            <a:r>
              <a:rPr sz="2400" b="0" i="0">
                <a:solidFill>
                  <a:srgbClr val="2E4257"/>
                </a:solidFill>
                <a:latin typeface="Be Vietnam Pro" panose="020F0502020204030204" pitchFamily="34"/>
              </a:rPr>
              <a:t> planned upgrade of the operations and equipment information system</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Interpretation:</a:t>
            </a:r>
            <a:r>
              <a:rPr sz="2400" b="0" i="0">
                <a:solidFill>
                  <a:srgbClr val="2E4257"/>
                </a:solidFill>
                <a:latin typeface="Be Vietnam Pro" panose="020F0502020204030204" pitchFamily="34"/>
              </a:rPr>
              <a:t> a change in responsibilities, not evidence all used IBRD money</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3.2.3 · p. 39</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23960" y="2468880"/>
            <a:ext cx="2834640" cy="283464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46144" y="23244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40875" y="6405006"/>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32585" y="421984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Institutional and digital workstreams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3.2.3 · p. 39</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13. Selected institutional and digital systems activities under TEP</a:t>
            </a:r>
          </a:p>
        </p:txBody>
      </p:sp>
      <p:graphicFrame>
        <p:nvGraphicFramePr>
          <p:cNvPr id="11" name="!!tbl" descr="Table 13. Selected institutional and digital systems activities under TEP. Editable table, 5 rows."/>
          <p:cNvGraphicFramePr>
            <a:graphicFrameLocks noGrp="1"/>
          </p:cNvGraphicFramePr>
          <p:nvPr/>
        </p:nvGraphicFramePr>
        <p:xfrm>
          <a:off x="548640" y="1938528"/>
          <a:ext cx="11094414" cy="3895344"/>
        </p:xfrm>
        <a:graphic>
          <a:graphicData uri="http://schemas.openxmlformats.org/drawingml/2006/table">
            <a:tbl>
              <a:tblPr firstRow="1" bandRow="0">
                <a:tableStyleId>{5940675A-B579-460E-94D1-54222C63F5DA}</a:tableStyleId>
              </a:tblPr>
              <a:tblGrid>
                <a:gridCol w="3016329"/>
                <a:gridCol w="3406468"/>
                <a:gridCol w="4671617"/>
              </a:tblGrid>
              <a:tr h="402336">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Workstream</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Original purpose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Position by project closing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Asset management system (AMS)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Data-supported maintenance and capital-investment decisions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Operational; actual subcomponent cost USD 2.24 million, including USD 0.24 million IBRD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Cost-reflective transmission tariff</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Support financial sustainability and tariff-related analysis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USD 0.20 million actual cost; financed by NPT/borrower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IFRS-related reporting capacity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Improve financial reporting and governance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USD 0.30 million actual cost; financed by NPT/borrower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Electrical testing laboratory</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Improve capacity for specialised testing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Partial upgrade; USD 3.00 million actual cost; financed by NPT/borrower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896112">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Operation/equipment information system (Component 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Upgrade related digital management information system</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Cancelled after existing system judged adequate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925312"/>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synthesis of World Bank (</a:t>
            </a:r>
            <a:r>
              <a:rPr sz="1400" b="0" i="1" u="sng">
                <a:solidFill>
                  <a:srgbClr val="A33224"/>
                </a:solidFill>
                <a:latin typeface="Be Vietnam Pro" panose="020F0502020204030204" pitchFamily="34"/>
                <a:hlinkClick r:id="rId6" action="ppaction://hlinksldjump"/>
              </a:rPr>
              <a:t>2022a, Annex 3, Table 3.2, p. 49</a:t>
            </a:r>
            <a:r>
              <a:rPr sz="1200" b="0" i="1">
                <a:solidFill>
                  <a:srgbClr val="4B5A69"/>
                </a:solidFill>
                <a:latin typeface="Be Vietnam Pro" panose="020F0502020204030204" pitchFamily="34"/>
              </a:rPr>
              <a:t>) and World Bank (</a:t>
            </a:r>
            <a:r>
              <a:rPr sz="1400" b="0" i="1" u="sng">
                <a:solidFill>
                  <a:srgbClr val="A33224"/>
                </a:solidFill>
                <a:latin typeface="Be Vietnam Pro" panose="020F0502020204030204" pitchFamily="34"/>
                <a:hlinkClick r:id="rId7" action="ppaction://hlinksldjump"/>
              </a:rPr>
              <a:t>2022b, pp. 2-3</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33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78225" y="196917"/>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34327" y="6370061"/>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8542" y="288670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Learning platform and technology friction</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Capabilities:</a:t>
            </a:r>
            <a:r>
              <a:rPr sz="2400" b="0" i="0">
                <a:solidFill>
                  <a:srgbClr val="2E4257"/>
                </a:solidFill>
                <a:latin typeface="Be Vietnam Pro" panose="020F0502020204030204" pitchFamily="34"/>
              </a:rPr>
              <a:t> procurement, contracts, finance, monitoring, safeguards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pp. ix–x, 15–16</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Mixed sources:</a:t>
            </a:r>
            <a:r>
              <a:rPr sz="2400" b="0" i="0">
                <a:solidFill>
                  <a:srgbClr val="2E4257"/>
                </a:solidFill>
                <a:latin typeface="Be Vietnam Pro" panose="020F0502020204030204" pitchFamily="34"/>
              </a:rPr>
              <a:t> built partly through TEP, partly through earlier operations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 trainee count:</a:t>
            </a:r>
            <a:r>
              <a:rPr sz="2400" b="0" i="0">
                <a:solidFill>
                  <a:srgbClr val="2E4257"/>
                </a:solidFill>
                <a:latin typeface="Be Vietnam Pro" panose="020F0502020204030204" pitchFamily="34"/>
              </a:rPr>
              <a:t> the evaluation gives none, so none is reported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Smart-grid friction:</a:t>
            </a:r>
            <a:r>
              <a:rPr sz="2400" b="0" i="0">
                <a:solidFill>
                  <a:srgbClr val="2E4257"/>
                </a:solidFill>
                <a:latin typeface="Be Vietnam Pro" panose="020F0502020204030204" pitchFamily="34"/>
              </a:rPr>
              <a:t> technology choice, approvals and substation outages took longer</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IEG view:</a:t>
            </a:r>
            <a:r>
              <a:rPr sz="2400" b="0" i="0">
                <a:solidFill>
                  <a:srgbClr val="2E4257"/>
                </a:solidFill>
                <a:latin typeface="Be Vietnam Pro" panose="020F0502020204030204" pitchFamily="34"/>
              </a:rPr>
              <a:t> better advance preparation would have reduced the extension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pp. x–xi</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3.2.3 · p. 40</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7794"/>
            <a:ext cx="2834640" cy="335681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46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24427" y="232137"/>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2458" y="6418043"/>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8487" y="446517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Physical outputs vs targets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3.2.4 · p. 41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14. TEP selected physical outputs: original target and independently reported achievement</a:t>
            </a:r>
          </a:p>
        </p:txBody>
      </p:sp>
      <p:graphicFrame>
        <p:nvGraphicFramePr>
          <p:cNvPr id="11" name="!!tbl" descr="Table 14. TEP selected physical outputs: original target and independently reported achievement. Editable table, 5 rows."/>
          <p:cNvGraphicFramePr>
            <a:graphicFrameLocks noGrp="1"/>
          </p:cNvGraphicFramePr>
          <p:nvPr/>
        </p:nvGraphicFramePr>
        <p:xfrm>
          <a:off x="548640" y="1938528"/>
          <a:ext cx="11094413" cy="2512770"/>
        </p:xfrm>
        <a:graphic>
          <a:graphicData uri="http://schemas.openxmlformats.org/drawingml/2006/table">
            <a:tbl>
              <a:tblPr firstRow="1" bandRow="0">
                <a:tableStyleId>{5940675A-B579-460E-94D1-54222C63F5DA}</a:tableStyleId>
              </a:tblPr>
              <a:tblGrid>
                <a:gridCol w="5043615"/>
                <a:gridCol w="1552354"/>
                <a:gridCol w="1552354"/>
                <a:gridCol w="2946090"/>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Indicator</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Target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Achieved / target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New transmission lines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920 km</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981 km</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106.6%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Rehabilitated transmission lines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120 km</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261 km</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217.5%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Additional transformer capacity</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3,950 MW</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4,263 MW</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107.9%</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500-kV smart-grid substations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100.0%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220-kV smart-grid substations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11</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90.9%</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World Bank (</a:t>
            </a:r>
            <a:r>
              <a:rPr sz="1400" b="0" i="1" u="sng">
                <a:solidFill>
                  <a:srgbClr val="A33224"/>
                </a:solidFill>
                <a:latin typeface="Be Vietnam Pro" panose="020F0502020204030204" pitchFamily="34"/>
                <a:hlinkClick r:id="rId6" action="ppaction://hlinksldjump"/>
              </a:rPr>
              <a:t>2023, pp. viii-ix, 8</a:t>
            </a:r>
            <a:r>
              <a:rPr sz="1200" b="0" i="1">
                <a:solidFill>
                  <a:srgbClr val="4B5A69"/>
                </a:solidFill>
                <a:latin typeface="Be Vietnam Pro" panose="020F0502020204030204" pitchFamily="34"/>
              </a:rPr>
              <a:t>); achievement percentages calculated by the authors.</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0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21035" y="420977"/>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4578" y="6368035"/>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4309" y="329737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Output achievement (%)</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Lines:</a:t>
            </a:r>
            <a:r>
              <a:rPr sz="2400" b="0" i="0">
                <a:solidFill>
                  <a:srgbClr val="2E4257"/>
                </a:solidFill>
                <a:latin typeface="Be Vietnam Pro" panose="020F0502020204030204" pitchFamily="34"/>
              </a:rPr>
              <a:t> 981 km new, 261 km rehabilitated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42</a:t>
            </a:r>
            <a:r>
              <a:rPr sz="2400" b="0" i="0">
                <a:solidFill>
                  <a:srgbClr val="2E4257"/>
                </a:solidFill>
                <a:latin typeface="Be Vietnam Pro" panose="020F0502020204030204" pitchFamily="34"/>
              </a:rPr>
              <a:t>, pp. 2–3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37</a:t>
            </a:r>
            <a:r>
              <a:rPr sz="2400" b="0" i="0">
                <a:solidFill>
                  <a:srgbClr val="2E4257"/>
                </a:solidFill>
                <a:latin typeface="Be Vietnam Pro" panose="020F0502020204030204" pitchFamily="34"/>
              </a:rPr>
              <a:t>, pp. viii–ix, 8</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Transformers:</a:t>
            </a:r>
            <a:r>
              <a:rPr sz="2400" b="0" i="0">
                <a:solidFill>
                  <a:srgbClr val="2E4257"/>
                </a:solidFill>
                <a:latin typeface="Be Vietnam Pro" panose="020F0502020204030204" pitchFamily="34"/>
              </a:rPr>
              <a:t> 4,263 MW vs 3,950 MW</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Smart grid:</a:t>
            </a:r>
            <a:r>
              <a:rPr sz="2400" b="0" i="0">
                <a:solidFill>
                  <a:srgbClr val="2E4257"/>
                </a:solidFill>
                <a:latin typeface="Be Vietnam Pro" panose="020F0502020204030204" pitchFamily="34"/>
              </a:rPr>
              <a:t> five 500-kV; 10 of 11 220-kV</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Ninh Binh:</a:t>
            </a:r>
            <a:r>
              <a:rPr sz="2400" b="0" i="0">
                <a:solidFill>
                  <a:srgbClr val="2E4257"/>
                </a:solidFill>
                <a:latin typeface="Be Vietnam Pro" panose="020F0502020204030204" pitchFamily="34"/>
              </a:rPr>
              <a:t> cancelled, substation to be dismantled</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3.2.4 · p. 41</a:t>
            </a:r>
          </a:p>
        </p:txBody>
      </p:sp>
      <p:graphicFrame>
        <p:nvGraphicFramePr>
          <p:cNvPr id="11" name="!!chart" descr="Figure 3. TEP output achievement relative to original results targets (%). Native chart. Achievement of appraisal target (%): New lines 106.6, Rehabilitated lines 217.5, Transformer capacity 107.9, 500-kV substations 100.0, 220-kV substations 90.9"/>
          <p:cNvGraphicFramePr>
            <a:graphicFrameLocks noGrp="1"/>
          </p:cNvGraphicFramePr>
          <p:nvPr/>
        </p:nvGraphicFramePr>
        <p:xfrm>
          <a:off x="5943599" y="1572768"/>
          <a:ext cx="5699455" cy="4034535"/>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5717032"/>
            <a:ext cx="5699455" cy="610616"/>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Chart calculated by the authors from World Bank (</a:t>
            </a:r>
            <a:r>
              <a:rPr sz="1400" b="0" i="1" u="sng">
                <a:solidFill>
                  <a:srgbClr val="A33224"/>
                </a:solidFill>
                <a:latin typeface="Be Vietnam Pro" panose="020F0502020204030204" pitchFamily="34"/>
                <a:hlinkClick r:id="rId8" action="ppaction://hlinksldjump"/>
              </a:rPr>
              <a:t>2023, p. 8</a:t>
            </a:r>
            <a:r>
              <a:rPr sz="1200" b="0" i="1">
                <a:solidFill>
                  <a:srgbClr val="4B5A69"/>
                </a:solidFill>
                <a:latin typeface="Be Vietnam Pro" panose="020F0502020204030204" pitchFamily="34"/>
              </a:rPr>
              <a:t>). A value of 100% means that the original output target was met, not that all project-wide economic benefits were realised.</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74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15350" y="32998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2114" y="6450102"/>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1394" y="285726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Capacity and electricity transmitted</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Capacity:</a:t>
            </a:r>
            <a:r>
              <a:rPr sz="2400" b="0" i="0">
                <a:solidFill>
                  <a:srgbClr val="2E4257"/>
                </a:solidFill>
                <a:latin typeface="Be Vietnam Pro" panose="020F0502020204030204" pitchFamily="34"/>
              </a:rPr>
              <a:t> almost +80% by closing; +85.6% by March 2023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pp. viii–ix, 8–9</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NPT system:</a:t>
            </a:r>
            <a:r>
              <a:rPr sz="2400" b="0" i="0">
                <a:solidFill>
                  <a:srgbClr val="2E4257"/>
                </a:solidFill>
                <a:latin typeface="Be Vietnam Pro" panose="020F0502020204030204" pitchFamily="34"/>
              </a:rPr>
              <a:t> 184.50, 200.86, 211.47 TWh</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Context only:</a:t>
            </a:r>
            <a:r>
              <a:rPr sz="2400" b="0" i="0">
                <a:solidFill>
                  <a:srgbClr val="2E4257"/>
                </a:solidFill>
                <a:latin typeface="Be Vietnam Pro" panose="020F0502020204030204" pitchFamily="34"/>
              </a:rPr>
              <a:t> not supplied solely because of TEP</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3.2.4 · p. 42</a:t>
            </a:r>
          </a:p>
        </p:txBody>
      </p:sp>
      <p:graphicFrame>
        <p:nvGraphicFramePr>
          <p:cNvPr id="11" name="!!chart" descr="Electricity transmitted by the NPT system (TWh). Native chart. Electricity transmitted (TWh): 2018 184.5, 2021 200.86, 2022 211.47"/>
          <p:cNvGraphicFramePr>
            <a:graphicFrameLocks noGrp="1"/>
          </p:cNvGraphicFramePr>
          <p:nvPr/>
        </p:nvGraphicFramePr>
        <p:xfrm>
          <a:off x="5943599" y="1572768"/>
          <a:ext cx="5699455" cy="421741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5899912"/>
            <a:ext cx="5699455"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Data: Section 3.2.4 of the paper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7" action="ppaction://hlinksldjump"/>
              </a:rPr>
              <a:t>37</a:t>
            </a:r>
            <a:r>
              <a:rPr sz="1200" b="0" i="1">
                <a:solidFill>
                  <a:srgbClr val="4B5A69"/>
                </a:solidFill>
                <a:latin typeface="Be Vietnam Pro" panose="020F0502020204030204" pitchFamily="34"/>
              </a:rPr>
              <a:t>, pp. viii–ix, 8–9</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 Not a measure of electricity supplied solely because of TEP.</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88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06605" y="19186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5460" y="6427821"/>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3569" y="250052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System-level service indicators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3.2.4 · p. 42</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15. Selected system-level service and efficiency indicators around TEP completion</a:t>
            </a:r>
          </a:p>
        </p:txBody>
      </p:sp>
      <p:graphicFrame>
        <p:nvGraphicFramePr>
          <p:cNvPr id="11" name="!!tbl" descr="Table 15. Selected system-level service and efficiency indicators around TEP completion. Editable table, 5 rows."/>
          <p:cNvGraphicFramePr>
            <a:graphicFrameLocks noGrp="1"/>
          </p:cNvGraphicFramePr>
          <p:nvPr/>
        </p:nvGraphicFramePr>
        <p:xfrm>
          <a:off x="548640" y="1938528"/>
          <a:ext cx="11094414" cy="3648456"/>
        </p:xfrm>
        <a:graphic>
          <a:graphicData uri="http://schemas.openxmlformats.org/drawingml/2006/table">
            <a:tbl>
              <a:tblPr firstRow="1" bandRow="0">
                <a:tableStyleId>{5940675A-B579-460E-94D1-54222C63F5DA}</a:tableStyleId>
              </a:tblPr>
              <a:tblGrid>
                <a:gridCol w="3787798"/>
                <a:gridCol w="2063347"/>
                <a:gridCol w="2438866"/>
                <a:gridCol w="2804403"/>
              </a:tblGrid>
              <a:tr h="402336">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Indicator</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Earlier observation</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Later observation</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800"/>
                        </a:lnSpc>
                        <a:spcBef>
                          <a:spcPts val="0"/>
                        </a:spcBef>
                        <a:spcAft>
                          <a:spcPts val="0"/>
                        </a:spcAft>
                      </a:pPr>
                      <a:r>
                        <a:rPr sz="1500" b="1" i="0">
                          <a:solidFill>
                            <a:srgbClr val="2E4257"/>
                          </a:solidFill>
                          <a:latin typeface="Be Vietnam Pro" panose="020F0502020204030204" pitchFamily="34"/>
                        </a:rPr>
                        <a:t>Interpretation / scope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O&amp;M cost per energy transmitted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USD 0.87/MWh (baseline)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USD 0.67/MWh (2021 and 2022)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Lower unit costs; NPT-wide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Unserved energy caused by transmission failures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4,875 MWh (2012)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817 MWh (2021)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Large reduction; system indicator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Avg. interruption duration per customer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724.28 min (2018)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356.12 min (2021)</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Improved reliability indicator</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Avg. interruption frequency per customer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4.97 times (2018)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3.11 times (2021)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Improved reliability indicator</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649224">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Transmission losses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2.34% (2015)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2.29% (2021); 2.54% (2022)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800"/>
                        </a:lnSpc>
                        <a:spcBef>
                          <a:spcPts val="0"/>
                        </a:spcBef>
                        <a:spcAft>
                          <a:spcPts val="0"/>
                        </a:spcAft>
                      </a:pPr>
                      <a:r>
                        <a:rPr sz="1500" b="0" i="0">
                          <a:solidFill>
                            <a:srgbClr val="2E4257"/>
                          </a:solidFill>
                          <a:latin typeface="Be Vietnam Pro" panose="020F0502020204030204" pitchFamily="34"/>
                        </a:rPr>
                        <a:t>Improved by closing then worsened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5678424"/>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from World Bank (</a:t>
            </a:r>
            <a:r>
              <a:rPr sz="1400" b="0" i="1" u="sng">
                <a:solidFill>
                  <a:srgbClr val="A33224"/>
                </a:solidFill>
                <a:latin typeface="Be Vietnam Pro" panose="020F0502020204030204" pitchFamily="34"/>
                <a:hlinkClick r:id="rId6" action="ppaction://hlinksldjump"/>
              </a:rPr>
              <a:t>2023, pp. 9-11, Tables 2.2-2.3</a:t>
            </a:r>
            <a:r>
              <a:rPr sz="1200" b="0" i="1">
                <a:solidFill>
                  <a:srgbClr val="4B5A69"/>
                </a:solidFill>
                <a:latin typeface="Be Vietnam Pro" panose="020F0502020204030204" pitchFamily="34"/>
              </a:rPr>
              <a:t>; underlying EVN data).</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69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02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32022" y="24498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9305" y="6381559"/>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28034" y="403089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Transmission losses, 2015-2022 (%)</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Trend:</a:t>
            </a:r>
            <a:r>
              <a:rPr sz="2400" b="0" i="0">
                <a:solidFill>
                  <a:srgbClr val="2E4257"/>
                </a:solidFill>
                <a:latin typeface="Be Vietnam Pro" panose="020F0502020204030204" pitchFamily="34"/>
              </a:rPr>
              <a:t> 2.15% (2019), 2.29% (2021), 2.54% (2022)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pp. 11–13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Causes:</a:t>
            </a:r>
            <a:r>
              <a:rPr sz="2400" b="0" i="0">
                <a:solidFill>
                  <a:srgbClr val="2E4257"/>
                </a:solidFill>
                <a:latin typeface="Be Vietnam Pro" panose="020F0502020204030204" pitchFamily="34"/>
              </a:rPr>
              <a:t> wind and solar flows, congestion, too little new investment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Faults:</a:t>
            </a:r>
            <a:r>
              <a:rPr sz="2400" b="0" i="0">
                <a:solidFill>
                  <a:srgbClr val="2E4257"/>
                </a:solidFill>
                <a:latin typeface="Be Vietnam Pro" panose="020F0502020204030204" pitchFamily="34"/>
              </a:rPr>
              <a:t> 500-kV 42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29; 220-kV 135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159</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3.2.4 · p. 44</a:t>
            </a:r>
          </a:p>
        </p:txBody>
      </p:sp>
      <p:graphicFrame>
        <p:nvGraphicFramePr>
          <p:cNvPr id="11" name="!!chart" descr="Figure 4. Vietnam’s electricity transmission loss ratio, 2015-2022 (%). Native chart. Transmission loss ratio (%): 2015 2.34, 2016 2.36, 2017 2.45, 2018 2.44, 2019 2.15, 2020 2.23, 2021 2.29, 2022 2.54"/>
          <p:cNvGraphicFramePr>
            <a:graphicFrameLocks noGrp="1"/>
          </p:cNvGraphicFramePr>
          <p:nvPr/>
        </p:nvGraphicFramePr>
        <p:xfrm>
          <a:off x="5943599" y="1572768"/>
          <a:ext cx="5699455" cy="385165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5534152"/>
            <a:ext cx="5699455" cy="793496"/>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Chart prepared by the authors from World Bank (</a:t>
            </a:r>
            <a:r>
              <a:rPr sz="1400" b="0" i="1" u="sng">
                <a:solidFill>
                  <a:srgbClr val="A33224"/>
                </a:solidFill>
                <a:latin typeface="Be Vietnam Pro" panose="020F0502020204030204" pitchFamily="34"/>
                <a:hlinkClick r:id="rId7" action="ppaction://hlinksldjump"/>
              </a:rPr>
              <a:t>2023, Table 2.3, p. 11</a:t>
            </a:r>
            <a:r>
              <a:rPr sz="1200" b="0" i="1">
                <a:solidFill>
                  <a:srgbClr val="4B5A69"/>
                </a:solidFill>
                <a:latin typeface="Be Vietnam Pro" panose="020F0502020204030204" pitchFamily="34"/>
              </a:rPr>
              <a:t>), which cites EVN as the underlying data source. The system-wide transmission loss ratio is not a TEP-only impact estimate. The IEG executive summary reports 2.50% for 2022, whereas Table 2.3 reports 2.54%.</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15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23620" y="228737"/>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9725" y="6359367"/>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8009" y="459442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Renewables and economic return</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Renewables:</a:t>
            </a:r>
            <a:r>
              <a:rPr sz="2400" b="0" i="0">
                <a:solidFill>
                  <a:srgbClr val="2E4257"/>
                </a:solidFill>
                <a:latin typeface="Be Vietnam Pro" panose="020F0502020204030204" pitchFamily="34"/>
              </a:rPr>
              <a:t> better conditions for intermittent generation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pp. 8–13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Not quantified:</a:t>
            </a:r>
            <a:r>
              <a:rPr sz="2400" b="0" i="0">
                <a:solidFill>
                  <a:srgbClr val="2E4257"/>
                </a:solidFill>
                <a:latin typeface="Be Vietnam Pro" panose="020F0502020204030204" pitchFamily="34"/>
              </a:rPr>
              <a:t> no verified extra solar or wind MWh; curtailment continued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EIRR:</a:t>
            </a:r>
            <a:r>
              <a:rPr sz="2400" b="0" i="0">
                <a:solidFill>
                  <a:srgbClr val="2E4257"/>
                </a:solidFill>
                <a:latin typeface="Be Vietnam Pro" panose="020F0502020204030204" pitchFamily="34"/>
              </a:rPr>
              <a:t> re-estimated 52.6% vs 31.4% at appraisal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41</a:t>
            </a:r>
            <a:r>
              <a:rPr sz="2400" b="0" i="0">
                <a:solidFill>
                  <a:srgbClr val="2E4257"/>
                </a:solidFill>
                <a:latin typeface="Be Vietnam Pro" panose="020F0502020204030204" pitchFamily="34"/>
              </a:rPr>
              <a:t>, Annex 4</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ENPV:</a:t>
            </a:r>
            <a:r>
              <a:rPr sz="2400" b="0" i="0">
                <a:solidFill>
                  <a:srgbClr val="2E4257"/>
                </a:solidFill>
                <a:latin typeface="Be Vietnam Pro" panose="020F0502020204030204" pitchFamily="34"/>
              </a:rPr>
              <a:t> around USD 1,089 million at a 10% discount rate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Model result:</a:t>
            </a:r>
            <a:r>
              <a:rPr sz="2400" b="0" i="0">
                <a:solidFill>
                  <a:srgbClr val="2E4257"/>
                </a:solidFill>
                <a:latin typeface="Be Vietnam Pro" panose="020F0502020204030204" pitchFamily="34"/>
              </a:rPr>
              <a:t> not a cash return to IBRD or NPT; sensitive to assumptions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3.2.4 · p. 44</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25910"/>
            <a:ext cx="2834640" cy="3320578"/>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9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69212" y="21328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59110" y="6447329"/>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7631" y="286098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Commitment vs disbursement</a:t>
            </a:r>
          </a:p>
        </p:txBody>
      </p:sp>
      <p:sp>
        <p:nvSpPr>
          <p:cNvPr id="3" name="!!body"/>
          <p:cNvSpPr>
            <a:spLocks noGrp="1"/>
          </p:cNvSpPr>
          <p:nvPr>
            <p:ph idx="1"/>
          </p:nvPr>
        </p:nvSpPr>
        <p:spPr>
          <a:xfrm>
            <a:off x="548640" y="2731008"/>
            <a:ext cx="11094415" cy="356006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Project cost:</a:t>
            </a:r>
            <a:r>
              <a:rPr sz="2400" b="0" i="0">
                <a:solidFill>
                  <a:srgbClr val="2E4257"/>
                </a:solidFill>
                <a:latin typeface="Be Vietnam Pro" panose="020F0502020204030204" pitchFamily="34"/>
              </a:rPr>
              <a:t> USD 517.53 million, USD 213.72 million below appraisal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41</a:t>
            </a:r>
            <a:r>
              <a:rPr sz="2400" b="0" i="0">
                <a:solidFill>
                  <a:srgbClr val="2E4257"/>
                </a:solidFill>
                <a:latin typeface="Be Vietnam Pro" panose="020F0502020204030204" pitchFamily="34"/>
              </a:rPr>
              <a:t>, Annex 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 v</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Counterpart:</a:t>
            </a:r>
            <a:r>
              <a:rPr sz="2400" b="0" i="0">
                <a:solidFill>
                  <a:srgbClr val="2E4257"/>
                </a:solidFill>
                <a:latin typeface="Be Vietnam Pro" panose="020F0502020204030204" pitchFamily="34"/>
              </a:rPr>
              <a:t> USD 231.25 million planned vs approximately USD 199.00 million</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Not failure:</a:t>
            </a:r>
            <a:r>
              <a:rPr sz="2400" b="0" i="0">
                <a:solidFill>
                  <a:srgbClr val="2E4257"/>
                </a:solidFill>
                <a:latin typeface="Be Vietnam Pro" panose="020F0502020204030204" pitchFamily="34"/>
              </a:rPr>
              <a:t> lower steel prices, competition, fewer activities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37</a:t>
            </a:r>
            <a:r>
              <a:rPr sz="2400" b="0" i="0">
                <a:solidFill>
                  <a:srgbClr val="2E4257"/>
                </a:solidFill>
                <a:latin typeface="Be Vietnam Pro" panose="020F0502020204030204" pitchFamily="34"/>
              </a:rPr>
              <a:t>, pp. x, 17</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Different concept:</a:t>
            </a:r>
            <a:r>
              <a:rPr sz="2400" b="0" i="0">
                <a:solidFill>
                  <a:srgbClr val="2E4257"/>
                </a:solidFill>
                <a:latin typeface="Be Vietnam Pro" panose="020F0502020204030204" pitchFamily="34"/>
              </a:rPr>
              <a:t> ~USD 160 million cancelled is not the USD 181.47 million gap</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3.2.5 · p. 44–45</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500.00</a:t>
            </a:r>
          </a:p>
        </p:txBody>
      </p:sp>
      <p:sp>
        <p:nvSpPr>
          <p:cNvPr id="12" name="!!numl1"/>
          <p:cNvSpPr txBox="1"/>
          <p:nvPr/>
        </p:nvSpPr>
        <p:spPr>
          <a:xfrm>
            <a:off x="548640"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committed</a:t>
            </a:r>
          </a:p>
        </p:txBody>
      </p:sp>
      <p:sp>
        <p:nvSpPr>
          <p:cNvPr id="13" name="!!num2"/>
          <p:cNvSpPr txBox="1"/>
          <p:nvPr/>
        </p:nvSpPr>
        <p:spPr>
          <a:xfrm>
            <a:off x="4338218"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318.53</a:t>
            </a:r>
          </a:p>
        </p:txBody>
      </p:sp>
      <p:sp>
        <p:nvSpPr>
          <p:cNvPr id="14" name="!!numl2"/>
          <p:cNvSpPr txBox="1"/>
          <p:nvPr/>
        </p:nvSpPr>
        <p:spPr>
          <a:xfrm>
            <a:off x="4338218"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disbursed (63.7%)</a:t>
            </a:r>
          </a:p>
        </p:txBody>
      </p:sp>
      <p:sp>
        <p:nvSpPr>
          <p:cNvPr id="15" name="!!num3"/>
          <p:cNvSpPr txBox="1"/>
          <p:nvPr/>
        </p:nvSpPr>
        <p:spPr>
          <a:xfrm>
            <a:off x="8127796"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181.47</a:t>
            </a:r>
          </a:p>
        </p:txBody>
      </p:sp>
      <p:sp>
        <p:nvSpPr>
          <p:cNvPr id="16" name="!!numl3"/>
          <p:cNvSpPr txBox="1"/>
          <p:nvPr/>
        </p:nvSpPr>
        <p:spPr>
          <a:xfrm>
            <a:off x="8127796"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gap (36.3%)</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43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03664" y="42699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87304" y="6387782"/>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9119" y="447611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Financing gap: definitions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3.2.5 · p. 45</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16. TEP financing gap: definitions and derived comparisons (million USD)</a:t>
            </a:r>
          </a:p>
        </p:txBody>
      </p:sp>
      <p:graphicFrame>
        <p:nvGraphicFramePr>
          <p:cNvPr id="11" name="!!tbl" descr="Table 16. TEP financing gap: definitions and derived comparisons (million USD). Editable table, 4 rows."/>
          <p:cNvGraphicFramePr>
            <a:graphicFrameLocks noGrp="1"/>
          </p:cNvGraphicFramePr>
          <p:nvPr/>
        </p:nvGraphicFramePr>
        <p:xfrm>
          <a:off x="548640" y="1938528"/>
          <a:ext cx="11094414" cy="2357322"/>
        </p:xfrm>
        <a:graphic>
          <a:graphicData uri="http://schemas.openxmlformats.org/drawingml/2006/table">
            <a:tbl>
              <a:tblPr firstRow="1" bandRow="0">
                <a:tableStyleId>{5940675A-B579-460E-94D1-54222C63F5DA}</a:tableStyleId>
              </a:tblPr>
              <a:tblGrid>
                <a:gridCol w="3989157"/>
                <a:gridCol w="1390749"/>
                <a:gridCol w="5714508"/>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Measure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million USD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Meaning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 amount committed at appraisal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500.00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Original approved financing envelope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 amount actually disbursed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318.53</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World Bank financing used through project closing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Commitment minus disbursement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181.47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Derived arithmetic gap: 36.3% of commitment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682142">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savings reported cancelled by IEG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~160.00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Separate approximate cancellation figure in IEG assessment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4387291"/>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and calculations from World Bank (</a:t>
            </a:r>
            <a:r>
              <a:rPr sz="1400" b="0" i="1" u="sng">
                <a:solidFill>
                  <a:srgbClr val="A33224"/>
                </a:solidFill>
                <a:latin typeface="Be Vietnam Pro" panose="020F0502020204030204" pitchFamily="34"/>
                <a:hlinkClick r:id="rId6" action="ppaction://hlinksldjump"/>
              </a:rPr>
              <a:t>2022a, Annex 3, Table 3.2</a:t>
            </a:r>
            <a:r>
              <a:rPr sz="1200" b="0" i="1">
                <a:solidFill>
                  <a:srgbClr val="4B5A69"/>
                </a:solidFill>
                <a:latin typeface="Be Vietnam Pro" panose="020F0502020204030204" pitchFamily="34"/>
              </a:rPr>
              <a:t>) and World Bank (</a:t>
            </a:r>
            <a:r>
              <a:rPr sz="1400" b="0" i="1" u="sng">
                <a:solidFill>
                  <a:srgbClr val="A33224"/>
                </a:solidFill>
                <a:latin typeface="Be Vietnam Pro" panose="020F0502020204030204" pitchFamily="34"/>
                <a:hlinkClick r:id="rId7" action="ppaction://hlinksldjump"/>
              </a:rPr>
              <a:t>2023, pp. v, x, 17</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57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51474" y="41744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02024" y="641479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4700" y="391697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Financing gap: definitions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3.2.5 · p. 45</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16. TEP financing gap: definitions and derived comparisons (million USD)</a:t>
            </a:r>
          </a:p>
        </p:txBody>
      </p:sp>
      <p:graphicFrame>
        <p:nvGraphicFramePr>
          <p:cNvPr id="11" name="!!tbl" descr="Table 16. TEP financing gap: definitions and derived comparisons (million USD). Editable table, 3 rows."/>
          <p:cNvGraphicFramePr>
            <a:graphicFrameLocks noGrp="1"/>
          </p:cNvGraphicFramePr>
          <p:nvPr/>
        </p:nvGraphicFramePr>
        <p:xfrm>
          <a:off x="548640" y="1938528"/>
          <a:ext cx="11094414" cy="1675180"/>
        </p:xfrm>
        <a:graphic>
          <a:graphicData uri="http://schemas.openxmlformats.org/drawingml/2006/table">
            <a:tbl>
              <a:tblPr firstRow="1" bandRow="0">
                <a:tableStyleId>{5940675A-B579-460E-94D1-54222C63F5DA}</a:tableStyleId>
              </a:tblPr>
              <a:tblGrid>
                <a:gridCol w="4101494"/>
                <a:gridCol w="1533444"/>
                <a:gridCol w="5459476"/>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Measure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million USD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Meaning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Total project cost at appraisal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731.25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Initial budget; includes fee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Total actual project cost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517.53</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Closing expenditure</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Appraisal minus actual project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213.72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Derived reduction in overall project cost (29.2%)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3705148"/>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Authors’ compilation and calculations from World Bank (</a:t>
            </a:r>
            <a:r>
              <a:rPr sz="1400" b="0" i="1" u="sng">
                <a:solidFill>
                  <a:srgbClr val="A33224"/>
                </a:solidFill>
                <a:latin typeface="Be Vietnam Pro" panose="020F0502020204030204" pitchFamily="34"/>
                <a:hlinkClick r:id="rId6" action="ppaction://hlinksldjump"/>
              </a:rPr>
              <a:t>2022a, Annex 3, Table 3.2</a:t>
            </a:r>
            <a:r>
              <a:rPr sz="1200" b="0" i="1">
                <a:solidFill>
                  <a:srgbClr val="4B5A69"/>
                </a:solidFill>
                <a:latin typeface="Be Vietnam Pro" panose="020F0502020204030204" pitchFamily="34"/>
              </a:rPr>
              <a:t>) and World Bank (</a:t>
            </a:r>
            <a:r>
              <a:rPr sz="1400" b="0" i="1" u="sng">
                <a:solidFill>
                  <a:srgbClr val="A33224"/>
                </a:solidFill>
                <a:latin typeface="Be Vietnam Pro" panose="020F0502020204030204" pitchFamily="34"/>
                <a:hlinkClick r:id="rId7" action="ppaction://hlinksldjump"/>
              </a:rPr>
              <a:t>2023, pp. v, x, 17</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71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42024" y="350531"/>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8259" y="6481873"/>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0656" y="280974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Delays, safeguards, sustainability</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Smart grid:</a:t>
            </a:r>
            <a:r>
              <a:rPr sz="2400" b="0" i="0">
                <a:solidFill>
                  <a:srgbClr val="2E4257"/>
                </a:solidFill>
                <a:latin typeface="Be Vietnam Pro" panose="020F0502020204030204" pitchFamily="34"/>
              </a:rPr>
              <a:t> selection and approval took roughly four years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42</a:t>
            </a:r>
            <a:r>
              <a:rPr sz="2400" b="0" i="0">
                <a:solidFill>
                  <a:srgbClr val="2E4257"/>
                </a:solidFill>
                <a:latin typeface="Be Vietnam Pro" panose="020F0502020204030204" pitchFamily="34"/>
              </a:rPr>
              <a:t>, pp. 3, 12</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37</a:t>
            </a:r>
            <a:r>
              <a:rPr sz="2400" b="0" i="0">
                <a:solidFill>
                  <a:srgbClr val="2E4257"/>
                </a:solidFill>
                <a:latin typeface="Be Vietnam Pro" panose="020F0502020204030204" pitchFamily="34"/>
              </a:rPr>
              <a:t>, pp. x–xi, 17–18</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Two years late:</a:t>
            </a:r>
            <a:r>
              <a:rPr sz="2400" b="0" i="0">
                <a:solidFill>
                  <a:srgbClr val="2E4257"/>
                </a:solidFill>
                <a:latin typeface="Be Vietnam Pro" panose="020F0502020204030204" pitchFamily="34"/>
              </a:rPr>
              <a:t> bidding, compensation and land acquisition also delayed works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Still highly satisfactory:</a:t>
            </a:r>
            <a:r>
              <a:rPr sz="2400" b="0" i="0">
                <a:solidFill>
                  <a:srgbClr val="2E4257"/>
                </a:solidFill>
                <a:latin typeface="Be Vietnam Pro" panose="020F0502020204030204" pitchFamily="34"/>
              </a:rPr>
              <a:t> main capacity, efficiency and reliability objectives achieved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E&amp;S:</a:t>
            </a:r>
            <a:r>
              <a:rPr sz="2400" b="0" i="0">
                <a:solidFill>
                  <a:srgbClr val="2E4257"/>
                </a:solidFill>
                <a:latin typeface="Be Vietnam Pro" panose="020F0502020204030204" pitchFamily="34"/>
              </a:rPr>
              <a:t> about 2,500 affected households, 80 relocated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37</a:t>
            </a:r>
            <a:r>
              <a:rPr sz="2400" b="0" i="0">
                <a:solidFill>
                  <a:srgbClr val="2E4257"/>
                </a:solidFill>
                <a:latin typeface="Be Vietnam Pro" panose="020F0502020204030204" pitchFamily="34"/>
              </a:rPr>
              <a:t>, pp. x–xi, Appendix B</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Sustainability:</a:t>
            </a:r>
            <a:r>
              <a:rPr sz="2400" b="0" i="0">
                <a:solidFill>
                  <a:srgbClr val="2E4257"/>
                </a:solidFill>
                <a:latin typeface="Be Vietnam Pro" panose="020F0502020204030204" pitchFamily="34"/>
              </a:rPr>
              <a:t> depends on adequate tariffs and timely investment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37</a:t>
            </a:r>
            <a:r>
              <a:rPr sz="2400" b="0" i="0">
                <a:solidFill>
                  <a:srgbClr val="2E4257"/>
                </a:solidFill>
                <a:latin typeface="Be Vietnam Pro" panose="020F0502020204030204" pitchFamily="34"/>
              </a:rPr>
              <a:t>, pp. 18–20</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3.2.5 · p. 46</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7794"/>
            <a:ext cx="2834640" cy="335681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4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34888" y="423307"/>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26792" y="641697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1868" y="270027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TEP: overall assessment</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3.2.6 · p. 46</a:t>
            </a:r>
          </a:p>
        </p:txBody>
      </p:sp>
      <p:sp>
        <p:nvSpPr>
          <p:cNvPr id="10" name="!!card1"/>
          <p:cNvSpPr/>
          <p:nvPr/>
        </p:nvSpPr>
        <p:spPr>
          <a:xfrm>
            <a:off x="548640"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Strengths</a:t>
            </a:r>
          </a:p>
          <a:p>
            <a:pPr algn="l">
              <a:lnSpc>
                <a:spcPts val="2400"/>
              </a:lnSpc>
              <a:spcBef>
                <a:spcPts val="0"/>
              </a:spcBef>
              <a:spcAft>
                <a:spcPts val="0"/>
              </a:spcAft>
            </a:pPr>
            <a:r>
              <a:rPr sz="2000" b="0" i="0">
                <a:solidFill>
                  <a:srgbClr val="2E4257"/>
                </a:solidFill>
                <a:latin typeface="Be Vietnam Pro" panose="020F0502020204030204" pitchFamily="34"/>
              </a:rPr>
              <a:t>Physical outputs; better operating indicators; lower capital costs than the appraisal budget</a:t>
            </a:r>
          </a:p>
        </p:txBody>
      </p:sp>
      <p:sp>
        <p:nvSpPr>
          <p:cNvPr id="11" name="!!card2"/>
          <p:cNvSpPr/>
          <p:nvPr/>
        </p:nvSpPr>
        <p:spPr>
          <a:xfrm>
            <a:off x="6233007"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Weaknesses</a:t>
            </a:r>
          </a:p>
          <a:p>
            <a:pPr algn="l">
              <a:lnSpc>
                <a:spcPts val="2400"/>
              </a:lnSpc>
              <a:spcBef>
                <a:spcPts val="0"/>
              </a:spcBef>
              <a:spcAft>
                <a:spcPts val="0"/>
              </a:spcAft>
            </a:pPr>
            <a:r>
              <a:rPr sz="2000" b="0" i="0">
                <a:solidFill>
                  <a:srgbClr val="2E4257"/>
                </a:solidFill>
                <a:latin typeface="Be Vietnam Pro" panose="020F0502020204030204" pitchFamily="34"/>
              </a:rPr>
              <a:t>Long smart-grid preparation; commitment–disbursement gap; counterpart-funded capacity building; sector constraints</a:t>
            </a:r>
          </a:p>
        </p:txBody>
      </p:sp>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8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07312" y="32608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7779" y="6371865"/>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31294" y="448809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Three conclusions from TEP</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TEP  ·  CASE STUDY 1 · TEP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3.2.6 · p. 47</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Next: CCSEP blended IBRD and IDA with decentralized provincial implementation.</a:t>
            </a:r>
          </a:p>
        </p:txBody>
      </p:sp>
      <p:sp>
        <p:nvSpPr>
          <p:cNvPr id="11" name="!!card1"/>
          <p:cNvSpPr/>
          <p:nvPr/>
        </p:nvSpPr>
        <p:spPr>
          <a:xfrm>
            <a:off x="548640" y="2151888"/>
            <a:ext cx="3515258"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 · Before 2017</a:t>
            </a:r>
          </a:p>
          <a:p>
            <a:pPr algn="l">
              <a:lnSpc>
                <a:spcPts val="2400"/>
              </a:lnSpc>
              <a:spcBef>
                <a:spcPts val="0"/>
              </a:spcBef>
              <a:spcAft>
                <a:spcPts val="0"/>
              </a:spcAft>
            </a:pPr>
            <a:r>
              <a:rPr sz="2000" b="0" i="0">
                <a:solidFill>
                  <a:srgbClr val="2E4257"/>
                </a:solidFill>
                <a:latin typeface="Be Vietnam Pro" panose="020F0502020204030204" pitchFamily="34"/>
              </a:rPr>
              <a:t>IBRD participation existed alongside IDA; not a purely post-IDA arrangement</a:t>
            </a:r>
          </a:p>
        </p:txBody>
      </p:sp>
      <p:sp>
        <p:nvSpPr>
          <p:cNvPr id="12" name="!!card2"/>
          <p:cNvSpPr/>
          <p:nvPr/>
        </p:nvSpPr>
        <p:spPr>
          <a:xfrm>
            <a:off x="4338218" y="2151888"/>
            <a:ext cx="3515258"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2 · Two measures</a:t>
            </a:r>
          </a:p>
          <a:p>
            <a:pPr algn="l">
              <a:lnSpc>
                <a:spcPts val="2400"/>
              </a:lnSpc>
              <a:spcBef>
                <a:spcPts val="0"/>
              </a:spcBef>
              <a:spcAft>
                <a:spcPts val="0"/>
              </a:spcAft>
            </a:pPr>
            <a:r>
              <a:rPr sz="2000" b="0" i="0">
                <a:solidFill>
                  <a:srgbClr val="2E4257"/>
                </a:solidFill>
                <a:latin typeface="Be Vietnam Pro" panose="020F0502020204030204" pitchFamily="34"/>
              </a:rPr>
              <a:t>Evaluate approved and disbursed funds, with borrower spending shown separately</a:t>
            </a:r>
          </a:p>
        </p:txBody>
      </p:sp>
      <p:sp>
        <p:nvSpPr>
          <p:cNvPr id="13" name="!!card3"/>
          <p:cNvSpPr/>
          <p:nvPr/>
        </p:nvSpPr>
        <p:spPr>
          <a:xfrm>
            <a:off x="8127796" y="2151888"/>
            <a:ext cx="3515258"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3 · Attribution</a:t>
            </a:r>
          </a:p>
          <a:p>
            <a:pPr algn="l">
              <a:lnSpc>
                <a:spcPts val="2400"/>
              </a:lnSpc>
              <a:spcBef>
                <a:spcPts val="0"/>
              </a:spcBef>
              <a:spcAft>
                <a:spcPts val="0"/>
              </a:spcAft>
            </a:pPr>
            <a:r>
              <a:rPr sz="2000" b="0" i="0">
                <a:solidFill>
                  <a:srgbClr val="2E4257"/>
                </a:solidFill>
                <a:latin typeface="Be Vietnam Pro" panose="020F0502020204030204" pitchFamily="34"/>
              </a:rPr>
              <a:t>Outputs do not prove that all later system gains were caused by TEP</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2124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57121" y="474259"/>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17550" y="6072441"/>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233113" y="1642344"/>
            <a:ext cx="256032" cy="256032"/>
          </a:xfrm>
          <a:prstGeom prst="rect">
            <a:avLst/>
          </a:prstGeom>
        </p:spPr>
      </p:pic>
      <p:sp>
        <p:nvSpPr>
          <p:cNvPr id="2" name="!!title"/>
          <p:cNvSpPr>
            <a:spLocks noGrp="1"/>
          </p:cNvSpPr>
          <p:nvPr>
            <p:ph type="title"/>
          </p:nvPr>
        </p:nvSpPr>
        <p:spPr>
          <a:xfrm>
            <a:off x="548640" y="3962399"/>
            <a:ext cx="7680960" cy="1615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Case study 2: Coastal Cities Sustainable Environment Project</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3.3 · urban and environment sector</a:t>
            </a:r>
          </a:p>
        </p:txBody>
      </p:sp>
      <p:sp>
        <p:nvSpPr>
          <p:cNvPr id="9" name="!!section"/>
          <p:cNvSpPr txBox="1"/>
          <p:nvPr/>
        </p:nvSpPr>
        <p:spPr>
          <a:xfrm>
            <a:off x="457200" y="502920"/>
            <a:ext cx="11277295" cy="2933700"/>
          </a:xfrm>
          <a:prstGeom prst="rect">
            <a:avLst/>
          </a:prstGeom>
          <a:noFill/>
        </p:spPr>
        <p:txBody>
          <a:bodyPr wrap="square" lIns="0" rIns="0" tIns="18288" bIns="18288" anchor="t">
            <a:noAutofit/>
          </a:bodyPr>
          <a:lstStyle/>
          <a:p>
            <a:pPr algn="l">
              <a:lnSpc>
                <a:spcPts val="20900"/>
              </a:lnSpc>
              <a:spcBef>
                <a:spcPts val="0"/>
              </a:spcBef>
              <a:spcAft>
                <a:spcPts val="0"/>
              </a:spcAft>
            </a:pPr>
            <a:r>
              <a:rPr sz="22000" b="0" i="0" spc="600">
                <a:solidFill>
                  <a:srgbClr val="F4ECD8"/>
                </a:solidFill>
                <a:latin typeface="Cormorant Garamond" panose="02020404030301010803" pitchFamily="18"/>
              </a:rPr>
              <a:t>CCSEP</a:t>
            </a:r>
          </a:p>
        </p:txBody>
      </p:sp>
      <p:pic>
        <p:nvPicPr>
          <p:cNvPr id="10" name="!!art" descr="Original engraving-style illustration"/>
          <p:cNvPicPr>
            <a:picLocks noChangeAspect="1"/>
          </p:cNvPicPr>
          <p:nvPr/>
        </p:nvPicPr>
        <p:blipFill>
          <a:blip r:embed="rId5"/>
          <a:stretch>
            <a:fillRect/>
          </a:stretch>
        </p:blipFill>
        <p:spPr>
          <a:xfrm>
            <a:off x="8503920" y="3825517"/>
            <a:ext cx="3291840" cy="1675845"/>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78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0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16685" y="404692"/>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32831" y="6460263"/>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2043" y="434621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Why CCSEP was needed</a:t>
            </a:r>
          </a:p>
        </p:txBody>
      </p:sp>
      <p:sp>
        <p:nvSpPr>
          <p:cNvPr id="3" name="!!body"/>
          <p:cNvSpPr>
            <a:spLocks noGrp="1"/>
          </p:cNvSpPr>
          <p:nvPr>
            <p:ph idx="1"/>
          </p:nvPr>
        </p:nvSpPr>
        <p:spPr>
          <a:xfrm>
            <a:off x="548640" y="2974848"/>
            <a:ext cx="11094415" cy="331622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Strain:</a:t>
            </a:r>
            <a:r>
              <a:rPr sz="2400" b="0" i="0">
                <a:solidFill>
                  <a:srgbClr val="2E4257"/>
                </a:solidFill>
                <a:latin typeface="Be Vietnam Pro" panose="020F0502020204030204" pitchFamily="34"/>
              </a:rPr>
              <a:t> rapid urbanization with limited resources in a lower-middle-income economy</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Overflows:</a:t>
            </a:r>
            <a:r>
              <a:rPr sz="2400" b="0" i="0">
                <a:solidFill>
                  <a:srgbClr val="2E4257"/>
                </a:solidFill>
                <a:latin typeface="Be Vietnam Pro" panose="020F0502020204030204" pitchFamily="34"/>
              </a:rPr>
              <a:t> combined drains discharged untreated wastewater onto streets and beaches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Response:</a:t>
            </a:r>
            <a:r>
              <a:rPr sz="2400" b="0" i="0">
                <a:solidFill>
                  <a:srgbClr val="2E4257"/>
                </a:solidFill>
                <a:latin typeface="Be Vietnam Pro" panose="020F0502020204030204" pitchFamily="34"/>
              </a:rPr>
              <a:t> IBRD loan plus IDA credits gave provinces upfront investment capital</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3.3.1 · p. 47</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~10%</a:t>
            </a:r>
          </a:p>
        </p:txBody>
      </p:sp>
      <p:sp>
        <p:nvSpPr>
          <p:cNvPr id="12" name="!!numl1"/>
          <p:cNvSpPr txBox="1"/>
          <p:nvPr/>
        </p:nvSpPr>
        <p:spPr>
          <a:xfrm>
            <a:off x="548640"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of urban wastewater treated</a:t>
            </a:r>
          </a:p>
        </p:txBody>
      </p:sp>
      <p:sp>
        <p:nvSpPr>
          <p:cNvPr id="13" name="!!num2"/>
          <p:cNvSpPr txBox="1"/>
          <p:nvPr/>
        </p:nvSpPr>
        <p:spPr>
          <a:xfrm>
            <a:off x="4338218"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771</a:t>
            </a:r>
          </a:p>
        </p:txBody>
      </p:sp>
      <p:sp>
        <p:nvSpPr>
          <p:cNvPr id="14" name="!!numl2"/>
          <p:cNvSpPr txBox="1"/>
          <p:nvPr/>
        </p:nvSpPr>
        <p:spPr>
          <a:xfrm>
            <a:off x="4338218"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a year needed</a:t>
            </a:r>
          </a:p>
        </p:txBody>
      </p:sp>
      <p:sp>
        <p:nvSpPr>
          <p:cNvPr id="15" name="!!num3"/>
          <p:cNvSpPr txBox="1"/>
          <p:nvPr/>
        </p:nvSpPr>
        <p:spPr>
          <a:xfrm>
            <a:off x="8127796"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~27%</a:t>
            </a:r>
          </a:p>
        </p:txBody>
      </p:sp>
      <p:sp>
        <p:nvSpPr>
          <p:cNvPr id="16" name="!!numl3"/>
          <p:cNvSpPr txBox="1"/>
          <p:nvPr/>
        </p:nvSpPr>
        <p:spPr>
          <a:xfrm>
            <a:off x="8127796" y="2322576"/>
            <a:ext cx="3515258" cy="53340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of needs covered by expected funding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6" action="ppaction://hlinksldjump"/>
              </a:rPr>
              <a:t>33</a:t>
            </a:r>
            <a:r>
              <a:rPr sz="1600" b="0" i="0">
                <a:solidFill>
                  <a:srgbClr val="4B5A69"/>
                </a:solidFill>
                <a:latin typeface="Be Vietnam Pro" panose="020F0502020204030204" pitchFamily="34"/>
              </a:rPr>
              <a:t>]</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79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4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62345" y="351707"/>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74538" y="6435759"/>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9756" y="402964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CCSEP: project overview</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CCSEP (P156143):</a:t>
            </a:r>
            <a:r>
              <a:rPr sz="2400" b="0" i="0">
                <a:solidFill>
                  <a:srgbClr val="2E4257"/>
                </a:solidFill>
                <a:latin typeface="Be Vietnam Pro" panose="020F0502020204030204" pitchFamily="34"/>
              </a:rPr>
              <a:t> appraised April 2017 under IPF; approved 5 May 2017</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Continuity:</a:t>
            </a:r>
            <a:r>
              <a:rPr sz="2400" b="0" i="0">
                <a:solidFill>
                  <a:srgbClr val="2E4257"/>
                </a:solidFill>
                <a:latin typeface="Be Vietnam Pro" panose="020F0502020204030204" pitchFamily="34"/>
              </a:rPr>
              <a:t> follows CCESP (2007–2014); adds Phan Rang–Thap Cham</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Dates:</a:t>
            </a:r>
            <a:r>
              <a:rPr sz="2400" b="0" i="0">
                <a:solidFill>
                  <a:srgbClr val="2E4257"/>
                </a:solidFill>
                <a:latin typeface="Be Vietnam Pro" panose="020F0502020204030204" pitchFamily="34"/>
              </a:rPr>
              <a:t> signed 27 October 2017; effective 18 January 2018; closed 30 June 2024</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Cost:</a:t>
            </a:r>
            <a:r>
              <a:rPr sz="2400" b="0" i="0">
                <a:solidFill>
                  <a:srgbClr val="2E4257"/>
                </a:solidFill>
                <a:latin typeface="Be Vietnam Pro" panose="020F0502020204030204" pitchFamily="34"/>
              </a:rPr>
              <a:t> USD 273.6 million at appraisal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Implementation:</a:t>
            </a:r>
            <a:r>
              <a:rPr sz="2400" b="0" i="0">
                <a:solidFill>
                  <a:srgbClr val="2E4257"/>
                </a:solidFill>
                <a:latin typeface="Be Vietnam Pro" panose="020F0502020204030204" pitchFamily="34"/>
              </a:rPr>
              <a:t> PMUs in Quang Binh, Binh Dinh, Khanh Hoa, Ninh Thuan</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3.3.1 · p. 48</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3164655"/>
            <a:ext cx="2834640" cy="1443089"/>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37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600677" y="42324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82667" y="6444197"/>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5958" y="289311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Planned and actual timeline</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3.3.1 · p. 48</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17. Planned and actual project implementation timeline</a:t>
            </a:r>
          </a:p>
        </p:txBody>
      </p:sp>
      <p:graphicFrame>
        <p:nvGraphicFramePr>
          <p:cNvPr id="11" name="!!tbl" descr="Table 17. Planned and actual project implementation timeline. Editable table, 6 rows."/>
          <p:cNvGraphicFramePr>
            <a:graphicFrameLocks noGrp="1"/>
          </p:cNvGraphicFramePr>
          <p:nvPr/>
        </p:nvGraphicFramePr>
        <p:xfrm>
          <a:off x="548640" y="1938528"/>
          <a:ext cx="11094413" cy="2931565"/>
        </p:xfrm>
        <a:graphic>
          <a:graphicData uri="http://schemas.openxmlformats.org/drawingml/2006/table">
            <a:tbl>
              <a:tblPr firstRow="1" bandRow="0">
                <a:tableStyleId>{5940675A-B579-460E-94D1-54222C63F5DA}</a:tableStyleId>
              </a:tblPr>
              <a:tblGrid>
                <a:gridCol w="5259089"/>
                <a:gridCol w="2917662"/>
                <a:gridCol w="2917662"/>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Milestone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Planned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Approval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5/5/2017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5/5/2017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Agreement signing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27/10/2017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Effectiveness date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3/8/2017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18/1/2018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 start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5/5/2017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18/1/2018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 end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30/6/2022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closing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31/12/2022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30/6/2024</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4961534"/>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51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694041" y="308600"/>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3939" y="6469372"/>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7517" y="370465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Objective and key indicators</a:t>
            </a:r>
          </a:p>
        </p:txBody>
      </p:sp>
      <p:sp>
        <p:nvSpPr>
          <p:cNvPr id="3" name="!!body"/>
          <p:cNvSpPr>
            <a:spLocks noGrp="1"/>
          </p:cNvSpPr>
          <p:nvPr>
            <p:ph idx="1"/>
          </p:nvPr>
        </p:nvSpPr>
        <p:spPr>
          <a:xfrm>
            <a:off x="548640" y="2731008"/>
            <a:ext cx="11094415" cy="356006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PDO:</a:t>
            </a:r>
            <a:r>
              <a:rPr sz="2400" b="0" i="0">
                <a:solidFill>
                  <a:srgbClr val="2E4257"/>
                </a:solidFill>
                <a:latin typeface="Be Vietnam Pro" panose="020F0502020204030204" pitchFamily="34"/>
              </a:rPr>
              <a:t> access to sanitation and operational efficiency of service providers in four cities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Investments:</a:t>
            </a:r>
            <a:r>
              <a:rPr sz="2400" b="0" i="0">
                <a:solidFill>
                  <a:srgbClr val="2E4257"/>
                </a:solidFill>
                <a:latin typeface="Be Vietnam Pro" panose="020F0502020204030204" pitchFamily="34"/>
              </a:rPr>
              <a:t> flood control, wastewater, solid waste, urban connectivity</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Reforms:</a:t>
            </a:r>
            <a:r>
              <a:rPr sz="2400" b="0" i="0">
                <a:solidFill>
                  <a:srgbClr val="2E4257"/>
                </a:solidFill>
                <a:latin typeface="Be Vietnam Pro" panose="020F0502020204030204" pitchFamily="34"/>
              </a:rPr>
              <a:t> Decree No. 80/2014/ND-CP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56</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service contracts and tariff roadmaps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3.3.1 · p. 48</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290,000</a:t>
            </a:r>
          </a:p>
        </p:txBody>
      </p:sp>
      <p:sp>
        <p:nvSpPr>
          <p:cNvPr id="12" name="!!numl1"/>
          <p:cNvSpPr txBox="1"/>
          <p:nvPr/>
        </p:nvSpPr>
        <p:spPr>
          <a:xfrm>
            <a:off x="548640"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direct beneficiaries</a:t>
            </a:r>
          </a:p>
        </p:txBody>
      </p:sp>
      <p:sp>
        <p:nvSpPr>
          <p:cNvPr id="13" name="!!num2"/>
          <p:cNvSpPr txBox="1"/>
          <p:nvPr/>
        </p:nvSpPr>
        <p:spPr>
          <a:xfrm>
            <a:off x="4338218"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256,000</a:t>
            </a:r>
          </a:p>
        </p:txBody>
      </p:sp>
      <p:sp>
        <p:nvSpPr>
          <p:cNvPr id="14" name="!!numl2"/>
          <p:cNvSpPr txBox="1"/>
          <p:nvPr/>
        </p:nvSpPr>
        <p:spPr>
          <a:xfrm>
            <a:off x="4338218"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people with sewer connections</a:t>
            </a:r>
          </a:p>
        </p:txBody>
      </p:sp>
      <p:sp>
        <p:nvSpPr>
          <p:cNvPr id="15" name="!!num3"/>
          <p:cNvSpPr txBox="1"/>
          <p:nvPr/>
        </p:nvSpPr>
        <p:spPr>
          <a:xfrm>
            <a:off x="8127796"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100%</a:t>
            </a:r>
          </a:p>
        </p:txBody>
      </p:sp>
      <p:sp>
        <p:nvSpPr>
          <p:cNvPr id="16" name="!!numl3"/>
          <p:cNvSpPr txBox="1"/>
          <p:nvPr/>
        </p:nvSpPr>
        <p:spPr>
          <a:xfrm>
            <a:off x="8127796"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service cost recovery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6" action="ppaction://hlinksldjump"/>
              </a:rPr>
              <a:t>33</a:t>
            </a:r>
            <a:r>
              <a:rPr sz="1600" b="0" i="0">
                <a:solidFill>
                  <a:srgbClr val="4B5A69"/>
                </a:solidFill>
                <a:latin typeface="Be Vietnam Pro" panose="020F0502020204030204" pitchFamily="34"/>
              </a:rPr>
              <a:t>]</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5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51660" y="303968"/>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9433" y="6508238"/>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3823" y="291685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A blended financing package</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Total:</a:t>
            </a:r>
            <a:r>
              <a:rPr sz="2400" b="0" i="0">
                <a:solidFill>
                  <a:srgbClr val="2E4257"/>
                </a:solidFill>
                <a:latin typeface="Be Vietnam Pro" panose="020F0502020204030204" pitchFamily="34"/>
              </a:rPr>
              <a:t> USD 273.6 million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Data Sheet, para. 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Shares:</a:t>
            </a:r>
            <a:r>
              <a:rPr sz="2400" b="0" i="0">
                <a:solidFill>
                  <a:srgbClr val="2E4257"/>
                </a:solidFill>
                <a:latin typeface="Be Vietnam Pro" panose="020F0502020204030204" pitchFamily="34"/>
              </a:rPr>
              <a:t> World Bank 86.3%, counterpart 13.7%</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Blend:</a:t>
            </a:r>
            <a:r>
              <a:rPr sz="2400" b="0" i="0">
                <a:solidFill>
                  <a:srgbClr val="2E4257"/>
                </a:solidFill>
                <a:latin typeface="Be Vietnam Pro" panose="020F0502020204030204" pitchFamily="34"/>
              </a:rPr>
              <a:t> IBRD USD 46 million, IDA USD 190.2 million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para. 66</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Why:</a:t>
            </a:r>
            <a:r>
              <a:rPr sz="2400" b="0" i="0">
                <a:solidFill>
                  <a:srgbClr val="2E4257"/>
                </a:solidFill>
                <a:latin typeface="Be Vietnam Pro" panose="020F0502020204030204" pitchFamily="34"/>
              </a:rPr>
              <a:t> blend terms before IDA graduation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paras. 1, 44</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49</a:t>
            </a:r>
          </a:p>
        </p:txBody>
      </p:sp>
      <p:graphicFrame>
        <p:nvGraphicFramePr>
          <p:cNvPr id="11" name="!!chart" descr="Figure 5. Project financing structure as planned at appraisal. Native chart. Share of total project cost (%): IBRD 16.8, IDA 69.5, Counterpart funding 13.7"/>
          <p:cNvGraphicFramePr>
            <a:graphicFrameLocks noGrp="1"/>
          </p:cNvGraphicFramePr>
          <p:nvPr/>
        </p:nvGraphicFramePr>
        <p:xfrm>
          <a:off x="5943599" y="1572768"/>
          <a:ext cx="5699455" cy="440029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6082792"/>
            <a:ext cx="569945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79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88978" y="18928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21737" y="6471283"/>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25280" y="378800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Two sources, two sets of terms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49</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Terms as stated in the PAD </a:t>
            </a:r>
            <a:r>
              <a:rPr sz="2600" b="0" i="1">
                <a:solidFill>
                  <a:srgbClr val="2E4257"/>
                </a:solidFill>
                <a:latin typeface="Cormorant Garamond" panose="02020404030301010803" pitchFamily="18"/>
              </a:rPr>
              <a:t>[</a:t>
            </a:r>
            <a:r>
              <a:rPr sz="2600" b="0" i="1" u="sng">
                <a:solidFill>
                  <a:srgbClr val="A33224"/>
                </a:solidFill>
                <a:latin typeface="Cormorant Garamond" panose="02020404030301010803" pitchFamily="18"/>
                <a:hlinkClick r:id="rId6" action="ppaction://hlinksldjump"/>
              </a:rPr>
              <a:t>33</a:t>
            </a:r>
            <a:r>
              <a:rPr sz="2600" b="0" i="1">
                <a:solidFill>
                  <a:srgbClr val="2E4257"/>
                </a:solidFill>
                <a:latin typeface="Cormorant Garamond" panose="02020404030301010803" pitchFamily="18"/>
              </a:rPr>
              <a:t>, para. 44</a:t>
            </a:r>
            <a:r>
              <a:rPr sz="2600" b="0" i="1">
                <a:solidFill>
                  <a:srgbClr val="2E4257"/>
                </a:solidFill>
                <a:latin typeface="Cormorant Garamond" panose="02020404030301010803" pitchFamily="18"/>
              </a:rPr>
              <a:t>]</a:t>
            </a:r>
            <a:r>
              <a:rPr sz="2600" b="0" i="1">
                <a:solidFill>
                  <a:srgbClr val="2E4257"/>
                </a:solidFill>
                <a:latin typeface="Cormorant Garamond" panose="02020404030301010803" pitchFamily="18"/>
              </a:rPr>
              <a:t>.</a:t>
            </a:r>
          </a:p>
        </p:txBody>
      </p:sp>
      <p:sp>
        <p:nvSpPr>
          <p:cNvPr id="11" name="!!card1"/>
          <p:cNvSpPr/>
          <p:nvPr/>
        </p:nvSpPr>
        <p:spPr>
          <a:xfrm>
            <a:off x="548640" y="215188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IBRD loan</a:t>
            </a:r>
          </a:p>
          <a:p>
            <a:pPr algn="l">
              <a:lnSpc>
                <a:spcPts val="2400"/>
              </a:lnSpc>
              <a:spcBef>
                <a:spcPts val="0"/>
              </a:spcBef>
              <a:spcAft>
                <a:spcPts val="0"/>
              </a:spcAft>
            </a:pPr>
            <a:r>
              <a:rPr sz="2000" b="0" i="0">
                <a:solidFill>
                  <a:srgbClr val="2E4257"/>
                </a:solidFill>
                <a:latin typeface="Be Vietnam Pro" panose="020F0502020204030204" pitchFamily="34"/>
              </a:rPr>
              <a:t>USD; floating rate then based on LIBOR; 29 years incl. 10-year grace; equal principal repayments</a:t>
            </a:r>
          </a:p>
        </p:txBody>
      </p:sp>
      <p:sp>
        <p:nvSpPr>
          <p:cNvPr id="12" name="!!card2"/>
          <p:cNvSpPr/>
          <p:nvPr/>
        </p:nvSpPr>
        <p:spPr>
          <a:xfrm>
            <a:off x="6233007" y="215188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IDA credit</a:t>
            </a:r>
          </a:p>
          <a:p>
            <a:pPr algn="l">
              <a:lnSpc>
                <a:spcPts val="2400"/>
              </a:lnSpc>
              <a:spcBef>
                <a:spcPts val="0"/>
              </a:spcBef>
              <a:spcAft>
                <a:spcPts val="0"/>
              </a:spcAft>
            </a:pPr>
            <a:r>
              <a:rPr sz="2000" b="0" i="0">
                <a:solidFill>
                  <a:srgbClr val="2E4257"/>
                </a:solidFill>
                <a:latin typeface="Be Vietnam Pro" panose="020F0502020204030204" pitchFamily="34"/>
              </a:rPr>
              <a:t>SDR; 25 years incl. 5-year grace; 2% a year (0.75% + 1.25%); 0.5% commitment fee; no front-end fee</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93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82468" y="368779"/>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4699" y="6459767"/>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31311" y="257897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On-granting vs on-lending</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IDA on-granted:</a:t>
            </a:r>
            <a:r>
              <a:rPr sz="2400" b="0" i="0">
                <a:solidFill>
                  <a:srgbClr val="2E4257"/>
                </a:solidFill>
                <a:latin typeface="Be Vietnam Pro" panose="020F0502020204030204" pitchFamily="34"/>
              </a:rPr>
              <a:t> 80%, 80%, 70%, 50% by city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para. 45</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Overall:</a:t>
            </a:r>
            <a:r>
              <a:rPr sz="2400" b="0" i="0">
                <a:solidFill>
                  <a:srgbClr val="2E4257"/>
                </a:solidFill>
                <a:latin typeface="Be Vietnam Pro" panose="020F0502020204030204" pitchFamily="34"/>
              </a:rPr>
              <a:t> 49.1% on-granted, 37.2% on-lent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Annex 5, Table 5.1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Debt:</a:t>
            </a:r>
            <a:r>
              <a:rPr sz="2400" b="0" i="0">
                <a:solidFill>
                  <a:srgbClr val="2E4257"/>
                </a:solidFill>
                <a:latin typeface="Be Vietnam Pro" panose="020F0502020204030204" pitchFamily="34"/>
              </a:rPr>
              <a:t> about USD 101.8 million on-lent; Binh Dinh projected to slightly exceed its ceiling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paras. 66, 75–76, Annex 5</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49</a:t>
            </a:r>
          </a:p>
        </p:txBody>
      </p:sp>
      <p:graphicFrame>
        <p:nvGraphicFramePr>
          <p:cNvPr id="11" name="!!chart" descr="Figure 6. Share of on-granting and on-lending by financing source. Native chart. On-granted (%): IBRD loan (all four cities) 0, IDA credit – Dong Hoi 80, IDA credit – Phan Rang 80, IDA credit – Quy Nhon 70, IDA credit – Nha Trang 50; On-lent (%): IBRD loan (all four cities) 100, IDA credit – Dong Hoi 20, IDA credit – Phan Rang 20, IDA credit – Quy Nhon 30, IDA credit – Nha Trang 50"/>
          <p:cNvGraphicFramePr>
            <a:graphicFrameLocks noGrp="1"/>
          </p:cNvGraphicFramePr>
          <p:nvPr/>
        </p:nvGraphicFramePr>
        <p:xfrm>
          <a:off x="5943599" y="1572768"/>
          <a:ext cx="5699455" cy="440029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6082792"/>
            <a:ext cx="569945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06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52968" y="403963"/>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93765" y="6504297"/>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24412" y="262131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Four components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50</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IBRD fully financed Component 2 </a:t>
            </a:r>
            <a:r>
              <a:rPr sz="2600" b="0" i="1">
                <a:solidFill>
                  <a:srgbClr val="2E4257"/>
                </a:solidFill>
                <a:latin typeface="Cormorant Garamond" panose="02020404030301010803" pitchFamily="18"/>
              </a:rPr>
              <a:t>[</a:t>
            </a:r>
            <a:r>
              <a:rPr sz="2600" b="0" i="1" u="sng">
                <a:solidFill>
                  <a:srgbClr val="A33224"/>
                </a:solidFill>
                <a:latin typeface="Cormorant Garamond" panose="02020404030301010803" pitchFamily="18"/>
                <a:hlinkClick r:id="rId6" action="ppaction://hlinksldjump"/>
              </a:rPr>
              <a:t>33</a:t>
            </a:r>
            <a:r>
              <a:rPr sz="2600" b="0" i="1">
                <a:solidFill>
                  <a:srgbClr val="2E4257"/>
                </a:solidFill>
                <a:latin typeface="Cormorant Garamond" panose="02020404030301010803" pitchFamily="18"/>
              </a:rPr>
              <a:t>, para. 34, Annex 2 Table 2.1, Annex 5 Table 5.2</a:t>
            </a:r>
            <a:r>
              <a:rPr sz="2600" b="0" i="1">
                <a:solidFill>
                  <a:srgbClr val="2E4257"/>
                </a:solidFill>
                <a:latin typeface="Cormorant Garamond" panose="02020404030301010803" pitchFamily="18"/>
              </a:rPr>
              <a:t>]</a:t>
            </a:r>
            <a:r>
              <a:rPr sz="2600" b="0" i="1">
                <a:solidFill>
                  <a:srgbClr val="2E4257"/>
                </a:solidFill>
                <a:latin typeface="Cormorant Garamond" panose="02020404030301010803" pitchFamily="18"/>
              </a:rPr>
              <a:t>.</a:t>
            </a:r>
          </a:p>
        </p:txBody>
      </p:sp>
      <p:sp>
        <p:nvSpPr>
          <p:cNvPr id="11" name="!!card1"/>
          <p:cNvSpPr/>
          <p:nvPr/>
        </p:nvSpPr>
        <p:spPr>
          <a:xfrm>
            <a:off x="548640" y="2151888"/>
            <a:ext cx="5410047" cy="17952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 · Sanitation (USD 140.7 million)</a:t>
            </a:r>
          </a:p>
          <a:p>
            <a:pPr algn="l">
              <a:lnSpc>
                <a:spcPts val="2400"/>
              </a:lnSpc>
              <a:spcBef>
                <a:spcPts val="0"/>
              </a:spcBef>
              <a:spcAft>
                <a:spcPts val="0"/>
              </a:spcAft>
            </a:pPr>
            <a:r>
              <a:rPr sz="2000" b="0" i="0">
                <a:solidFill>
                  <a:srgbClr val="2E4257"/>
                </a:solidFill>
                <a:latin typeface="Be Vietnam Pro" panose="020F0502020204030204" pitchFamily="34"/>
              </a:rPr>
              <a:t>Flood control, drainage, treatment plants, connections, solid waste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33</a:t>
            </a:r>
            <a:r>
              <a:rPr sz="2000" b="0" i="0">
                <a:solidFill>
                  <a:srgbClr val="2E4257"/>
                </a:solidFill>
                <a:latin typeface="Be Vietnam Pro" panose="020F0502020204030204" pitchFamily="34"/>
              </a:rPr>
              <a:t>, para. 31</a:t>
            </a:r>
            <a:r>
              <a:rPr sz="2000" b="0" i="0">
                <a:solidFill>
                  <a:srgbClr val="2E4257"/>
                </a:solidFill>
                <a:latin typeface="Be Vietnam Pro" panose="020F0502020204030204" pitchFamily="34"/>
              </a:rPr>
              <a:t>]</a:t>
            </a:r>
          </a:p>
        </p:txBody>
      </p:sp>
      <p:sp>
        <p:nvSpPr>
          <p:cNvPr id="12" name="!!card2"/>
          <p:cNvSpPr/>
          <p:nvPr/>
        </p:nvSpPr>
        <p:spPr>
          <a:xfrm>
            <a:off x="6233007" y="2151888"/>
            <a:ext cx="5410047" cy="17952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2 · Urban connectivity (USD 31.2 million)</a:t>
            </a:r>
          </a:p>
          <a:p>
            <a:pPr algn="l">
              <a:lnSpc>
                <a:spcPts val="2400"/>
              </a:lnSpc>
              <a:spcBef>
                <a:spcPts val="0"/>
              </a:spcBef>
              <a:spcAft>
                <a:spcPts val="0"/>
              </a:spcAft>
            </a:pPr>
            <a:r>
              <a:rPr sz="2000" b="0" i="0">
                <a:solidFill>
                  <a:srgbClr val="2E4257"/>
                </a:solidFill>
                <a:latin typeface="Be Vietnam Pro" panose="020F0502020204030204" pitchFamily="34"/>
              </a:rPr>
              <a:t>Over 7 km of roads and 5 bridges along canals and rivers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33</a:t>
            </a:r>
            <a:r>
              <a:rPr sz="2000" b="0" i="0">
                <a:solidFill>
                  <a:srgbClr val="2E4257"/>
                </a:solidFill>
                <a:latin typeface="Be Vietnam Pro" panose="020F0502020204030204" pitchFamily="34"/>
              </a:rPr>
              <a:t>, paras. 20, 33</a:t>
            </a:r>
            <a:r>
              <a:rPr sz="2000" b="0" i="0">
                <a:solidFill>
                  <a:srgbClr val="2E4257"/>
                </a:solidFill>
                <a:latin typeface="Be Vietnam Pro" panose="020F0502020204030204" pitchFamily="34"/>
              </a:rPr>
              <a:t>]</a:t>
            </a:r>
          </a:p>
        </p:txBody>
      </p:sp>
      <p:sp>
        <p:nvSpPr>
          <p:cNvPr id="13" name="!!card3"/>
          <p:cNvSpPr/>
          <p:nvPr/>
        </p:nvSpPr>
        <p:spPr>
          <a:xfrm>
            <a:off x="548640" y="4221480"/>
            <a:ext cx="5410047" cy="17952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3 · Compensation, site clearance (USD 25.1 million)</a:t>
            </a:r>
          </a:p>
          <a:p>
            <a:pPr algn="l">
              <a:lnSpc>
                <a:spcPts val="2400"/>
              </a:lnSpc>
              <a:spcBef>
                <a:spcPts val="0"/>
              </a:spcBef>
              <a:spcAft>
                <a:spcPts val="0"/>
              </a:spcAft>
            </a:pPr>
            <a:r>
              <a:rPr sz="2000" b="0" i="0">
                <a:solidFill>
                  <a:srgbClr val="2E4257"/>
                </a:solidFill>
                <a:latin typeface="Be Vietnam Pro" panose="020F0502020204030204" pitchFamily="34"/>
              </a:rPr>
              <a:t>Land acquisition and resettlement costs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33</a:t>
            </a:r>
            <a:r>
              <a:rPr sz="2000" b="0" i="0">
                <a:solidFill>
                  <a:srgbClr val="2E4257"/>
                </a:solidFill>
                <a:latin typeface="Be Vietnam Pro" panose="020F0502020204030204" pitchFamily="34"/>
              </a:rPr>
              <a:t>, para. 34</a:t>
            </a:r>
            <a:r>
              <a:rPr sz="2000" b="0" i="0">
                <a:solidFill>
                  <a:srgbClr val="2E4257"/>
                </a:solidFill>
                <a:latin typeface="Be Vietnam Pro" panose="020F0502020204030204" pitchFamily="34"/>
              </a:rPr>
              <a:t>]</a:t>
            </a:r>
          </a:p>
        </p:txBody>
      </p:sp>
      <p:sp>
        <p:nvSpPr>
          <p:cNvPr id="14" name="!!card4"/>
          <p:cNvSpPr/>
          <p:nvPr/>
        </p:nvSpPr>
        <p:spPr>
          <a:xfrm>
            <a:off x="6233007" y="4221480"/>
            <a:ext cx="5410047" cy="17952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4 · Support and reform (USD 11.7 million)</a:t>
            </a:r>
          </a:p>
          <a:p>
            <a:pPr algn="l">
              <a:lnSpc>
                <a:spcPts val="2400"/>
              </a:lnSpc>
              <a:spcBef>
                <a:spcPts val="0"/>
              </a:spcBef>
              <a:spcAft>
                <a:spcPts val="0"/>
              </a:spcAft>
            </a:pPr>
            <a:r>
              <a:rPr sz="2000" b="0" i="0">
                <a:solidFill>
                  <a:srgbClr val="2E4257"/>
                </a:solidFill>
                <a:latin typeface="Be Vietnam Pro" panose="020F0502020204030204" pitchFamily="34"/>
              </a:rPr>
              <a:t>PMU capacity; Decree 80/2014/ND-CP reforms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33</a:t>
            </a:r>
            <a:r>
              <a:rPr sz="2000" b="0" i="0">
                <a:solidFill>
                  <a:srgbClr val="2E4257"/>
                </a:solidFill>
                <a:latin typeface="Be Vietnam Pro" panose="020F0502020204030204" pitchFamily="34"/>
              </a:rPr>
              <a:t>, para. 35</a:t>
            </a:r>
            <a:r>
              <a:rPr sz="2000" b="0" i="0">
                <a:solidFill>
                  <a:srgbClr val="2E4257"/>
                </a:solidFill>
                <a:latin typeface="Be Vietnam Pro" panose="020F0502020204030204" pitchFamily="34"/>
              </a:rPr>
              <a:t>]</a:t>
            </a:r>
          </a:p>
        </p:txBody>
      </p:sp>
      <p:sp>
        <p:nvSpPr>
          <p:cNvPr id="15"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0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87496" y="26563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5323" y="647397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9220" y="407950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Components by source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18. Project components and financing sources (base cost, million USD)</a:t>
            </a:r>
          </a:p>
        </p:txBody>
      </p:sp>
      <p:graphicFrame>
        <p:nvGraphicFramePr>
          <p:cNvPr id="11" name="!!tbl" descr="Table 18. Project components and financing sources (base cost, million USD). Editable table, 5 rows."/>
          <p:cNvGraphicFramePr>
            <a:graphicFrameLocks noGrp="1"/>
          </p:cNvGraphicFramePr>
          <p:nvPr/>
        </p:nvGraphicFramePr>
        <p:xfrm>
          <a:off x="548640" y="1938528"/>
          <a:ext cx="11094415" cy="2512770"/>
        </p:xfrm>
        <a:graphic>
          <a:graphicData uri="http://schemas.openxmlformats.org/drawingml/2006/table">
            <a:tbl>
              <a:tblPr firstRow="1" bandRow="0">
                <a:tableStyleId>{5940675A-B579-460E-94D1-54222C63F5DA}</a:tableStyleId>
              </a:tblPr>
              <a:tblGrid>
                <a:gridCol w="7806139"/>
                <a:gridCol w="1644138"/>
                <a:gridCol w="1644138"/>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Component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IDA</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 Sanitation Infrastructure Expansion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140,7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140,7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 Urban Connectivity Improvement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31,2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 Compensation and Site Clearance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25,1</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 Implementation Support and Institutional Reform</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 Base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208,7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144,1</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34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03972" y="38850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5983" y="638644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7258" y="301874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Components by source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51</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18. Project components and financing sources (base cost, million USD)</a:t>
            </a:r>
          </a:p>
        </p:txBody>
      </p:sp>
      <p:graphicFrame>
        <p:nvGraphicFramePr>
          <p:cNvPr id="11" name="!!tbl" descr="Table 18. Project components and financing sources (base cost, million USD). Editable table, 5 rows."/>
          <p:cNvGraphicFramePr>
            <a:graphicFrameLocks noGrp="1"/>
          </p:cNvGraphicFramePr>
          <p:nvPr/>
        </p:nvGraphicFramePr>
        <p:xfrm>
          <a:off x="548640" y="1938528"/>
          <a:ext cx="11094414" cy="2512770"/>
        </p:xfrm>
        <a:graphic>
          <a:graphicData uri="http://schemas.openxmlformats.org/drawingml/2006/table">
            <a:tbl>
              <a:tblPr firstRow="1" bandRow="0">
                <a:tableStyleId>{5940675A-B579-460E-94D1-54222C63F5DA}</a:tableStyleId>
              </a:tblPr>
              <a:tblGrid>
                <a:gridCol w="6723983"/>
                <a:gridCol w="1416213"/>
                <a:gridCol w="2954218"/>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Component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IBRD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Counterpart funding</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 Sanitation Infrastructure Expansion</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 Urban Connectivity Improvement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31,2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 Compensation and Site Clearance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 Implementation Support and Institutional Reform</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 Base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31,2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33,4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818896"/>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a:p>
            <a:pPr algn="l">
              <a:lnSpc>
                <a:spcPts val="1439"/>
              </a:lnSpc>
              <a:spcBef>
                <a:spcPts val="0"/>
              </a:spcBef>
              <a:spcAft>
                <a:spcPts val="200"/>
              </a:spcAft>
            </a:pPr>
            <a:r>
              <a:rPr sz="1200" b="0" i="1">
                <a:solidFill>
                  <a:srgbClr val="4B5A69"/>
                </a:solidFill>
                <a:latin typeface="Be Vietnam Pro" panose="020F0502020204030204" pitchFamily="34"/>
              </a:rPr>
              <a:t>Note: The table shows base costs only. The difference from the total project cost comes from contingencies (USD 37.9 million), VAT (USD 22.3 million), and capitalized fees and interest (USD 4.8 million), which are also financed by the three sources. This is why the IBRD total is USD 46.0 million, against USD 31.2 million of base cost for Component 2 (World Bank, </a:t>
            </a:r>
            <a:r>
              <a:rPr sz="1400" b="0" i="1" u="sng">
                <a:solidFill>
                  <a:srgbClr val="A33224"/>
                </a:solidFill>
                <a:latin typeface="Be Vietnam Pro" panose="020F0502020204030204" pitchFamily="34"/>
                <a:hlinkClick r:id="rId6" action="ppaction://hlinksldjump"/>
              </a:rPr>
              <a:t>2017, Annex 2, Table 2.1</a:t>
            </a:r>
            <a:r>
              <a:rPr sz="1200" b="0" i="1">
                <a:solidFill>
                  <a:srgbClr val="4B5A69"/>
                </a:solidFill>
                <a:latin typeface="Be Vietnam Pro" panose="020F0502020204030204" pitchFamily="34"/>
              </a:rPr>
              <a:t>). Minor differences in totals are due to rounding in the PAD.</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48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43431" y="268662"/>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2538" y="6476513"/>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2936" y="242020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Funding by city as planned</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Largest:</a:t>
            </a:r>
            <a:r>
              <a:rPr sz="2400" b="0" i="0">
                <a:solidFill>
                  <a:srgbClr val="2E4257"/>
                </a:solidFill>
                <a:latin typeface="Be Vietnam Pro" panose="020F0502020204030204" pitchFamily="34"/>
              </a:rPr>
              <a:t> Phan Rang–Thap Cham 87.9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Annex 2, Tables 2.2–2.5</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New locality:</a:t>
            </a:r>
            <a:r>
              <a:rPr sz="2400" b="0" i="0">
                <a:solidFill>
                  <a:srgbClr val="2E4257"/>
                </a:solidFill>
                <a:latin typeface="Be Vietnam Pro" panose="020F0502020204030204" pitchFamily="34"/>
              </a:rPr>
              <a:t> own resettlement site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paras. 34, 63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IBRD:</a:t>
            </a:r>
            <a:r>
              <a:rPr sz="2400" b="0" i="0">
                <a:solidFill>
                  <a:srgbClr val="2E4257"/>
                </a:solidFill>
                <a:latin typeface="Be Vietnam Pro" panose="020F0502020204030204" pitchFamily="34"/>
              </a:rPr>
              <a:t> Nha Trang 16.4, Dong Hoi 14.3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para. 46, Table 1</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51</a:t>
            </a:r>
          </a:p>
        </p:txBody>
      </p:sp>
      <p:graphicFrame>
        <p:nvGraphicFramePr>
          <p:cNvPr id="11" name="!!chart" descr="Figure 7. Sources of funding by city (million USD). Native chart. IDA on-granted: Dong Hoi 28.7, Nha Trang 22.1, Phan Rang–Thap Cham 52.1, Quy Nhon 31.5; IDA on-lent: Dong Hoi 7.2, Nha Trang 22.1, Phan Rang–Thap Cham 13.0, Quy Nhon 13.5; IBRD (100% on-lent): Dong Hoi 14.3, Nha Trang 16.4, Phan Rang–Thap Cham 10.2, Quy Nhon 5.1; Counterpart funding: Dong Hoi 8.2, Nha Trang 11.4, Phan Rang–Thap Cham 12.7, Quy Nhon 5.2"/>
          <p:cNvGraphicFramePr>
            <a:graphicFrameLocks noGrp="1"/>
          </p:cNvGraphicFramePr>
          <p:nvPr/>
        </p:nvGraphicFramePr>
        <p:xfrm>
          <a:off x="5943599" y="1572768"/>
          <a:ext cx="5699455" cy="440029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6082792"/>
            <a:ext cx="569945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89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62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12665" y="27107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9742" y="651007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4153" y="310418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Decentralized disbursement</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Accounts:</a:t>
            </a:r>
            <a:r>
              <a:rPr sz="2400" b="0" i="0">
                <a:solidFill>
                  <a:srgbClr val="2E4257"/>
                </a:solidFill>
                <a:latin typeface="Be Vietnam Pro" panose="020F0502020204030204" pitchFamily="34"/>
              </a:rPr>
              <a:t> a designated USD account per province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Annex 3, para. 21</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Methods:</a:t>
            </a:r>
            <a:r>
              <a:rPr sz="2400" b="0" i="0">
                <a:solidFill>
                  <a:srgbClr val="2E4257"/>
                </a:solidFill>
                <a:latin typeface="Be Vietnam Pro" panose="020F0502020204030204" pitchFamily="34"/>
              </a:rPr>
              <a:t> advances, reimbursements, special commitments, direct payments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Annex 3, para. 22</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100% financing:</a:t>
            </a:r>
            <a:r>
              <a:rPr sz="2400" b="0" i="0">
                <a:solidFill>
                  <a:srgbClr val="2E4257"/>
                </a:solidFill>
                <a:latin typeface="Be Vietnam Pro" panose="020F0502020204030204" pitchFamily="34"/>
              </a:rPr>
              <a:t> eligible goods, works, consulting, incl. taxes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Annex 3, para. 24</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Three conditions:</a:t>
            </a:r>
            <a:r>
              <a:rPr sz="2400" b="0" i="0">
                <a:solidFill>
                  <a:srgbClr val="2E4257"/>
                </a:solidFill>
                <a:latin typeface="Be Vietnam Pro" panose="020F0502020204030204" pitchFamily="34"/>
              </a:rPr>
              <a:t> on-lending, counterpart and tariff approvals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Data Sheet, para. 62</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52</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941320"/>
            <a:ext cx="2834640" cy="188976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75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61056" y="385754"/>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2321" y="643743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1511" y="320213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Plan vs adjusted: amounts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52</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23 November 2022: USD 11.8 million IBRD and about USD 34 million IDA cancelled </a:t>
            </a:r>
            <a:r>
              <a:rPr sz="2600" b="0" i="1">
                <a:solidFill>
                  <a:srgbClr val="2E4257"/>
                </a:solidFill>
                <a:latin typeface="Cormorant Garamond" panose="02020404030301010803" pitchFamily="18"/>
              </a:rPr>
              <a:t>[</a:t>
            </a:r>
            <a:r>
              <a:rPr sz="2600" b="0" i="1" u="sng">
                <a:solidFill>
                  <a:srgbClr val="A33224"/>
                </a:solidFill>
                <a:latin typeface="Cormorant Garamond" panose="02020404030301010803" pitchFamily="18"/>
                <a:hlinkClick r:id="rId6" action="ppaction://hlinksldjump"/>
              </a:rPr>
              <a:t>43</a:t>
            </a:r>
            <a:r>
              <a:rPr sz="2600" b="0" i="1">
                <a:solidFill>
                  <a:srgbClr val="2E4257"/>
                </a:solidFill>
                <a:latin typeface="Cormorant Garamond" panose="02020404030301010803" pitchFamily="18"/>
              </a:rPr>
              <a:t>]</a:t>
            </a:r>
            <a:r>
              <a:rPr sz="2600" b="0" i="1">
                <a:solidFill>
                  <a:srgbClr val="2E4257"/>
                </a:solidFill>
                <a:latin typeface="Cormorant Garamond" panose="02020404030301010803" pitchFamily="18"/>
              </a:rPr>
              <a:t>.</a:t>
            </a:r>
          </a:p>
        </p:txBody>
      </p:sp>
      <p:sp>
        <p:nvSpPr>
          <p:cNvPr id="11" name="Table caption"/>
          <p:cNvSpPr txBox="1"/>
          <p:nvPr/>
        </p:nvSpPr>
        <p:spPr>
          <a:xfrm>
            <a:off x="548640" y="215188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19. Funding structure: plan vs. adjusted (million USD)</a:t>
            </a:r>
          </a:p>
        </p:txBody>
      </p:sp>
      <p:graphicFrame>
        <p:nvGraphicFramePr>
          <p:cNvPr id="12" name="!!tbl" descr="Table 19. Funding structure: plan vs. adjusted (million USD). Editable table, 5 rows."/>
          <p:cNvGraphicFramePr>
            <a:graphicFrameLocks noGrp="1"/>
          </p:cNvGraphicFramePr>
          <p:nvPr/>
        </p:nvGraphicFramePr>
        <p:xfrm>
          <a:off x="548640" y="2517648"/>
          <a:ext cx="11094414" cy="2512770"/>
        </p:xfrm>
        <a:graphic>
          <a:graphicData uri="http://schemas.openxmlformats.org/drawingml/2006/table">
            <a:tbl>
              <a:tblPr firstRow="1" bandRow="0">
                <a:tableStyleId>{5940675A-B579-460E-94D1-54222C63F5DA}</a:tableStyleId>
              </a:tblPr>
              <a:tblGrid>
                <a:gridCol w="3401554"/>
                <a:gridCol w="2939265"/>
                <a:gridCol w="2782367"/>
                <a:gridCol w="1971228"/>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Funding source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Appraisal amount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Adjusted amount</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Difference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Total WB financing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236,2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190,6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45,6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46</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34,2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11,8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IDA</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190,2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156,4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33,8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Counterpart funding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37,4</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-12,6</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 project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273,6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240,6</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33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3" name="Source line"/>
          <p:cNvSpPr txBox="1"/>
          <p:nvPr/>
        </p:nvSpPr>
        <p:spPr>
          <a:xfrm>
            <a:off x="548640" y="512185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9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92078" y="345009"/>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79550" y="650857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8867" y="410938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Plan vs adjusted: shares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52</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19. Funding structure: plan vs. adjusted (million USD)</a:t>
            </a:r>
          </a:p>
        </p:txBody>
      </p:sp>
      <p:graphicFrame>
        <p:nvGraphicFramePr>
          <p:cNvPr id="11" name="!!tbl" descr="Table 19. Funding structure: plan vs. adjusted (million USD). Editable table, 5 rows."/>
          <p:cNvGraphicFramePr>
            <a:graphicFrameLocks noGrp="1"/>
          </p:cNvGraphicFramePr>
          <p:nvPr/>
        </p:nvGraphicFramePr>
        <p:xfrm>
          <a:off x="548640" y="1938528"/>
          <a:ext cx="11094413" cy="2512770"/>
        </p:xfrm>
        <a:graphic>
          <a:graphicData uri="http://schemas.openxmlformats.org/drawingml/2006/table">
            <a:tbl>
              <a:tblPr firstRow="1" bandRow="0">
                <a:tableStyleId>{5940675A-B579-460E-94D1-54222C63F5DA}</a:tableStyleId>
              </a:tblPr>
              <a:tblGrid>
                <a:gridCol w="4284634"/>
                <a:gridCol w="3504699"/>
                <a:gridCol w="3305080"/>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Funding source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Appraisal share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Adjusted share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Total WB financing</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86,33%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79,22%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IBRD</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16,81%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14,21%</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IDA</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69,52%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65,00%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Counterpart funding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13,67%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20,78%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Total project cost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100,00%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100,00%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03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56052" y="208181"/>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61042" y="6489697"/>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09516" y="442842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Adjusted commitments by city</a:t>
            </a:r>
          </a:p>
        </p:txBody>
      </p:sp>
      <p:sp>
        <p:nvSpPr>
          <p:cNvPr id="3" name="!!body"/>
          <p:cNvSpPr>
            <a:spLocks noGrp="1"/>
          </p:cNvSpPr>
          <p:nvPr>
            <p:ph idx="1"/>
          </p:nvPr>
        </p:nvSpPr>
        <p:spPr>
          <a:xfrm>
            <a:off x="548640" y="4809744"/>
            <a:ext cx="11094415" cy="1481328"/>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Totals:</a:t>
            </a:r>
            <a:r>
              <a:rPr sz="2400" b="0" i="0">
                <a:solidFill>
                  <a:srgbClr val="2E4257"/>
                </a:solidFill>
                <a:latin typeface="Be Vietnam Pro" panose="020F0502020204030204" pitchFamily="34"/>
              </a:rPr>
              <a:t> loans 236.2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190.6; cost 273.6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240.6; counterpart 37.4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50.0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33</a:t>
            </a:r>
            <a:r>
              <a:rPr sz="2400" b="0" i="0">
                <a:solidFill>
                  <a:srgbClr val="2E4257"/>
                </a:solidFill>
                <a:latin typeface="Be Vietnam Pro" panose="020F0502020204030204" pitchFamily="34"/>
              </a:rPr>
              <a:t>, Annex 2</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10"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Cities:</a:t>
            </a:r>
            <a:r>
              <a:rPr sz="2400" b="0" i="0">
                <a:solidFill>
                  <a:srgbClr val="2E4257"/>
                </a:solidFill>
                <a:latin typeface="Be Vietnam Pro" panose="020F0502020204030204" pitchFamily="34"/>
              </a:rPr>
              <a:t> Quy Nhon 55.3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33.2; Phan Rang 87.9 </a:t>
            </a:r>
            <a:r>
              <a:rPr sz="2400" b="0" i="0">
                <a:solidFill>
                  <a:srgbClr val="2E4257"/>
                </a:solidFill>
                <a:latin typeface="Cormorant Garamond" panose="02020404030301010803" pitchFamily="18"/>
              </a:rPr>
              <a:t>→</a:t>
            </a:r>
            <a:r>
              <a:rPr sz="2400" b="0" i="0">
                <a:solidFill>
                  <a:srgbClr val="2E4257"/>
                </a:solidFill>
                <a:latin typeface="Be Vietnam Pro" panose="020F0502020204030204" pitchFamily="34"/>
              </a:rPr>
              <a:t> 97.9</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3.3.2 · p. 53</a:t>
            </a:r>
          </a:p>
        </p:txBody>
      </p:sp>
      <p:graphicFrame>
        <p:nvGraphicFramePr>
          <p:cNvPr id="11" name="!!chart" descr="Figure 8. Total funding by city: plan vs. adjusted (million USD). Native chart. Plan: Dong Hoi 58.4, Quy Nhon 55.3, Nha Trang 72.0, Phan Rang–Thap Cham 87.9; Adjusted: Dong Hoi n/a, Quy Nhon 33.2, Nha Trang n/a, Phan Rang–Thap Cham 97.9"/>
          <p:cNvGraphicFramePr>
            <a:graphicFrameLocks noGrp="1"/>
          </p:cNvGraphicFramePr>
          <p:nvPr/>
        </p:nvGraphicFramePr>
        <p:xfrm>
          <a:off x="548640" y="1572768"/>
          <a:ext cx="5577840" cy="2825496"/>
        </p:xfrm>
        <a:graphic>
          <a:graphicData uri="http://schemas.openxmlformats.org/drawingml/2006/chart">
            <c:chart xmlns:c="http://schemas.openxmlformats.org/drawingml/2006/chart" r:id="rId5"/>
          </a:graphicData>
        </a:graphic>
      </p:graphicFrame>
      <p:sp>
        <p:nvSpPr>
          <p:cNvPr id="12" name="Source line"/>
          <p:cNvSpPr txBox="1"/>
          <p:nvPr/>
        </p:nvSpPr>
        <p:spPr>
          <a:xfrm>
            <a:off x="548640" y="4416552"/>
            <a:ext cx="5577840" cy="42773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 Adjusted values for Dong Hoi and Nha Trang are not stated in the paper’s text.</a:t>
            </a:r>
          </a:p>
        </p:txBody>
      </p:sp>
      <p:sp>
        <p:nvSpPr>
          <p:cNvPr id="13" name="Image caption"/>
          <p:cNvSpPr txBox="1"/>
          <p:nvPr/>
        </p:nvSpPr>
        <p:spPr>
          <a:xfrm>
            <a:off x="6446519" y="1572768"/>
            <a:ext cx="5196535" cy="310896"/>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Figure 8 (original image from the paper, unlabeled bars)</a:t>
            </a:r>
          </a:p>
        </p:txBody>
      </p:sp>
      <p:pic>
        <p:nvPicPr>
          <p:cNvPr id="14" name="!!img1" descr="Original Figure 8 from the paper (plan), reproduced as an image because its bars carry no value labels"/>
          <p:cNvPicPr>
            <a:picLocks noChangeAspect="1"/>
          </p:cNvPicPr>
          <p:nvPr/>
        </p:nvPicPr>
        <p:blipFill>
          <a:blip r:embed="rId6"/>
          <a:stretch>
            <a:fillRect/>
          </a:stretch>
        </p:blipFill>
        <p:spPr>
          <a:xfrm>
            <a:off x="6446519" y="2114312"/>
            <a:ext cx="2506827" cy="2336766"/>
          </a:xfrm>
          <a:prstGeom prst="rect">
            <a:avLst/>
          </a:prstGeom>
        </p:spPr>
      </p:pic>
      <p:pic>
        <p:nvPicPr>
          <p:cNvPr id="15" name="!!img2" descr="Original Figure 8 from the paper (adjusted), reproduced as an image because its bars carry no value labels"/>
          <p:cNvPicPr>
            <a:picLocks noChangeAspect="1"/>
          </p:cNvPicPr>
          <p:nvPr/>
        </p:nvPicPr>
        <p:blipFill>
          <a:blip r:embed="rId7"/>
          <a:stretch>
            <a:fillRect/>
          </a:stretch>
        </p:blipFill>
        <p:spPr>
          <a:xfrm>
            <a:off x="9136227" y="2096429"/>
            <a:ext cx="2506827" cy="2372533"/>
          </a:xfrm>
          <a:prstGeom prst="rect">
            <a:avLst/>
          </a:prstGeom>
        </p:spPr>
      </p:pic>
      <p:sp>
        <p:nvSpPr>
          <p:cNvPr id="16"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84109" y="365243"/>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37939" y="636763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1518" y="287286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Slow start, slow disbursement</a:t>
            </a:r>
          </a:p>
        </p:txBody>
      </p:sp>
      <p:sp>
        <p:nvSpPr>
          <p:cNvPr id="3" name="!!body"/>
          <p:cNvSpPr>
            <a:spLocks noGrp="1"/>
          </p:cNvSpPr>
          <p:nvPr>
            <p:ph idx="1"/>
          </p:nvPr>
        </p:nvSpPr>
        <p:spPr>
          <a:xfrm>
            <a:off x="548640" y="1618488"/>
            <a:ext cx="5074920"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Late start:</a:t>
            </a:r>
            <a:r>
              <a:rPr sz="2400" b="0" i="0">
                <a:solidFill>
                  <a:srgbClr val="2E4257"/>
                </a:solidFill>
                <a:latin typeface="Be Vietnam Pro" panose="020F0502020204030204" pitchFamily="34"/>
              </a:rPr>
              <a:t> effective 18 January 2018, not 3 August 2017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55</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9"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Disbursed:</a:t>
            </a:r>
            <a:r>
              <a:rPr sz="2400" b="0" i="0">
                <a:solidFill>
                  <a:srgbClr val="2E4257"/>
                </a:solidFill>
                <a:latin typeface="Be Vietnam Pro" panose="020F0502020204030204" pitchFamily="34"/>
              </a:rPr>
              <a:t> IBRD 16.47, IDA 68.34; about 36%</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Root cause:</a:t>
            </a:r>
            <a:r>
              <a:rPr sz="2400" b="0" i="0">
                <a:solidFill>
                  <a:srgbClr val="2E4257"/>
                </a:solidFill>
                <a:latin typeface="Be Vietnam Pro" panose="020F0502020204030204" pitchFamily="34"/>
              </a:rPr>
              <a:t> counterpart budgets only from July 2019</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Execution:</a:t>
            </a:r>
            <a:r>
              <a:rPr sz="2400" b="0" i="0">
                <a:solidFill>
                  <a:srgbClr val="2E4257"/>
                </a:solidFill>
                <a:latin typeface="Be Vietnam Pro" panose="020F0502020204030204" pitchFamily="34"/>
              </a:rPr>
              <a:t> works about 45% of USD 160.9 million contracts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43</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54</a:t>
            </a:r>
          </a:p>
        </p:txBody>
      </p:sp>
      <p:graphicFrame>
        <p:nvGraphicFramePr>
          <p:cNvPr id="11" name="!!chart" descr="CCSEP disbursement: PAD projection vs. reported by late 2022 (million USD). Native chart. Total (PAD projection): PAD projection (end FY2022) 212.3, Disbursed by late 2022 n/a; IBRD: PAD projection (end FY2022) n/a, Disbursed by late 2022 16.47; IDA: PAD projection (end FY2022) n/a, Disbursed by late 2022 68.34"/>
          <p:cNvGraphicFramePr>
            <a:graphicFrameLocks noGrp="1"/>
          </p:cNvGraphicFramePr>
          <p:nvPr/>
        </p:nvGraphicFramePr>
        <p:xfrm>
          <a:off x="5943599" y="1572768"/>
          <a:ext cx="5699455" cy="4400296"/>
        </p:xfrm>
        <a:graphic>
          <a:graphicData uri="http://schemas.openxmlformats.org/drawingml/2006/chart">
            <c:chart xmlns:c="http://schemas.openxmlformats.org/drawingml/2006/chart" r:id="rId5"/>
          </a:graphicData>
        </a:graphic>
      </p:graphicFrame>
      <p:sp>
        <p:nvSpPr>
          <p:cNvPr id="12" name="Source line"/>
          <p:cNvSpPr txBox="1"/>
          <p:nvPr/>
        </p:nvSpPr>
        <p:spPr>
          <a:xfrm>
            <a:off x="5943599" y="6082792"/>
            <a:ext cx="569945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Data: Section 3.3.3 of the paper (</a:t>
            </a:r>
            <a:r>
              <a:rPr sz="1200" b="0" i="1">
                <a:solidFill>
                  <a:srgbClr val="4B5A69"/>
                </a:solidFill>
                <a:latin typeface="Be Vietnam Pro" panose="020F0502020204030204" pitchFamily="34"/>
              </a:rPr>
              <a:t>[</a:t>
            </a:r>
            <a:r>
              <a:rPr sz="1400" b="0" i="1" u="sng">
                <a:solidFill>
                  <a:srgbClr val="A33224"/>
                </a:solidFill>
                <a:latin typeface="Be Vietnam Pro" panose="020F0502020204030204" pitchFamily="34"/>
                <a:hlinkClick r:id="rId7" action="ppaction://hlinksldjump"/>
              </a:rPr>
              <a:t>33</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8" action="ppaction://hlinksldjump"/>
              </a:rPr>
              <a:t>55</a:t>
            </a:r>
            <a:r>
              <a:rPr sz="1200" b="0" i="1">
                <a:solidFill>
                  <a:srgbClr val="4B5A69"/>
                </a:solidFill>
                <a:latin typeface="Be Vietnam Pro" panose="020F0502020204030204" pitchFamily="34"/>
              </a:rPr>
              <a:t>; </a:t>
            </a:r>
            <a:r>
              <a:rPr sz="1400" b="0" i="1" u="sng">
                <a:solidFill>
                  <a:srgbClr val="A33224"/>
                </a:solidFill>
                <a:latin typeface="Be Vietnam Pro" panose="020F0502020204030204" pitchFamily="34"/>
                <a:hlinkClick r:id="rId9" action="ppaction://hlinksldjump"/>
              </a:rPr>
              <a:t>43</a:t>
            </a:r>
            <a:r>
              <a:rPr sz="1200" b="0" i="1">
                <a:solidFill>
                  <a:srgbClr val="4B5A69"/>
                </a:solidFill>
                <a:latin typeface="Be Vietnam Pro" panose="020F0502020204030204" pitchFamily="34"/>
              </a:rPr>
              <a:t>]</a:t>
            </a:r>
            <a:r>
              <a:rPr sz="1200" b="0" i="1">
                <a:solidFill>
                  <a:srgbClr val="4B5A69"/>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5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58453" y="456875"/>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0070" y="6412352"/>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5936" y="449189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Timeline (Table 20)</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55</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20. Planned and actual project implementation timeline</a:t>
            </a:r>
          </a:p>
        </p:txBody>
      </p:sp>
      <p:graphicFrame>
        <p:nvGraphicFramePr>
          <p:cNvPr id="11" name="!!tbl" descr="Table 20. Planned and actual project implementation timeline. Editable table, 6 rows."/>
          <p:cNvGraphicFramePr>
            <a:graphicFrameLocks noGrp="1"/>
          </p:cNvGraphicFramePr>
          <p:nvPr/>
        </p:nvGraphicFramePr>
        <p:xfrm>
          <a:off x="548640" y="1938528"/>
          <a:ext cx="11094413" cy="2931565"/>
        </p:xfrm>
        <a:graphic>
          <a:graphicData uri="http://schemas.openxmlformats.org/drawingml/2006/table">
            <a:tbl>
              <a:tblPr firstRow="1" bandRow="0">
                <a:tableStyleId>{5940675A-B579-460E-94D1-54222C63F5DA}</a:tableStyleId>
              </a:tblPr>
              <a:tblGrid>
                <a:gridCol w="5259089"/>
                <a:gridCol w="2917662"/>
                <a:gridCol w="2917662"/>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Milestone</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Planned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Approval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5/5/2017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5/5/2017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Agreement signing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27/10/2017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Effectiveness date</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3/8/2017</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18/1/2018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 start</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5/5/2017</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18/1/2018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Implementation end</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30/6/2022</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Loan closing</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31/12/2022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30/6/2024</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bl>
          </a:graphicData>
        </a:graphic>
      </p:graphicFrame>
      <p:sp>
        <p:nvSpPr>
          <p:cNvPr id="12" name="Source line"/>
          <p:cNvSpPr txBox="1"/>
          <p:nvPr/>
        </p:nvSpPr>
        <p:spPr>
          <a:xfrm>
            <a:off x="548640" y="4961534"/>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8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600279" y="242573"/>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7736" y="648785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4864" y="400770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Technical support and delay factors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Safeguards:</a:t>
            </a:r>
            <a:r>
              <a:rPr sz="2400" b="0" i="0">
                <a:solidFill>
                  <a:srgbClr val="2E4257"/>
                </a:solidFill>
                <a:latin typeface="Be Vietnam Pro" panose="020F0502020204030204" pitchFamily="34"/>
              </a:rPr>
              <a:t> Category A; OP 4.12 and Bank procurement guidelines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33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Ratings, end-2022:</a:t>
            </a:r>
            <a:r>
              <a:rPr sz="2400" b="0" i="0">
                <a:solidFill>
                  <a:srgbClr val="2E4257"/>
                </a:solidFill>
                <a:latin typeface="Be Vietnam Pro" panose="020F0502020204030204" pitchFamily="34"/>
              </a:rPr>
              <a:t> progress Moderately Satisfactory; PDO likelihood Moderately Unsatisfactory</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Fiduciary:</a:t>
            </a:r>
            <a:r>
              <a:rPr sz="2400" b="0" i="0">
                <a:solidFill>
                  <a:srgbClr val="2E4257"/>
                </a:solidFill>
                <a:latin typeface="Be Vietnam Pro" panose="020F0502020204030204" pitchFamily="34"/>
              </a:rPr>
              <a:t> all Moderately Satisfactory; legal covenants fully complied with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Delays:</a:t>
            </a:r>
            <a:r>
              <a:rPr sz="2400" b="0" i="0">
                <a:solidFill>
                  <a:srgbClr val="2E4257"/>
                </a:solidFill>
                <a:latin typeface="Be Vietnam Pro" panose="020F0502020204030204" pitchFamily="34"/>
              </a:rPr>
              <a:t> site clearance, weak contractors, 2020 storms, COVID-19, weak contract management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54</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823960" y="2468880"/>
            <a:ext cx="2834640" cy="2834640"/>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42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37940" y="185478"/>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36084" y="645339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91153" y="374670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Resettlement: the main bottleneck</a:t>
            </a:r>
          </a:p>
        </p:txBody>
      </p:sp>
      <p:sp>
        <p:nvSpPr>
          <p:cNvPr id="3" name="!!body"/>
          <p:cNvSpPr>
            <a:spLocks noGrp="1"/>
          </p:cNvSpPr>
          <p:nvPr>
            <p:ph idx="1"/>
          </p:nvPr>
        </p:nvSpPr>
        <p:spPr>
          <a:xfrm>
            <a:off x="548640" y="2974848"/>
            <a:ext cx="11094415" cy="331622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Nha Trang:</a:t>
            </a:r>
            <a:r>
              <a:rPr sz="2400" b="0" i="0">
                <a:solidFill>
                  <a:srgbClr val="2E4257"/>
                </a:solidFill>
                <a:latin typeface="Be Vietnam Pro" panose="020F0502020204030204" pitchFamily="34"/>
              </a:rPr>
              <a:t> a third of approved plans rejected; most Component 2 contracts halted</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Cancelled:</a:t>
            </a:r>
            <a:r>
              <a:rPr sz="2400" b="0" i="0">
                <a:solidFill>
                  <a:srgbClr val="2E4257"/>
                </a:solidFill>
                <a:latin typeface="Be Vietnam Pro" panose="020F0502020204030204" pitchFamily="34"/>
              </a:rPr>
              <a:t> NT-2.1 partially, NT-2.2 completely; affected households about 35% fewer</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Elsewhere:</a:t>
            </a:r>
            <a:r>
              <a:rPr sz="2400" b="0" i="0">
                <a:solidFill>
                  <a:srgbClr val="2E4257"/>
                </a:solidFill>
                <a:latin typeface="Be Vietnam Pro" panose="020F0502020204030204" pitchFamily="34"/>
              </a:rPr>
              <a:t> Dong Hoi and Quy Nhon largely completed resettlement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43</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55</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1,486</a:t>
            </a:r>
          </a:p>
        </p:txBody>
      </p:sp>
      <p:sp>
        <p:nvSpPr>
          <p:cNvPr id="12" name="!!numl1"/>
          <p:cNvSpPr txBox="1"/>
          <p:nvPr/>
        </p:nvSpPr>
        <p:spPr>
          <a:xfrm>
            <a:off x="548640" y="2322576"/>
            <a:ext cx="3515258" cy="53340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affected households (PAD), 329 to relocate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6" action="ppaction://hlinksldjump"/>
              </a:rPr>
              <a:t>33</a:t>
            </a:r>
            <a:r>
              <a:rPr sz="1600" b="0" i="0">
                <a:solidFill>
                  <a:srgbClr val="4B5A69"/>
                </a:solidFill>
                <a:latin typeface="Be Vietnam Pro" panose="020F0502020204030204" pitchFamily="34"/>
              </a:rPr>
              <a:t>]</a:t>
            </a:r>
          </a:p>
        </p:txBody>
      </p:sp>
      <p:sp>
        <p:nvSpPr>
          <p:cNvPr id="13" name="!!num2"/>
          <p:cNvSpPr txBox="1"/>
          <p:nvPr/>
        </p:nvSpPr>
        <p:spPr>
          <a:xfrm>
            <a:off x="4338218" y="1527048"/>
            <a:ext cx="3515258" cy="682751"/>
          </a:xfrm>
          <a:prstGeom prst="rect">
            <a:avLst/>
          </a:prstGeom>
          <a:noFill/>
        </p:spPr>
        <p:txBody>
          <a:bodyPr wrap="square" lIns="0" rIns="0" tIns="18288" bIns="18288" anchor="t">
            <a:noAutofit/>
          </a:bodyPr>
          <a:lstStyle/>
          <a:p>
            <a:pPr algn="l">
              <a:lnSpc>
                <a:spcPts val="4800"/>
              </a:lnSpc>
              <a:spcBef>
                <a:spcPts val="0"/>
              </a:spcBef>
              <a:spcAft>
                <a:spcPts val="0"/>
              </a:spcAft>
            </a:pPr>
            <a:r>
              <a:rPr sz="4800" b="1" i="0">
                <a:solidFill>
                  <a:srgbClr val="2E4257"/>
                </a:solidFill>
                <a:latin typeface="Cormorant Garamond" panose="02020404030301010803" pitchFamily="18"/>
              </a:rPr>
              <a:t>160 / 585</a:t>
            </a:r>
          </a:p>
        </p:txBody>
      </p:sp>
      <p:sp>
        <p:nvSpPr>
          <p:cNvPr id="14" name="!!numl2"/>
          <p:cNvSpPr txBox="1"/>
          <p:nvPr/>
        </p:nvSpPr>
        <p:spPr>
          <a:xfrm>
            <a:off x="4338218"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Nha Trang plans approved</a:t>
            </a:r>
          </a:p>
        </p:txBody>
      </p:sp>
      <p:sp>
        <p:nvSpPr>
          <p:cNvPr id="15" name="!!num3"/>
          <p:cNvSpPr txBox="1"/>
          <p:nvPr/>
        </p:nvSpPr>
        <p:spPr>
          <a:xfrm>
            <a:off x="8127796" y="1527048"/>
            <a:ext cx="3515258" cy="682751"/>
          </a:xfrm>
          <a:prstGeom prst="rect">
            <a:avLst/>
          </a:prstGeom>
          <a:noFill/>
        </p:spPr>
        <p:txBody>
          <a:bodyPr wrap="square" lIns="0" rIns="0" tIns="18288" bIns="18288" anchor="t">
            <a:noAutofit/>
          </a:bodyPr>
          <a:lstStyle/>
          <a:p>
            <a:pPr algn="l">
              <a:lnSpc>
                <a:spcPts val="4800"/>
              </a:lnSpc>
              <a:spcBef>
                <a:spcPts val="0"/>
              </a:spcBef>
              <a:spcAft>
                <a:spcPts val="0"/>
              </a:spcAft>
            </a:pPr>
            <a:r>
              <a:rPr sz="4800" b="1" i="0">
                <a:solidFill>
                  <a:srgbClr val="2E4257"/>
                </a:solidFill>
                <a:latin typeface="Cormorant Garamond" panose="02020404030301010803" pitchFamily="18"/>
              </a:rPr>
              <a:t>1,400 / 1,586</a:t>
            </a:r>
          </a:p>
        </p:txBody>
      </p:sp>
      <p:sp>
        <p:nvSpPr>
          <p:cNvPr id="16" name="!!numl3"/>
          <p:cNvSpPr txBox="1"/>
          <p:nvPr/>
        </p:nvSpPr>
        <p:spPr>
          <a:xfrm>
            <a:off x="8127796"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Phan Rang plans approved </a:t>
            </a:r>
            <a:r>
              <a:rPr sz="1600" b="0" i="0">
                <a:solidFill>
                  <a:srgbClr val="4B5A69"/>
                </a:solidFill>
                <a:latin typeface="Be Vietnam Pro" panose="020F0502020204030204" pitchFamily="34"/>
              </a:rPr>
              <a:t>[</a:t>
            </a:r>
            <a:r>
              <a:rPr sz="1600" b="0" i="0" u="sng">
                <a:solidFill>
                  <a:srgbClr val="A33224"/>
                </a:solidFill>
                <a:latin typeface="Be Vietnam Pro" panose="020F0502020204030204" pitchFamily="34"/>
                <a:hlinkClick r:id="rId7" action="ppaction://hlinksldjump"/>
              </a:rPr>
              <a:t>43</a:t>
            </a:r>
            <a:r>
              <a:rPr sz="1600" b="0" i="0">
                <a:solidFill>
                  <a:srgbClr val="4B5A69"/>
                </a:solidFill>
                <a:latin typeface="Be Vietnam Pro" panose="020F0502020204030204" pitchFamily="34"/>
              </a:rPr>
              <a:t>]</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56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94455" y="20210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7516" y="6481896"/>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9247" y="352606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Key indicators at 31/10/2022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56</a:t>
            </a:r>
          </a:p>
        </p:txBody>
      </p:sp>
      <p:sp>
        <p:nvSpPr>
          <p:cNvPr id="10" name="Table caption"/>
          <p:cNvSpPr txBox="1"/>
          <p:nvPr/>
        </p:nvSpPr>
        <p:spPr>
          <a:xfrm>
            <a:off x="548640" y="1572768"/>
            <a:ext cx="11094415" cy="329184"/>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a:solidFill>
                  <a:srgbClr val="4B5A69"/>
                </a:solidFill>
                <a:latin typeface="Be Vietnam Pro" panose="020F0502020204030204" pitchFamily="34"/>
              </a:rPr>
              <a:t>Table 21. Progress on key performance indicators as of 31/10/2022</a:t>
            </a:r>
          </a:p>
        </p:txBody>
      </p:sp>
      <p:graphicFrame>
        <p:nvGraphicFramePr>
          <p:cNvPr id="11" name="!!tbl" descr="Table 21. Progress on key performance indicators as of 31/10/2022. Editable table, 5 rows."/>
          <p:cNvGraphicFramePr>
            <a:graphicFrameLocks noGrp="1"/>
          </p:cNvGraphicFramePr>
          <p:nvPr/>
        </p:nvGraphicFramePr>
        <p:xfrm>
          <a:off x="548640" y="1938528"/>
          <a:ext cx="11094413" cy="2512770"/>
        </p:xfrm>
        <a:graphic>
          <a:graphicData uri="http://schemas.openxmlformats.org/drawingml/2006/table">
            <a:tbl>
              <a:tblPr firstRow="1" bandRow="0">
                <a:tableStyleId>{5940675A-B579-460E-94D1-54222C63F5DA}</a:tableStyleId>
              </a:tblPr>
              <a:tblGrid>
                <a:gridCol w="5877853"/>
                <a:gridCol w="2158330"/>
                <a:gridCol w="1529115"/>
                <a:gridCol w="1529115"/>
              </a:tblGrid>
              <a:tr h="418795">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Indicator</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Target (PAD)</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Actual</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c>
                  <a:txBody>
                    <a:bodyPr wrap="square"/>
                    <a:lstStyle/>
                    <a:p>
                      <a:pPr algn="l">
                        <a:lnSpc>
                          <a:spcPts val="1920"/>
                        </a:lnSpc>
                        <a:spcBef>
                          <a:spcPts val="0"/>
                        </a:spcBef>
                        <a:spcAft>
                          <a:spcPts val="0"/>
                        </a:spcAft>
                      </a:pPr>
                      <a:r>
                        <a:rPr sz="1600" b="1" i="0">
                          <a:solidFill>
                            <a:srgbClr val="2E4257"/>
                          </a:solidFill>
                          <a:latin typeface="Be Vietnam Pro" panose="020F0502020204030204" pitchFamily="34"/>
                        </a:rPr>
                        <a:t>Ratio</a:t>
                      </a:r>
                    </a:p>
                  </a:txBody>
                  <a:tcPr marL="73152" marR="73152" marT="54864" marB="54864" anchor="ctr">
                    <a:lnL w="0">
                      <a:noFill/>
                    </a:lnL>
                    <a:lnR w="0">
                      <a:noFill/>
                    </a:lnR>
                    <a:lnT w="6350">
                      <a:solidFill>
                        <a:srgbClr val="9AA6B2"/>
                      </a:solidFill>
                    </a:lnT>
                    <a:lnB w="6350">
                      <a:solidFill>
                        <a:srgbClr val="9AA6B2"/>
                      </a:solidFill>
                    </a:lnB>
                    <a:solidFill>
                      <a:srgbClr val="E8DDC2"/>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Direct beneficiaries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290.000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185.559</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64%</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People with access to sewer connections</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256.000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97.400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Cost recovery level</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100%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98%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98%</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Roads (km)</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22</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4,38</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20%</a:t>
                      </a:r>
                    </a:p>
                  </a:txBody>
                  <a:tcPr marL="73152" marR="73152" marT="54864" marB="54864" anchor="ctr">
                    <a:lnL w="0">
                      <a:noFill/>
                    </a:lnL>
                    <a:lnR w="0">
                      <a:noFill/>
                    </a:lnR>
                    <a:lnT w="6350">
                      <a:solidFill>
                        <a:srgbClr val="9AA6B2"/>
                      </a:solidFill>
                    </a:lnT>
                    <a:lnB w="6350">
                      <a:solidFill>
                        <a:srgbClr val="9AA6B2"/>
                      </a:solidFill>
                    </a:lnB>
                    <a:solidFill>
                      <a:srgbClr val="EFE6CF"/>
                    </a:solidFill>
                  </a:tcPr>
                </a:tc>
              </a:tr>
              <a:tr h="418795">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Bridges</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5</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3</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c>
                  <a:txBody>
                    <a:bodyPr wrap="square"/>
                    <a:lstStyle/>
                    <a:p>
                      <a:pPr algn="l">
                        <a:lnSpc>
                          <a:spcPts val="1920"/>
                        </a:lnSpc>
                        <a:spcBef>
                          <a:spcPts val="0"/>
                        </a:spcBef>
                        <a:spcAft>
                          <a:spcPts val="0"/>
                        </a:spcAft>
                      </a:pPr>
                      <a:r>
                        <a:rPr sz="1600" b="0" i="0">
                          <a:solidFill>
                            <a:srgbClr val="2E4257"/>
                          </a:solidFill>
                          <a:latin typeface="Be Vietnam Pro" panose="020F0502020204030204" pitchFamily="34"/>
                        </a:rPr>
                        <a:t>60%</a:t>
                      </a:r>
                    </a:p>
                  </a:txBody>
                  <a:tcPr marL="73152" marR="73152" marT="54864" marB="54864" anchor="ctr">
                    <a:lnL w="0">
                      <a:noFill/>
                    </a:lnL>
                    <a:lnR w="0">
                      <a:noFill/>
                    </a:lnR>
                    <a:lnT w="6350">
                      <a:solidFill>
                        <a:srgbClr val="9AA6B2"/>
                      </a:solidFill>
                    </a:lnT>
                    <a:lnB w="6350">
                      <a:solidFill>
                        <a:srgbClr val="9AA6B2"/>
                      </a:solidFill>
                    </a:lnB>
                    <a:solidFill>
                      <a:srgbClr val="F4ECD8"/>
                    </a:solidFill>
                  </a:tcPr>
                </a:tc>
              </a:tr>
            </a:tbl>
          </a:graphicData>
        </a:graphic>
      </p:graphicFrame>
      <p:sp>
        <p:nvSpPr>
          <p:cNvPr id="12" name="Source line"/>
          <p:cNvSpPr txBox="1"/>
          <p:nvPr/>
        </p:nvSpPr>
        <p:spPr>
          <a:xfrm>
            <a:off x="548640" y="4542739"/>
            <a:ext cx="11094415" cy="244855"/>
          </a:xfrm>
          <a:prstGeom prst="rect">
            <a:avLst/>
          </a:prstGeom>
          <a:noFill/>
        </p:spPr>
        <p:txBody>
          <a:bodyPr wrap="square" lIns="0" rIns="0" tIns="18288" bIns="18288" anchor="t">
            <a:noAutofit/>
          </a:bodyPr>
          <a:lstStyle/>
          <a:p>
            <a:pPr algn="l">
              <a:lnSpc>
                <a:spcPts val="1439"/>
              </a:lnSpc>
              <a:spcBef>
                <a:spcPts val="0"/>
              </a:spcBef>
              <a:spcAft>
                <a:spcPts val="200"/>
              </a:spcAft>
            </a:pPr>
            <a:r>
              <a:rPr sz="1200" b="0" i="1">
                <a:solidFill>
                  <a:srgbClr val="4B5A69"/>
                </a:solidFill>
                <a:latin typeface="Be Vietnam Pro" panose="020F0502020204030204" pitchFamily="34"/>
              </a:rPr>
              <a:t>Source: projects.worldbank.org</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702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54647" y="356824"/>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78096" y="645840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7373" y="440651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Training and institutional reform</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PMUs:</a:t>
            </a:r>
            <a:r>
              <a:rPr sz="2400" b="0" i="0">
                <a:solidFill>
                  <a:srgbClr val="2E4257"/>
                </a:solidFill>
                <a:latin typeface="Be Vietnam Pro" panose="020F0502020204030204" pitchFamily="34"/>
              </a:rPr>
              <a:t> inherited from CCESP; Phan Rang new, 10 of 12 staff from water-sector ODA units</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Support:</a:t>
            </a:r>
            <a:r>
              <a:rPr sz="2400" b="0" i="0">
                <a:solidFill>
                  <a:srgbClr val="2E4257"/>
                </a:solidFill>
                <a:latin typeface="Be Vietnam Pro" panose="020F0502020204030204" pitchFamily="34"/>
              </a:rPr>
              <a:t> training, audit teams, manuals; PPIAF (USD 350,000) and GIZ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Targets:</a:t>
            </a:r>
            <a:r>
              <a:rPr sz="2400" b="0" i="0">
                <a:solidFill>
                  <a:srgbClr val="2E4257"/>
                </a:solidFill>
                <a:latin typeface="Be Vietnam Pro" panose="020F0502020204030204" pitchFamily="34"/>
              </a:rPr>
              <a:t> 14 service contracts, 4 tariff roadmaps, 4 connection policies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Bank advice:</a:t>
            </a:r>
            <a:r>
              <a:rPr sz="2400" b="0" i="0">
                <a:solidFill>
                  <a:srgbClr val="2E4257"/>
                </a:solidFill>
                <a:latin typeface="Be Vietnam Pro" panose="020F0502020204030204" pitchFamily="34"/>
              </a:rPr>
              <a:t> more qualified staff, coordination, supervision, monthly meetings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Outcome:</a:t>
            </a:r>
            <a:r>
              <a:rPr sz="2400" b="0" i="0">
                <a:solidFill>
                  <a:srgbClr val="2E4257"/>
                </a:solidFill>
                <a:latin typeface="Be Vietnam Pro" panose="020F0502020204030204" pitchFamily="34"/>
              </a:rPr>
              <a:t> PSMUs set up; most service contracts unexecuted except Nha Trang plant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55–56</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2203132"/>
            <a:ext cx="2834640" cy="3366135"/>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99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840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64849" y="301753"/>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64017" y="6411159"/>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7515" y="384895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Same bottleneck for all three forms</a:t>
            </a:r>
          </a:p>
        </p:txBody>
      </p:sp>
      <p:sp>
        <p:nvSpPr>
          <p:cNvPr id="3" name="!!body"/>
          <p:cNvSpPr>
            <a:spLocks noGrp="1"/>
          </p:cNvSpPr>
          <p:nvPr>
            <p:ph idx="1"/>
          </p:nvPr>
        </p:nvSpPr>
        <p:spPr>
          <a:xfrm>
            <a:off x="548640" y="2974848"/>
            <a:ext cx="11094415" cy="331622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Funds idle:</a:t>
            </a:r>
            <a:r>
              <a:rPr sz="2400" b="0" i="0">
                <a:solidFill>
                  <a:srgbClr val="2E4257"/>
                </a:solidFill>
                <a:latin typeface="Be Vietnam Pro" panose="020F0502020204030204" pitchFamily="34"/>
              </a:rPr>
              <a:t> World Bank money available, counterpart funding late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Limited IBRD weight:</a:t>
            </a:r>
            <a:r>
              <a:rPr sz="2400" b="0" i="0">
                <a:solidFill>
                  <a:srgbClr val="2E4257"/>
                </a:solidFill>
                <a:latin typeface="Be Vietnam Pro" panose="020F0502020204030204" pitchFamily="34"/>
              </a:rPr>
              <a:t> fully financed Component 2; IDA financed sanitation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6" action="ppaction://hlinksldjump"/>
              </a:rPr>
              <a:t>33</a:t>
            </a:r>
            <a:r>
              <a:rPr sz="2400" b="0" i="0">
                <a:solidFill>
                  <a:srgbClr val="2E4257"/>
                </a:solidFill>
                <a:latin typeface="Be Vietnam Pro" panose="020F0502020204030204" pitchFamily="34"/>
              </a:rPr>
              <a:t>, Annex 2, Table 2.1</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7"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Scope cut:</a:t>
            </a:r>
            <a:r>
              <a:rPr sz="2400" b="0" i="0">
                <a:solidFill>
                  <a:srgbClr val="2E4257"/>
                </a:solidFill>
                <a:latin typeface="Be Vietnam Pro" panose="020F0502020204030204" pitchFamily="34"/>
              </a:rPr>
              <a:t> Nha Trang scaled back; 18-month extension needed</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3.3.3 · p. 56</a:t>
            </a:r>
          </a:p>
        </p:txBody>
      </p:sp>
      <p:sp>
        <p:nvSpPr>
          <p:cNvPr id="11" name="!!num1"/>
          <p:cNvSpPr txBox="1"/>
          <p:nvPr/>
        </p:nvSpPr>
        <p:spPr>
          <a:xfrm>
            <a:off x="548640"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36%</a:t>
            </a:r>
          </a:p>
        </p:txBody>
      </p:sp>
      <p:sp>
        <p:nvSpPr>
          <p:cNvPr id="12" name="!!numl1"/>
          <p:cNvSpPr txBox="1"/>
          <p:nvPr/>
        </p:nvSpPr>
        <p:spPr>
          <a:xfrm>
            <a:off x="548640" y="2322576"/>
            <a:ext cx="3515258" cy="53340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of original loan capital disbursed by late 2022</a:t>
            </a:r>
          </a:p>
        </p:txBody>
      </p:sp>
      <p:sp>
        <p:nvSpPr>
          <p:cNvPr id="13" name="!!num2"/>
          <p:cNvSpPr txBox="1"/>
          <p:nvPr/>
        </p:nvSpPr>
        <p:spPr>
          <a:xfrm>
            <a:off x="4338218"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45.6</a:t>
            </a:r>
          </a:p>
        </p:txBody>
      </p:sp>
      <p:sp>
        <p:nvSpPr>
          <p:cNvPr id="14" name="!!numl2"/>
          <p:cNvSpPr txBox="1"/>
          <p:nvPr/>
        </p:nvSpPr>
        <p:spPr>
          <a:xfrm>
            <a:off x="4338218" y="2322576"/>
            <a:ext cx="3515258" cy="28956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USD million cancelled</a:t>
            </a:r>
          </a:p>
        </p:txBody>
      </p:sp>
      <p:sp>
        <p:nvSpPr>
          <p:cNvPr id="15" name="!!num3"/>
          <p:cNvSpPr txBox="1"/>
          <p:nvPr/>
        </p:nvSpPr>
        <p:spPr>
          <a:xfrm>
            <a:off x="8127796" y="1527048"/>
            <a:ext cx="3515258" cy="835152"/>
          </a:xfrm>
          <a:prstGeom prst="rect">
            <a:avLst/>
          </a:prstGeom>
          <a:noFill/>
        </p:spPr>
        <p:txBody>
          <a:bodyPr wrap="square" lIns="0" rIns="0" tIns="18288" bIns="18288" anchor="t">
            <a:noAutofit/>
          </a:bodyPr>
          <a:lstStyle/>
          <a:p>
            <a:pPr algn="l">
              <a:lnSpc>
                <a:spcPts val="6000"/>
              </a:lnSpc>
              <a:spcBef>
                <a:spcPts val="0"/>
              </a:spcBef>
              <a:spcAft>
                <a:spcPts val="0"/>
              </a:spcAft>
            </a:pPr>
            <a:r>
              <a:rPr sz="6000" b="1" i="0">
                <a:solidFill>
                  <a:srgbClr val="2E4257"/>
                </a:solidFill>
                <a:latin typeface="Cormorant Garamond" panose="02020404030301010803" pitchFamily="18"/>
              </a:rPr>
              <a:t>16.8%</a:t>
            </a:r>
          </a:p>
        </p:txBody>
      </p:sp>
      <p:sp>
        <p:nvSpPr>
          <p:cNvPr id="16" name="!!numl3"/>
          <p:cNvSpPr txBox="1"/>
          <p:nvPr/>
        </p:nvSpPr>
        <p:spPr>
          <a:xfrm>
            <a:off x="8127796" y="2322576"/>
            <a:ext cx="3515258" cy="53340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0">
                <a:solidFill>
                  <a:srgbClr val="4B5A69"/>
                </a:solidFill>
                <a:latin typeface="Be Vietnam Pro" panose="020F0502020204030204" pitchFamily="34"/>
              </a:rPr>
              <a:t>IBRD share of plan (14.2% adjusted)</a:t>
            </a:r>
          </a:p>
        </p:txBody>
      </p:sp>
      <p:sp>
        <p:nvSpPr>
          <p:cNvPr id="17"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978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45096" y="216565"/>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6341" y="6386524"/>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03077" y="385120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Results so far</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No ICR yet:</a:t>
            </a:r>
            <a:r>
              <a:rPr sz="2400" b="0" i="0">
                <a:solidFill>
                  <a:srgbClr val="2E4257"/>
                </a:solidFill>
                <a:latin typeface="Be Vietnam Pro" panose="020F0502020204030204" pitchFamily="34"/>
              </a:rPr>
              <a:t> figures as of 31 October 2022, plus Inspection Panel milestones 2023–2025</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Indicators:</a:t>
            </a:r>
            <a:r>
              <a:rPr sz="2400" b="0" i="0">
                <a:solidFill>
                  <a:srgbClr val="2E4257"/>
                </a:solidFill>
                <a:latin typeface="Be Vietnam Pro" panose="020F0502020204030204" pitchFamily="34"/>
              </a:rPr>
              <a:t> beneficiaries 64%, sewer access 38%, cost recovery 98%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 </a:t>
            </a:r>
            <a:r>
              <a:rPr sz="2400" b="0" i="0" u="sng">
                <a:solidFill>
                  <a:srgbClr val="A33224"/>
                </a:solidFill>
                <a:latin typeface="Be Vietnam Pro" panose="020F0502020204030204" pitchFamily="34"/>
                <a:hlinkClick r:id="rId8"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Works:</a:t>
            </a:r>
            <a:r>
              <a:rPr sz="2400" b="0" i="0">
                <a:solidFill>
                  <a:srgbClr val="2E4257"/>
                </a:solidFill>
                <a:latin typeface="Be Vietnam Pro" panose="020F0502020204030204" pitchFamily="34"/>
              </a:rPr>
              <a:t> Dong Hoi and Quy Nhon largely complete; Nha Trang, Phan Rang incomplete</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Disbursement:</a:t>
            </a:r>
            <a:r>
              <a:rPr sz="2400" b="0" i="0">
                <a:solidFill>
                  <a:srgbClr val="2E4257"/>
                </a:solidFill>
                <a:latin typeface="Be Vietnam Pro" panose="020F0502020204030204" pitchFamily="34"/>
              </a:rPr>
              <a:t> 57.43% in August 2023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9" action="ppaction://hlinksldjump"/>
              </a:rPr>
              <a:t>57</a:t>
            </a:r>
            <a:r>
              <a:rPr sz="2400" b="0" i="0">
                <a:solidFill>
                  <a:srgbClr val="2E4257"/>
                </a:solidFill>
                <a:latin typeface="Be Vietnam Pro" panose="020F0502020204030204" pitchFamily="34"/>
              </a:rPr>
              <a:t>, paras. 6, 55</a:t>
            </a:r>
            <a:r>
              <a:rPr sz="2400" b="0" i="0">
                <a:solidFill>
                  <a:srgbClr val="2E4257"/>
                </a:solidFill>
                <a:latin typeface="Be Vietnam Pro" panose="020F0502020204030204" pitchFamily="34"/>
              </a:rPr>
              <a:t>]</a:t>
            </a:r>
            <a:r>
              <a:rPr sz="2400" b="0" i="0">
                <a:solidFill>
                  <a:srgbClr val="2E4257"/>
                </a:solidFill>
                <a:latin typeface="Be Vietnam Pro" panose="020F0502020204030204" pitchFamily="34"/>
              </a:rPr>
              <a:t>; base may differ from 36%</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3.3.4 · p. 57</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3164655"/>
            <a:ext cx="2834640" cy="1443089"/>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116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79074" y="237800"/>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11685" y="6475760"/>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6908" y="381845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Climate resilience and institutions</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Targets:</a:t>
            </a:r>
            <a:r>
              <a:rPr sz="2400" b="0" i="0">
                <a:solidFill>
                  <a:srgbClr val="2E4257"/>
                </a:solidFill>
                <a:latin typeface="Be Vietnam Pro" panose="020F0502020204030204" pitchFamily="34"/>
              </a:rPr>
              <a:t> about 44,000 people, 17 km embankments, 22 km roads, 5 bridges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33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Done:</a:t>
            </a:r>
            <a:r>
              <a:rPr sz="2400" b="0" i="0">
                <a:solidFill>
                  <a:srgbClr val="2E4257"/>
                </a:solidFill>
                <a:latin typeface="Be Vietnam Pro" panose="020F0502020204030204" pitchFamily="34"/>
              </a:rPr>
              <a:t> 4.38 km of roads and 3 bridges; other figures not yet public</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Institutions:</a:t>
            </a:r>
            <a:r>
              <a:rPr sz="2400" b="0" i="0">
                <a:solidFill>
                  <a:srgbClr val="2E4257"/>
                </a:solidFill>
                <a:latin typeface="Be Vietnam Pro" panose="020F0502020204030204" pitchFamily="34"/>
              </a:rPr>
              <a:t> PSMUs, asset handovers, connection policies, tariff roadmaps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8" action="ppaction://hlinksldjump"/>
              </a:rPr>
              <a:t>43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Exception:</a:t>
            </a:r>
            <a:r>
              <a:rPr sz="2400" b="0" i="0">
                <a:solidFill>
                  <a:srgbClr val="2E4257"/>
                </a:solidFill>
                <a:latin typeface="Be Vietnam Pro" panose="020F0502020204030204" pitchFamily="34"/>
              </a:rPr>
              <a:t> Nha Trang plant already under a performance-based contract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38% coverage:</a:t>
            </a:r>
            <a:r>
              <a:rPr sz="2400" b="0" i="0">
                <a:solidFill>
                  <a:srgbClr val="2E4257"/>
                </a:solidFill>
                <a:latin typeface="Be Vietnam Pro" panose="020F0502020204030204" pitchFamily="34"/>
              </a:rPr>
              <a:t> benefits need networks and household connections</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3.3.4 · p. 57</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3290925"/>
            <a:ext cx="2834640" cy="1190548"/>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2540000">
            <a:off x="11045952" y="182880"/>
            <a:ext cx="868680" cy="8686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85498" y="444536"/>
            <a:ext cx="310896" cy="310896"/>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70704" y="6478705"/>
            <a:ext cx="237744" cy="23774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9809" y="323495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Nha Trang: resettlement bottleneck</a:t>
            </a:r>
          </a:p>
        </p:txBody>
      </p:sp>
      <p:sp>
        <p:nvSpPr>
          <p:cNvPr id="3" name="!!body"/>
          <p:cNvSpPr>
            <a:spLocks noGrp="1"/>
          </p:cNvSpPr>
          <p:nvPr>
            <p:ph idx="1"/>
          </p:nvPr>
        </p:nvSpPr>
        <p:spPr>
          <a:xfrm>
            <a:off x="548640" y="1618488"/>
            <a:ext cx="7955279" cy="4672584"/>
          </a:xfrm>
        </p:spPr>
        <p:txBody>
          <a:bodyPr wrap="square" lIns="0" rIns="0" tIns="18288" bIns="18288" anchor="t">
            <a:noAutofit/>
          </a:bodyPr>
          <a:lstStyle/>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Plans:</a:t>
            </a:r>
            <a:r>
              <a:rPr sz="2400" b="0" i="0">
                <a:solidFill>
                  <a:srgbClr val="2E4257"/>
                </a:solidFill>
                <a:latin typeface="Be Vietnam Pro" panose="020F0502020204030204" pitchFamily="34"/>
              </a:rPr>
              <a:t> only 160 of 585 approved; two packages cancelled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57</a:t>
            </a:r>
            <a:r>
              <a:rPr sz="2400" b="0" i="0">
                <a:solidFill>
                  <a:srgbClr val="2E4257"/>
                </a:solidFill>
                <a:latin typeface="Be Vietnam Pro" panose="020F0502020204030204" pitchFamily="34"/>
              </a:rPr>
              <a:t>, executive summary, paras. 10, 29</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Affected:</a:t>
            </a:r>
            <a:r>
              <a:rPr sz="2400" b="0" i="0">
                <a:solidFill>
                  <a:srgbClr val="2E4257"/>
                </a:solidFill>
                <a:latin typeface="Be Vietnam Pro" panose="020F0502020204030204" pitchFamily="34"/>
              </a:rPr>
              <a:t> about 464 households, per Management Response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57</a:t>
            </a:r>
            <a:r>
              <a:rPr sz="2400" b="0" i="0">
                <a:solidFill>
                  <a:srgbClr val="2E4257"/>
                </a:solidFill>
                <a:latin typeface="Be Vietnam Pro" panose="020F0502020204030204" pitchFamily="34"/>
              </a:rPr>
              <a:t>, executive summary</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Land:</a:t>
            </a:r>
            <a:r>
              <a:rPr sz="2400" b="0" i="0">
                <a:solidFill>
                  <a:srgbClr val="2E4257"/>
                </a:solidFill>
                <a:latin typeface="Be Vietnam Pro" panose="020F0502020204030204" pitchFamily="34"/>
              </a:rPr>
              <a:t> about 5 ha not acquired; 6 ha in 2018; 2.5 ha in 2021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57</a:t>
            </a:r>
            <a:r>
              <a:rPr sz="2400" b="0" i="0">
                <a:solidFill>
                  <a:srgbClr val="2E4257"/>
                </a:solidFill>
                <a:latin typeface="Be Vietnam Pro" panose="020F0502020204030204" pitchFamily="34"/>
              </a:rPr>
              <a:t>, paras. 11, 63</a:t>
            </a:r>
            <a:r>
              <a:rPr sz="2400" b="0" i="0">
                <a:solidFill>
                  <a:srgbClr val="2E4257"/>
                </a:solidFill>
                <a:latin typeface="Be Vietnam Pro" panose="020F0502020204030204" pitchFamily="34"/>
              </a:rPr>
              <a:t>]</a:t>
            </a:r>
          </a:p>
          <a:p>
            <a:pPr algn="l" marL="310896" indent="-310896" lvl="0">
              <a:lnSpc>
                <a:spcPts val="2879"/>
              </a:lnSpc>
              <a:spcBef>
                <a:spcPts val="0"/>
              </a:spcBef>
              <a:spcAft>
                <a:spcPts val="1000"/>
              </a:spcAft>
              <a:buClr>
                <a:srgbClr val="B4432F"/>
              </a:buClr>
              <a:buSzPct val="70000"/>
              <a:buFont typeface="Cormorant Garamond"/>
              <a:buChar char="●"/>
            </a:pPr>
            <a:r>
              <a:rPr sz="2400" b="1" i="0">
                <a:solidFill>
                  <a:srgbClr val="2E4257"/>
                </a:solidFill>
                <a:latin typeface="Be Vietnam Pro" panose="020F0502020204030204" pitchFamily="34"/>
              </a:rPr>
              <a:t>Management:</a:t>
            </a:r>
            <a:r>
              <a:rPr sz="2400" b="0" i="0">
                <a:solidFill>
                  <a:srgbClr val="2E4257"/>
                </a:solidFill>
                <a:latin typeface="Be Vietnam Pro" panose="020F0502020204030204" pitchFamily="34"/>
              </a:rPr>
              <a:t> "technical reasons"; PDO not affected </a:t>
            </a:r>
            <a:r>
              <a:rPr sz="2400" b="0" i="0">
                <a:solidFill>
                  <a:srgbClr val="2E4257"/>
                </a:solidFill>
                <a:latin typeface="Be Vietnam Pro" panose="020F0502020204030204" pitchFamily="34"/>
              </a:rPr>
              <a:t>[</a:t>
            </a:r>
            <a:r>
              <a:rPr sz="2400" b="0" i="0" u="sng">
                <a:solidFill>
                  <a:srgbClr val="A33224"/>
                </a:solidFill>
                <a:latin typeface="Be Vietnam Pro" panose="020F0502020204030204" pitchFamily="34"/>
                <a:hlinkClick r:id="rId7" action="ppaction://hlinksldjump"/>
              </a:rPr>
              <a:t>57</a:t>
            </a:r>
            <a:r>
              <a:rPr sz="2400" b="0" i="0">
                <a:solidFill>
                  <a:srgbClr val="2E4257"/>
                </a:solidFill>
                <a:latin typeface="Be Vietnam Pro" panose="020F0502020204030204" pitchFamily="34"/>
              </a:rPr>
              <a:t>, paras. 49, 59</a:t>
            </a:r>
            <a:r>
              <a:rPr sz="2400" b="0" i="0">
                <a:solidFill>
                  <a:srgbClr val="2E4257"/>
                </a:solidFill>
                <a:latin typeface="Be Vietnam Pro" panose="020F0502020204030204" pitchFamily="34"/>
              </a:rPr>
              <a:t>]</a:t>
            </a:r>
          </a:p>
        </p:txBody>
      </p:sp>
      <p:sp>
        <p:nvSpPr>
          <p:cNvPr id="9"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10"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3.3.4 · p. 58</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23960" y="3164655"/>
            <a:ext cx="2834640" cy="1443089"/>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39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19393" y="38433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7066" y="644455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89750" y="317351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From bottleneck to formal complaint</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3.3.4 · p. 58</a:t>
            </a:r>
          </a:p>
        </p:txBody>
      </p:sp>
      <p:sp>
        <p:nvSpPr>
          <p:cNvPr id="10" name="!!axis"/>
          <p:cNvSpPr/>
          <p:nvPr/>
        </p:nvSpPr>
        <p:spPr>
          <a:xfrm>
            <a:off x="548640" y="2459736"/>
            <a:ext cx="11094415" cy="27432"/>
          </a:xfrm>
          <a:prstGeom prst="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1" name="Date 1"/>
          <p:cNvSpPr txBox="1"/>
          <p:nvPr/>
        </p:nvSpPr>
        <p:spPr>
          <a:xfrm>
            <a:off x="548640" y="1847088"/>
            <a:ext cx="3423818"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June 2023</a:t>
            </a:r>
          </a:p>
        </p:txBody>
      </p:sp>
      <p:sp>
        <p:nvSpPr>
          <p:cNvPr id="12" name="!!tick1"/>
          <p:cNvSpPr/>
          <p:nvPr/>
        </p:nvSpPr>
        <p:spPr>
          <a:xfrm>
            <a:off x="566928" y="235000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3" name="Event 1"/>
          <p:cNvSpPr txBox="1"/>
          <p:nvPr/>
        </p:nvSpPr>
        <p:spPr>
          <a:xfrm>
            <a:off x="548640" y="2807208"/>
            <a:ext cx="3423818" cy="12649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19 of 222 plans non-compliant; eighteen on low land prices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57</a:t>
            </a:r>
            <a:r>
              <a:rPr sz="2000" b="0" i="0">
                <a:solidFill>
                  <a:srgbClr val="2E4257"/>
                </a:solidFill>
                <a:latin typeface="Be Vietnam Pro" panose="020F0502020204030204" pitchFamily="34"/>
              </a:rPr>
              <a:t>, paras. 37, 40, 41</a:t>
            </a:r>
            <a:r>
              <a:rPr sz="2000" b="0" i="0">
                <a:solidFill>
                  <a:srgbClr val="2E4257"/>
                </a:solidFill>
                <a:latin typeface="Be Vietnam Pro" panose="020F0502020204030204" pitchFamily="34"/>
              </a:rPr>
              <a:t>]</a:t>
            </a:r>
          </a:p>
        </p:txBody>
      </p:sp>
      <p:sp>
        <p:nvSpPr>
          <p:cNvPr id="14" name="Date 2"/>
          <p:cNvSpPr txBox="1"/>
          <p:nvPr/>
        </p:nvSpPr>
        <p:spPr>
          <a:xfrm>
            <a:off x="4246778" y="1847088"/>
            <a:ext cx="3423818"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27 August 2023</a:t>
            </a:r>
          </a:p>
        </p:txBody>
      </p:sp>
      <p:sp>
        <p:nvSpPr>
          <p:cNvPr id="15" name="!!tick2"/>
          <p:cNvSpPr/>
          <p:nvPr/>
        </p:nvSpPr>
        <p:spPr>
          <a:xfrm>
            <a:off x="4265066" y="235000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6" name="Event 2"/>
          <p:cNvSpPr txBox="1"/>
          <p:nvPr/>
        </p:nvSpPr>
        <p:spPr>
          <a:xfrm>
            <a:off x="4246778" y="2807208"/>
            <a:ext cx="3423818" cy="12649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31 Ngoc Hiep residents file request; allegations, not conclusions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57</a:t>
            </a:r>
            <a:r>
              <a:rPr sz="2000" b="0" i="0">
                <a:solidFill>
                  <a:srgbClr val="2E4257"/>
                </a:solidFill>
                <a:latin typeface="Be Vietnam Pro" panose="020F0502020204030204" pitchFamily="34"/>
              </a:rPr>
              <a:t>, paras. 13, 17, 19, 23</a:t>
            </a:r>
            <a:r>
              <a:rPr sz="2000" b="0" i="0">
                <a:solidFill>
                  <a:srgbClr val="2E4257"/>
                </a:solidFill>
                <a:latin typeface="Be Vietnam Pro" panose="020F0502020204030204" pitchFamily="34"/>
              </a:rPr>
              <a:t>]</a:t>
            </a:r>
          </a:p>
        </p:txBody>
      </p:sp>
      <p:sp>
        <p:nvSpPr>
          <p:cNvPr id="17" name="Date 3"/>
          <p:cNvSpPr txBox="1"/>
          <p:nvPr/>
        </p:nvSpPr>
        <p:spPr>
          <a:xfrm>
            <a:off x="7944916" y="1847088"/>
            <a:ext cx="3423818"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Late August 2023</a:t>
            </a:r>
          </a:p>
        </p:txBody>
      </p:sp>
      <p:sp>
        <p:nvSpPr>
          <p:cNvPr id="18" name="!!tick3"/>
          <p:cNvSpPr/>
          <p:nvPr/>
        </p:nvSpPr>
        <p:spPr>
          <a:xfrm>
            <a:off x="7963204" y="235000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19" name="Event 3"/>
          <p:cNvSpPr txBox="1"/>
          <p:nvPr/>
        </p:nvSpPr>
        <p:spPr>
          <a:xfrm>
            <a:off x="7944916" y="2807208"/>
            <a:ext cx="3423818" cy="9601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Compensation plan for the 5 ha area revoked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57</a:t>
            </a:r>
            <a:r>
              <a:rPr sz="2000" b="0" i="0">
                <a:solidFill>
                  <a:srgbClr val="2E4257"/>
                </a:solidFill>
                <a:latin typeface="Be Vietnam Pro" panose="020F0502020204030204" pitchFamily="34"/>
              </a:rPr>
              <a:t>, paras. 37, 40, 41</a:t>
            </a:r>
            <a:r>
              <a:rPr sz="2000" b="0" i="0">
                <a:solidFill>
                  <a:srgbClr val="2E4257"/>
                </a:solidFill>
                <a:latin typeface="Be Vietnam Pro" panose="020F0502020204030204" pitchFamily="34"/>
              </a:rPr>
              <a:t>]</a:t>
            </a:r>
          </a:p>
        </p:txBody>
      </p:sp>
      <p:sp>
        <p:nvSpPr>
          <p:cNvPr id="20" name="Axis 2"/>
          <p:cNvSpPr/>
          <p:nvPr/>
        </p:nvSpPr>
        <p:spPr>
          <a:xfrm>
            <a:off x="548640" y="4913376"/>
            <a:ext cx="11094415" cy="27432"/>
          </a:xfrm>
          <a:prstGeom prst="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1" name="Date 4"/>
          <p:cNvSpPr txBox="1"/>
          <p:nvPr/>
        </p:nvSpPr>
        <p:spPr>
          <a:xfrm>
            <a:off x="548640" y="4300728"/>
            <a:ext cx="3423818"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5 February 2024</a:t>
            </a:r>
          </a:p>
        </p:txBody>
      </p:sp>
      <p:sp>
        <p:nvSpPr>
          <p:cNvPr id="22" name="!!tick4"/>
          <p:cNvSpPr/>
          <p:nvPr/>
        </p:nvSpPr>
        <p:spPr>
          <a:xfrm>
            <a:off x="566928" y="480364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3" name="Event 4"/>
          <p:cNvSpPr txBox="1"/>
          <p:nvPr/>
        </p:nvSpPr>
        <p:spPr>
          <a:xfrm>
            <a:off x="548640" y="5260848"/>
            <a:ext cx="3423818" cy="6553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Board approves the investigation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58</a:t>
            </a:r>
            <a:r>
              <a:rPr sz="2000" b="0" i="0">
                <a:solidFill>
                  <a:srgbClr val="2E4257"/>
                </a:solidFill>
                <a:latin typeface="Be Vietnam Pro" panose="020F0502020204030204" pitchFamily="34"/>
              </a:rPr>
              <a:t>]</a:t>
            </a:r>
          </a:p>
        </p:txBody>
      </p:sp>
      <p:sp>
        <p:nvSpPr>
          <p:cNvPr id="24" name="Date 5"/>
          <p:cNvSpPr txBox="1"/>
          <p:nvPr/>
        </p:nvSpPr>
        <p:spPr>
          <a:xfrm>
            <a:off x="4246778" y="4300728"/>
            <a:ext cx="3423818"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2 March 2025</a:t>
            </a:r>
          </a:p>
        </p:txBody>
      </p:sp>
      <p:sp>
        <p:nvSpPr>
          <p:cNvPr id="25" name="!!tick5"/>
          <p:cNvSpPr/>
          <p:nvPr/>
        </p:nvSpPr>
        <p:spPr>
          <a:xfrm>
            <a:off x="4265066" y="480364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6" name="Event 5"/>
          <p:cNvSpPr txBox="1"/>
          <p:nvPr/>
        </p:nvSpPr>
        <p:spPr>
          <a:xfrm>
            <a:off x="4246778" y="5260848"/>
            <a:ext cx="3423818" cy="6553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Confidential memorandum signed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58</a:t>
            </a:r>
            <a:r>
              <a:rPr sz="2000" b="0" i="0">
                <a:solidFill>
                  <a:srgbClr val="2E4257"/>
                </a:solidFill>
                <a:latin typeface="Be Vietnam Pro" panose="020F0502020204030204" pitchFamily="34"/>
              </a:rPr>
              <a:t>]</a:t>
            </a:r>
          </a:p>
        </p:txBody>
      </p:sp>
      <p:sp>
        <p:nvSpPr>
          <p:cNvPr id="27" name="Date 6"/>
          <p:cNvSpPr txBox="1"/>
          <p:nvPr/>
        </p:nvSpPr>
        <p:spPr>
          <a:xfrm>
            <a:off x="7944916" y="4300728"/>
            <a:ext cx="3423818" cy="548640"/>
          </a:xfrm>
          <a:prstGeom prst="rect">
            <a:avLst/>
          </a:prstGeom>
          <a:noFill/>
        </p:spPr>
        <p:txBody>
          <a:bodyPr wrap="square" lIns="0" rIns="0" tIns="18288" bIns="18288" anchor="t">
            <a:noAutofit/>
          </a:bodyPr>
          <a:lstStyle/>
          <a:p>
            <a:pPr algn="l">
              <a:lnSpc>
                <a:spcPts val="3600"/>
              </a:lnSpc>
              <a:spcBef>
                <a:spcPts val="0"/>
              </a:spcBef>
              <a:spcAft>
                <a:spcPts val="0"/>
              </a:spcAft>
            </a:pPr>
            <a:r>
              <a:rPr sz="3000" b="1" i="0">
                <a:solidFill>
                  <a:srgbClr val="2E4257"/>
                </a:solidFill>
                <a:latin typeface="Cormorant Garamond" panose="02020404030301010803" pitchFamily="18"/>
              </a:rPr>
              <a:t>7 August 2025</a:t>
            </a:r>
          </a:p>
        </p:txBody>
      </p:sp>
      <p:sp>
        <p:nvSpPr>
          <p:cNvPr id="28" name="Tick 6"/>
          <p:cNvSpPr/>
          <p:nvPr/>
        </p:nvSpPr>
        <p:spPr>
          <a:xfrm>
            <a:off x="7963204" y="4803648"/>
            <a:ext cx="237744" cy="237744"/>
          </a:xfrm>
          <a:prstGeom prst="ellipse">
            <a:avLst/>
          </a:prstGeom>
          <a:solidFill>
            <a:srgbClr val="B4432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18288" bIns="18288">
            <a:noAutofit/>
          </a:bodyPr>
          <a:lstStyle/>
          <a:p>
            <a:pPr algn="ctr"/>
          </a:p>
        </p:txBody>
      </p:sp>
      <p:sp>
        <p:nvSpPr>
          <p:cNvPr id="29" name="Event 6"/>
          <p:cNvSpPr txBox="1"/>
          <p:nvPr/>
        </p:nvSpPr>
        <p:spPr>
          <a:xfrm>
            <a:off x="7944916" y="5260848"/>
            <a:ext cx="3423818" cy="960120"/>
          </a:xfrm>
          <a:prstGeom prst="rect">
            <a:avLst/>
          </a:prstGeom>
          <a:noFill/>
        </p:spPr>
        <p:txBody>
          <a:bodyPr wrap="square" lIns="0" rIns="0" tIns="18288" bIns="18288" anchor="t">
            <a:noAutofit/>
          </a:bodyPr>
          <a:lstStyle/>
          <a:p>
            <a:pPr algn="l">
              <a:lnSpc>
                <a:spcPts val="2400"/>
              </a:lnSpc>
              <a:spcBef>
                <a:spcPts val="0"/>
              </a:spcBef>
              <a:spcAft>
                <a:spcPts val="0"/>
              </a:spcAft>
            </a:pPr>
            <a:r>
              <a:rPr sz="2000" b="0" i="0">
                <a:solidFill>
                  <a:srgbClr val="2E4257"/>
                </a:solidFill>
                <a:latin typeface="Be Vietnam Pro" panose="020F0502020204030204" pitchFamily="34"/>
              </a:rPr>
              <a:t>Dispute resolution ends without agreement; case back to the Panel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58</a:t>
            </a:r>
            <a:r>
              <a:rPr sz="2000" b="0" i="0">
                <a:solidFill>
                  <a:srgbClr val="2E4257"/>
                </a:solidFill>
                <a:latin typeface="Be Vietnam Pro" panose="020F0502020204030204" pitchFamily="34"/>
              </a:rPr>
              <a:t>]</a:t>
            </a:r>
          </a:p>
        </p:txBody>
      </p:sp>
      <p:sp>
        <p:nvSpPr>
          <p:cNvPr id="30"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53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03408" y="30428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6551" y="641099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45871" y="443486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Three direct causes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CCSEP  ·  CASE STUDY 2 · CCSEP</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3.3.4 · p. 59</a:t>
            </a:r>
          </a:p>
        </p:txBody>
      </p:sp>
      <p:sp>
        <p:nvSpPr>
          <p:cNvPr id="10" name="!!lead"/>
          <p:cNvSpPr txBox="1"/>
          <p:nvPr/>
        </p:nvSpPr>
        <p:spPr>
          <a:xfrm>
            <a:off x="548640" y="1572768"/>
            <a:ext cx="11094415" cy="83820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Resettlement was a precondition for the drainage infrastructure, not an auxiliary component </a:t>
            </a:r>
            <a:r>
              <a:rPr sz="2600" b="0" i="1">
                <a:solidFill>
                  <a:srgbClr val="2E4257"/>
                </a:solidFill>
                <a:latin typeface="Cormorant Garamond" panose="02020404030301010803" pitchFamily="18"/>
              </a:rPr>
              <a:t>[</a:t>
            </a:r>
            <a:r>
              <a:rPr sz="2600" b="0" i="1" u="sng">
                <a:solidFill>
                  <a:srgbClr val="A33224"/>
                </a:solidFill>
                <a:latin typeface="Cormorant Garamond" panose="02020404030301010803" pitchFamily="18"/>
                <a:hlinkClick r:id="rId6" action="ppaction://hlinksldjump"/>
              </a:rPr>
              <a:t>43</a:t>
            </a:r>
            <a:r>
              <a:rPr sz="2600" b="0" i="1">
                <a:solidFill>
                  <a:srgbClr val="2E4257"/>
                </a:solidFill>
                <a:latin typeface="Cormorant Garamond" panose="02020404030301010803" pitchFamily="18"/>
              </a:rPr>
              <a:t>]</a:t>
            </a:r>
            <a:r>
              <a:rPr sz="2600" b="0" i="1">
                <a:solidFill>
                  <a:srgbClr val="2E4257"/>
                </a:solidFill>
                <a:latin typeface="Cormorant Garamond" panose="02020404030301010803" pitchFamily="18"/>
              </a:rPr>
              <a:t>.</a:t>
            </a:r>
          </a:p>
        </p:txBody>
      </p:sp>
      <p:sp>
        <p:nvSpPr>
          <p:cNvPr id="11" name="!!card1"/>
          <p:cNvSpPr/>
          <p:nvPr/>
        </p:nvSpPr>
        <p:spPr>
          <a:xfrm>
            <a:off x="548640" y="254812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Land prices</a:t>
            </a:r>
          </a:p>
          <a:p>
            <a:pPr algn="l">
              <a:lnSpc>
                <a:spcPts val="2400"/>
              </a:lnSpc>
              <a:spcBef>
                <a:spcPts val="0"/>
              </a:spcBef>
              <a:spcAft>
                <a:spcPts val="0"/>
              </a:spcAft>
            </a:pPr>
            <a:r>
              <a:rPr sz="2000" b="0" i="0">
                <a:solidFill>
                  <a:srgbClr val="2E4257"/>
                </a:solidFill>
                <a:latin typeface="Be Vietnam Pro" panose="020F0502020204030204" pitchFamily="34"/>
              </a:rPr>
              <a:t>Disagreements led one-third of approved plans to be rejected</a:t>
            </a:r>
          </a:p>
        </p:txBody>
      </p:sp>
      <p:sp>
        <p:nvSpPr>
          <p:cNvPr id="12" name="!!card2"/>
          <p:cNvSpPr/>
          <p:nvPr/>
        </p:nvSpPr>
        <p:spPr>
          <a:xfrm>
            <a:off x="4338218" y="254812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Restrictions since 2016</a:t>
            </a:r>
          </a:p>
          <a:p>
            <a:pPr algn="l">
              <a:lnSpc>
                <a:spcPts val="2400"/>
              </a:lnSpc>
              <a:spcBef>
                <a:spcPts val="0"/>
              </a:spcBef>
              <a:spcAft>
                <a:spcPts val="0"/>
              </a:spcAft>
            </a:pPr>
            <a:r>
              <a:rPr sz="2000" b="0" i="0">
                <a:solidFill>
                  <a:srgbClr val="2E4257"/>
                </a:solidFill>
                <a:latin typeface="Be Vietnam Pro" panose="020F0502020204030204" pitchFamily="34"/>
              </a:rPr>
              <a:t>Land-use limits without completed acquisition prolonged waiting</a:t>
            </a:r>
          </a:p>
        </p:txBody>
      </p:sp>
      <p:sp>
        <p:nvSpPr>
          <p:cNvPr id="13" name="!!card3"/>
          <p:cNvSpPr/>
          <p:nvPr/>
        </p:nvSpPr>
        <p:spPr>
          <a:xfrm>
            <a:off x="8127796" y="2548128"/>
            <a:ext cx="3515258" cy="21000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Weak PMU capacity</a:t>
            </a:r>
          </a:p>
          <a:p>
            <a:pPr algn="l">
              <a:lnSpc>
                <a:spcPts val="2400"/>
              </a:lnSpc>
              <a:spcBef>
                <a:spcPts val="0"/>
              </a:spcBef>
              <a:spcAft>
                <a:spcPts val="0"/>
              </a:spcAft>
            </a:pPr>
            <a:r>
              <a:rPr sz="2000" b="0" i="0">
                <a:solidFill>
                  <a:srgbClr val="2E4257"/>
                </a:solidFill>
                <a:latin typeface="Be Vietnam Pro" panose="020F0502020204030204" pitchFamily="34"/>
              </a:rPr>
              <a:t>Poor coordination delayed compensation and contracts</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66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47907" y="216401"/>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70160" y="6448902"/>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1730" y="286329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Achievements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ACHIEVEMENTS, LIMITATIONS, RECOMMENDATIONS</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3.4.1 · p. 59</a:t>
            </a:r>
          </a:p>
        </p:txBody>
      </p:sp>
      <p:sp>
        <p:nvSpPr>
          <p:cNvPr id="10" name="!!card1"/>
          <p:cNvSpPr/>
          <p:nvPr/>
        </p:nvSpPr>
        <p:spPr>
          <a:xfrm>
            <a:off x="548640"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Financial mobilization</a:t>
            </a:r>
          </a:p>
          <a:p>
            <a:pPr algn="l">
              <a:lnSpc>
                <a:spcPts val="2400"/>
              </a:lnSpc>
              <a:spcBef>
                <a:spcPts val="0"/>
              </a:spcBef>
              <a:spcAft>
                <a:spcPts val="0"/>
              </a:spcAft>
            </a:pPr>
            <a:r>
              <a:rPr sz="2000" b="0" i="0">
                <a:solidFill>
                  <a:srgbClr val="2E4257"/>
                </a:solidFill>
                <a:latin typeface="Be Vietnam Pro" panose="020F0502020204030204" pitchFamily="34"/>
              </a:rPr>
              <a:t>TEP USD 500 million, 26-year maturity, 10-year grace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21</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CCSEP 29 years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33</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lower costs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37</a:t>
            </a:r>
            <a:r>
              <a:rPr sz="2000" b="0" i="0">
                <a:solidFill>
                  <a:srgbClr val="2E4257"/>
                </a:solidFill>
                <a:latin typeface="Be Vietnam Pro" panose="020F0502020204030204" pitchFamily="34"/>
              </a:rPr>
              <a:t>]</a:t>
            </a:r>
          </a:p>
        </p:txBody>
      </p:sp>
      <p:sp>
        <p:nvSpPr>
          <p:cNvPr id="11" name="!!card2"/>
          <p:cNvSpPr/>
          <p:nvPr/>
        </p:nvSpPr>
        <p:spPr>
          <a:xfrm>
            <a:off x="4338218"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Technical standards</a:t>
            </a:r>
          </a:p>
          <a:p>
            <a:pPr algn="l">
              <a:lnSpc>
                <a:spcPts val="2400"/>
              </a:lnSpc>
              <a:spcBef>
                <a:spcPts val="0"/>
              </a:spcBef>
              <a:spcAft>
                <a:spcPts val="0"/>
              </a:spcAft>
            </a:pPr>
            <a:r>
              <a:rPr sz="2000" b="0" i="0">
                <a:solidFill>
                  <a:srgbClr val="2E4257"/>
                </a:solidFill>
                <a:latin typeface="Be Vietnam Pro" panose="020F0502020204030204" pitchFamily="34"/>
              </a:rPr>
              <a:t>Smart grid in five 500-kV, ten 220-kV substations; 4,263 MW; O&amp;M USD 0.87 </a:t>
            </a:r>
            <a:r>
              <a:rPr sz="2000" b="0" i="0">
                <a:solidFill>
                  <a:srgbClr val="2E4257"/>
                </a:solidFill>
                <a:latin typeface="Cormorant Garamond" panose="02020404030301010803" pitchFamily="18"/>
              </a:rPr>
              <a:t>→</a:t>
            </a:r>
            <a:r>
              <a:rPr sz="2000" b="0" i="0">
                <a:solidFill>
                  <a:srgbClr val="2E4257"/>
                </a:solidFill>
                <a:latin typeface="Be Vietnam Pro" panose="020F0502020204030204" pitchFamily="34"/>
              </a:rPr>
              <a:t> 0.67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37</a:t>
            </a:r>
            <a:r>
              <a:rPr sz="2000" b="0" i="0">
                <a:solidFill>
                  <a:srgbClr val="2E4257"/>
                </a:solidFill>
                <a:latin typeface="Be Vietnam Pro" panose="020F0502020204030204" pitchFamily="34"/>
              </a:rPr>
              <a:t>]</a:t>
            </a:r>
          </a:p>
        </p:txBody>
      </p:sp>
      <p:sp>
        <p:nvSpPr>
          <p:cNvPr id="12" name="!!card3"/>
          <p:cNvSpPr/>
          <p:nvPr/>
        </p:nvSpPr>
        <p:spPr>
          <a:xfrm>
            <a:off x="8127796" y="1572768"/>
            <a:ext cx="3515258" cy="27096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Management standards</a:t>
            </a:r>
          </a:p>
          <a:p>
            <a:pPr algn="l">
              <a:lnSpc>
                <a:spcPts val="2400"/>
              </a:lnSpc>
              <a:spcBef>
                <a:spcPts val="0"/>
              </a:spcBef>
              <a:spcAft>
                <a:spcPts val="0"/>
              </a:spcAft>
            </a:pPr>
            <a:r>
              <a:rPr sz="2000" b="0" i="0">
                <a:solidFill>
                  <a:srgbClr val="2E4257"/>
                </a:solidFill>
                <a:latin typeface="Be Vietnam Pro" panose="020F0502020204030204" pitchFamily="34"/>
              </a:rPr>
              <a:t>Procurement and safeguard skills; NPT asset management system; CCSEP cost recovery 98%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9" action="ppaction://hlinksldjump"/>
              </a:rPr>
              <a:t>43</a:t>
            </a:r>
            <a:r>
              <a:rPr sz="2000" b="0" i="0">
                <a:solidFill>
                  <a:srgbClr val="2E4257"/>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80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45726" y="239154"/>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06667" y="6482744"/>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3660" y="2995447"/>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Limitations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ACHIEVEMENTS, LIMITATIONS, RECOMMENDATIONS</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3.4.2 · p. 60</a:t>
            </a:r>
          </a:p>
        </p:txBody>
      </p:sp>
      <p:sp>
        <p:nvSpPr>
          <p:cNvPr id="10" name="!!card1"/>
          <p:cNvSpPr/>
          <p:nvPr/>
        </p:nvSpPr>
        <p:spPr>
          <a:xfrm>
            <a:off x="548640" y="157276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Slow disbursement</a:t>
            </a:r>
          </a:p>
          <a:p>
            <a:pPr algn="l">
              <a:lnSpc>
                <a:spcPts val="2400"/>
              </a:lnSpc>
              <a:spcBef>
                <a:spcPts val="0"/>
              </a:spcBef>
              <a:spcAft>
                <a:spcPts val="0"/>
              </a:spcAft>
            </a:pPr>
            <a:r>
              <a:rPr sz="2000" b="0" i="0">
                <a:solidFill>
                  <a:srgbClr val="2E4257"/>
                </a:solidFill>
                <a:latin typeface="Be Vietnam Pro" panose="020F0502020204030204" pitchFamily="34"/>
              </a:rPr>
              <a:t>TEP 63.7%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41</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CCSEP nothing in 2017 and 2018, about 36% by late 2022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43</a:t>
            </a:r>
            <a:r>
              <a:rPr sz="2000" b="0" i="0">
                <a:solidFill>
                  <a:srgbClr val="2E4257"/>
                </a:solidFill>
                <a:latin typeface="Be Vietnam Pro" panose="020F0502020204030204" pitchFamily="34"/>
              </a:rPr>
              <a:t>]</a:t>
            </a:r>
          </a:p>
        </p:txBody>
      </p:sp>
      <p:sp>
        <p:nvSpPr>
          <p:cNvPr id="11" name="!!card2"/>
          <p:cNvSpPr/>
          <p:nvPr/>
        </p:nvSpPr>
        <p:spPr>
          <a:xfrm>
            <a:off x="6233007" y="157276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Procedural complexity</a:t>
            </a:r>
          </a:p>
          <a:p>
            <a:pPr algn="l">
              <a:lnSpc>
                <a:spcPts val="2400"/>
              </a:lnSpc>
              <a:spcBef>
                <a:spcPts val="0"/>
              </a:spcBef>
              <a:spcAft>
                <a:spcPts val="0"/>
              </a:spcAft>
            </a:pPr>
            <a:r>
              <a:rPr sz="2000" b="0" i="0">
                <a:solidFill>
                  <a:srgbClr val="2E4257"/>
                </a:solidFill>
                <a:latin typeface="Be Vietnam Pro" panose="020F0502020204030204" pitchFamily="34"/>
              </a:rPr>
              <a:t>TEP smart grid about four years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37</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CCSEP effective five and a half months late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9" action="ppaction://hlinksldjump"/>
              </a:rPr>
              <a:t>33</a:t>
            </a:r>
            <a:r>
              <a:rPr sz="2000" b="0" i="0">
                <a:solidFill>
                  <a:srgbClr val="2E4257"/>
                </a:solidFill>
                <a:latin typeface="Be Vietnam Pro" panose="020F0502020204030204" pitchFamily="34"/>
              </a:rPr>
              <a:t>]</a:t>
            </a:r>
          </a:p>
        </p:txBody>
      </p:sp>
      <p:sp>
        <p:nvSpPr>
          <p:cNvPr id="12" name="!!card3"/>
          <p:cNvSpPr/>
          <p:nvPr/>
        </p:nvSpPr>
        <p:spPr>
          <a:xfrm>
            <a:off x="548640" y="3611880"/>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Counterpart funding</a:t>
            </a:r>
          </a:p>
          <a:p>
            <a:pPr algn="l">
              <a:lnSpc>
                <a:spcPts val="2400"/>
              </a:lnSpc>
              <a:spcBef>
                <a:spcPts val="0"/>
              </a:spcBef>
              <a:spcAft>
                <a:spcPts val="0"/>
              </a:spcAft>
            </a:pPr>
            <a:r>
              <a:rPr sz="2000" b="0" i="0">
                <a:solidFill>
                  <a:srgbClr val="2E4257"/>
                </a:solidFill>
                <a:latin typeface="Be Vietnam Pro" panose="020F0502020204030204" pitchFamily="34"/>
              </a:rPr>
              <a:t>CCSEP allocations from July 2019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43</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TEP: USD 5.50 million of USD 5.74 million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41</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Binh Dinh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9" action="ppaction://hlinksldjump"/>
              </a:rPr>
              <a:t>33</a:t>
            </a:r>
            <a:r>
              <a:rPr sz="2000" b="0" i="0">
                <a:solidFill>
                  <a:srgbClr val="2E4257"/>
                </a:solidFill>
                <a:latin typeface="Be Vietnam Pro" panose="020F0502020204030204" pitchFamily="34"/>
              </a:rPr>
              <a:t>]</a:t>
            </a:r>
          </a:p>
        </p:txBody>
      </p:sp>
      <p:sp>
        <p:nvSpPr>
          <p:cNvPr id="13" name="!!card4"/>
          <p:cNvSpPr/>
          <p:nvPr/>
        </p:nvSpPr>
        <p:spPr>
          <a:xfrm>
            <a:off x="6233007" y="3611880"/>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Safeguard gaps</a:t>
            </a:r>
          </a:p>
          <a:p>
            <a:pPr algn="l">
              <a:lnSpc>
                <a:spcPts val="2400"/>
              </a:lnSpc>
              <a:spcBef>
                <a:spcPts val="0"/>
              </a:spcBef>
              <a:spcAft>
                <a:spcPts val="0"/>
              </a:spcAft>
            </a:pPr>
            <a:r>
              <a:rPr sz="2000" b="0" i="0">
                <a:solidFill>
                  <a:srgbClr val="2E4257"/>
                </a:solidFill>
                <a:latin typeface="Be Vietnam Pro" panose="020F0502020204030204" pitchFamily="34"/>
              </a:rPr>
              <a:t>Nha Trang 160 of 585 plans, complaint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43</a:t>
            </a:r>
            <a:r>
              <a:rPr sz="2000" b="0" i="0">
                <a:solidFill>
                  <a:srgbClr val="2E4257"/>
                </a:solidFill>
                <a:latin typeface="Be Vietnam Pro" panose="020F0502020204030204" pitchFamily="34"/>
              </a:rPr>
              <a:t>; </a:t>
            </a:r>
            <a:r>
              <a:rPr sz="2000" b="0" i="0" u="sng">
                <a:solidFill>
                  <a:srgbClr val="A33224"/>
                </a:solidFill>
                <a:latin typeface="Be Vietnam Pro" panose="020F0502020204030204" pitchFamily="34"/>
                <a:hlinkClick r:id="rId10" action="ppaction://hlinksldjump"/>
              </a:rPr>
              <a:t>57</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TEP about 2,500 households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8" action="ppaction://hlinksldjump"/>
              </a:rPr>
              <a:t>37</a:t>
            </a:r>
            <a:r>
              <a:rPr sz="2000" b="0" i="0">
                <a:solidFill>
                  <a:srgbClr val="2E4257"/>
                </a:solidFill>
                <a:latin typeface="Be Vietnam Pro" panose="020F0502020204030204" pitchFamily="34"/>
              </a:rPr>
              <a:t>]</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4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67476" y="410131"/>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92604" y="6456977"/>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79932" y="412267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Recommendations (1/2)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ACHIEVEMENTS, LIMITATIONS, RECOMMENDATIONS</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3.4.3 · p. 60–61</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As an upper-middle-income economy, future borrowing will rely on IBRD terms </a:t>
            </a:r>
            <a:r>
              <a:rPr sz="2600" b="0" i="1">
                <a:solidFill>
                  <a:srgbClr val="2E4257"/>
                </a:solidFill>
                <a:latin typeface="Cormorant Garamond" panose="02020404030301010803" pitchFamily="18"/>
              </a:rPr>
              <a:t>[</a:t>
            </a:r>
            <a:r>
              <a:rPr sz="2600" b="0" i="1" u="sng">
                <a:solidFill>
                  <a:srgbClr val="A33224"/>
                </a:solidFill>
                <a:latin typeface="Cormorant Garamond" panose="02020404030301010803" pitchFamily="18"/>
                <a:hlinkClick r:id="rId6" action="ppaction://hlinksldjump"/>
              </a:rPr>
              <a:t>4</a:t>
            </a:r>
            <a:r>
              <a:rPr sz="2600" b="0" i="1">
                <a:solidFill>
                  <a:srgbClr val="2E4257"/>
                </a:solidFill>
                <a:latin typeface="Cormorant Garamond" panose="02020404030301010803" pitchFamily="18"/>
              </a:rPr>
              <a:t>]</a:t>
            </a:r>
            <a:r>
              <a:rPr sz="2600" b="0" i="1">
                <a:solidFill>
                  <a:srgbClr val="2E4257"/>
                </a:solidFill>
                <a:latin typeface="Cormorant Garamond" panose="02020404030301010803" pitchFamily="18"/>
              </a:rPr>
              <a:t>.</a:t>
            </a:r>
          </a:p>
        </p:txBody>
      </p:sp>
      <p:sp>
        <p:nvSpPr>
          <p:cNvPr id="11" name="!!card1"/>
          <p:cNvSpPr/>
          <p:nvPr/>
        </p:nvSpPr>
        <p:spPr>
          <a:xfrm>
            <a:off x="548640" y="2151888"/>
            <a:ext cx="3515258" cy="24048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1 · Prepare fully</a:t>
            </a:r>
          </a:p>
          <a:p>
            <a:pPr algn="l">
              <a:lnSpc>
                <a:spcPts val="2400"/>
              </a:lnSpc>
              <a:spcBef>
                <a:spcPts val="0"/>
              </a:spcBef>
              <a:spcAft>
                <a:spcPts val="0"/>
              </a:spcAft>
            </a:pPr>
            <a:r>
              <a:rPr sz="2000" b="0" i="0">
                <a:solidFill>
                  <a:srgbClr val="2E4257"/>
                </a:solidFill>
                <a:latin typeface="Be Vietnam Pro" panose="020F0502020204030204" pitchFamily="34"/>
              </a:rPr>
              <a:t>Settle technology, approvals, land before signing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37</a:t>
            </a:r>
            <a:r>
              <a:rPr sz="2000" b="0" i="0">
                <a:solidFill>
                  <a:srgbClr val="2E4257"/>
                </a:solidFill>
                <a:latin typeface="Be Vietnam Pro" panose="020F0502020204030204" pitchFamily="34"/>
              </a:rPr>
              <a:t>]</a:t>
            </a:r>
            <a:r>
              <a:rPr sz="2000" b="0" i="0">
                <a:solidFill>
                  <a:srgbClr val="2E4257"/>
                </a:solidFill>
                <a:latin typeface="Be Vietnam Pro" panose="020F0502020204030204" pitchFamily="34"/>
              </a:rPr>
              <a:t>; use a Project Preparation Advance</a:t>
            </a:r>
          </a:p>
        </p:txBody>
      </p:sp>
      <p:sp>
        <p:nvSpPr>
          <p:cNvPr id="12" name="!!card2"/>
          <p:cNvSpPr/>
          <p:nvPr/>
        </p:nvSpPr>
        <p:spPr>
          <a:xfrm>
            <a:off x="4338218" y="2151888"/>
            <a:ext cx="3515258" cy="24048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2 · Secure counterpart funds</a:t>
            </a:r>
          </a:p>
          <a:p>
            <a:pPr algn="l">
              <a:lnSpc>
                <a:spcPts val="2400"/>
              </a:lnSpc>
              <a:spcBef>
                <a:spcPts val="0"/>
              </a:spcBef>
              <a:spcAft>
                <a:spcPts val="0"/>
              </a:spcAft>
            </a:pPr>
            <a:r>
              <a:rPr sz="2000" b="0" i="0">
                <a:solidFill>
                  <a:srgbClr val="2E4257"/>
                </a:solidFill>
                <a:latin typeface="Be Vietnam Pro" panose="020F0502020204030204" pitchFamily="34"/>
              </a:rPr>
              <a:t>In the medium-term investment plan at approval; check provincial debt capacity</a:t>
            </a:r>
          </a:p>
        </p:txBody>
      </p:sp>
      <p:sp>
        <p:nvSpPr>
          <p:cNvPr id="13" name="!!card3"/>
          <p:cNvSpPr/>
          <p:nvPr/>
        </p:nvSpPr>
        <p:spPr>
          <a:xfrm>
            <a:off x="8127796" y="2151888"/>
            <a:ext cx="3515258" cy="24048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3 · Align compensation</a:t>
            </a:r>
          </a:p>
          <a:p>
            <a:pPr algn="l">
              <a:lnSpc>
                <a:spcPts val="2400"/>
              </a:lnSpc>
              <a:spcBef>
                <a:spcPts val="0"/>
              </a:spcBef>
              <a:spcAft>
                <a:spcPts val="0"/>
              </a:spcAft>
            </a:pPr>
            <a:r>
              <a:rPr sz="2000" b="0" i="0">
                <a:solidFill>
                  <a:srgbClr val="2E4257"/>
                </a:solidFill>
                <a:latin typeface="Be Vietnam Pro" panose="020F0502020204030204" pitchFamily="34"/>
              </a:rPr>
              <a:t>Meet ESS5 from preparation; independent valuation; early consultation</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208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792423" y="456567"/>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30464" y="6474821"/>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1931" y="348531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Recommendations (2/2)</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CASES  ·  ACHIEVEMENTS, LIMITATIONS, RECOMMENDATIONS</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3.4.3 · p. 61</a:t>
            </a:r>
          </a:p>
        </p:txBody>
      </p:sp>
      <p:sp>
        <p:nvSpPr>
          <p:cNvPr id="10" name="!!card1"/>
          <p:cNvSpPr/>
          <p:nvPr/>
        </p:nvSpPr>
        <p:spPr>
          <a:xfrm>
            <a:off x="548640" y="1572768"/>
            <a:ext cx="3515258" cy="24048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4 · Stabilize PMUs</a:t>
            </a:r>
          </a:p>
          <a:p>
            <a:pPr algn="l">
              <a:lnSpc>
                <a:spcPts val="2400"/>
              </a:lnSpc>
              <a:spcBef>
                <a:spcPts val="0"/>
              </a:spcBef>
              <a:spcAft>
                <a:spcPts val="0"/>
              </a:spcAft>
            </a:pPr>
            <a:r>
              <a:rPr sz="2000" b="0" i="0">
                <a:solidFill>
                  <a:srgbClr val="2E4257"/>
                </a:solidFill>
                <a:latin typeface="Be Vietnam Pro" panose="020F0502020204030204" pitchFamily="34"/>
              </a:rPr>
              <a:t>Professional PMUs across projects; Open Learning Campus training</a:t>
            </a:r>
          </a:p>
        </p:txBody>
      </p:sp>
      <p:sp>
        <p:nvSpPr>
          <p:cNvPr id="11" name="!!card2"/>
          <p:cNvSpPr/>
          <p:nvPr/>
        </p:nvSpPr>
        <p:spPr>
          <a:xfrm>
            <a:off x="4338218" y="1572768"/>
            <a:ext cx="3515258" cy="24048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5 · Streamline procedures</a:t>
            </a:r>
          </a:p>
          <a:p>
            <a:pPr algn="l">
              <a:lnSpc>
                <a:spcPts val="2400"/>
              </a:lnSpc>
              <a:spcBef>
                <a:spcPts val="0"/>
              </a:spcBef>
              <a:spcAft>
                <a:spcPts val="0"/>
              </a:spcAft>
            </a:pPr>
            <a:r>
              <a:rPr sz="2000" b="0" i="0">
                <a:solidFill>
                  <a:srgbClr val="2E4257"/>
                </a:solidFill>
                <a:latin typeface="Be Vietnam Pro" panose="020F0502020204030204" pitchFamily="34"/>
              </a:rPr>
              <a:t>Decree No. 242/2025/ND-CP steps matched to the Bank cycle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6" action="ppaction://hlinksldjump"/>
              </a:rPr>
              <a:t>53</a:t>
            </a:r>
            <a:r>
              <a:rPr sz="2000" b="0" i="0">
                <a:solidFill>
                  <a:srgbClr val="2E4257"/>
                </a:solidFill>
                <a:latin typeface="Be Vietnam Pro" panose="020F0502020204030204" pitchFamily="34"/>
              </a:rPr>
              <a:t>]</a:t>
            </a:r>
          </a:p>
        </p:txBody>
      </p:sp>
      <p:sp>
        <p:nvSpPr>
          <p:cNvPr id="12" name="!!card3"/>
          <p:cNvSpPr/>
          <p:nvPr/>
        </p:nvSpPr>
        <p:spPr>
          <a:xfrm>
            <a:off x="8127796" y="1572768"/>
            <a:ext cx="3515258" cy="240487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6 · Choose instruments</a:t>
            </a:r>
          </a:p>
          <a:p>
            <a:pPr algn="l">
              <a:lnSpc>
                <a:spcPts val="2400"/>
              </a:lnSpc>
              <a:spcBef>
                <a:spcPts val="0"/>
              </a:spcBef>
              <a:spcAft>
                <a:spcPts val="0"/>
              </a:spcAft>
            </a:pPr>
            <a:r>
              <a:rPr sz="2000" b="0" i="0">
                <a:solidFill>
                  <a:srgbClr val="2E4257"/>
                </a:solidFill>
                <a:latin typeface="Be Vietnam Pro" panose="020F0502020204030204" pitchFamily="34"/>
              </a:rPr>
              <a:t>PforR or DPF for measurable reforms; RAS for advice </a:t>
            </a:r>
            <a:r>
              <a:rPr sz="2000" b="0" i="0">
                <a:solidFill>
                  <a:srgbClr val="2E4257"/>
                </a:solidFill>
                <a:latin typeface="Be Vietnam Pro" panose="020F0502020204030204" pitchFamily="34"/>
              </a:rPr>
              <a:t>[</a:t>
            </a:r>
            <a:r>
              <a:rPr sz="2000" b="0" i="0" u="sng">
                <a:solidFill>
                  <a:srgbClr val="A33224"/>
                </a:solidFill>
                <a:latin typeface="Be Vietnam Pro" panose="020F0502020204030204" pitchFamily="34"/>
                <a:hlinkClick r:id="rId7" action="ppaction://hlinksldjump"/>
              </a:rPr>
              <a:t>36</a:t>
            </a:r>
            <a:r>
              <a:rPr sz="2000" b="0" i="0">
                <a:solidFill>
                  <a:srgbClr val="2E4257"/>
                </a:solidFill>
                <a:latin typeface="Be Vietnam Pro" panose="020F0502020204030204" pitchFamily="34"/>
              </a:rPr>
              <a: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109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60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541619" y="597198"/>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511817" y="6043353"/>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240569" y="1364709"/>
            <a:ext cx="256032" cy="256032"/>
          </a:xfrm>
          <a:prstGeom prst="rect">
            <a:avLst/>
          </a:prstGeom>
        </p:spPr>
      </p:pic>
      <p:sp>
        <p:nvSpPr>
          <p:cNvPr id="2" name="!!title"/>
          <p:cNvSpPr>
            <a:spLocks noGrp="1"/>
          </p:cNvSpPr>
          <p:nvPr>
            <p:ph type="title"/>
          </p:nvPr>
        </p:nvSpPr>
        <p:spPr>
          <a:xfrm>
            <a:off x="548640" y="4978399"/>
            <a:ext cx="7680960" cy="599440"/>
          </a:xfrm>
        </p:spPr>
        <p:txBody>
          <a:bodyPr wrap="square" lIns="0" rIns="0" tIns="18288" bIns="18288" anchor="t">
            <a:noAutofit/>
          </a:bodyPr>
          <a:lstStyle/>
          <a:p>
            <a:pPr algn="l">
              <a:lnSpc>
                <a:spcPts val="4000"/>
              </a:lnSpc>
              <a:spcBef>
                <a:spcPts val="0"/>
              </a:spcBef>
              <a:spcAft>
                <a:spcPts val="0"/>
              </a:spcAft>
            </a:pPr>
            <a:r>
              <a:rPr sz="4000" b="0" i="0">
                <a:solidFill>
                  <a:srgbClr val="F4ECD8"/>
                </a:solidFill>
                <a:latin typeface="Cormorant Garamond" panose="02020404030301010803" pitchFamily="18"/>
              </a:rPr>
              <a:t>Conclusion</a:t>
            </a:r>
          </a:p>
        </p:txBody>
      </p:sp>
      <p:sp>
        <p:nvSpPr>
          <p:cNvPr id="3" name="!!sub"/>
          <p:cNvSpPr>
            <a:spLocks noGrp="1"/>
          </p:cNvSpPr>
          <p:nvPr>
            <p:ph type="body" idx="1"/>
          </p:nvPr>
        </p:nvSpPr>
        <p:spPr>
          <a:xfrm>
            <a:off x="548640" y="5669280"/>
            <a:ext cx="7680960" cy="457200"/>
          </a:xfrm>
        </p:spPr>
        <p:txBody>
          <a:bodyPr wrap="square" lIns="0" rIns="0" tIns="18288" bIns="18288" anchor="t">
            <a:noAutofit/>
          </a:bodyPr>
          <a:lstStyle/>
          <a:p>
            <a:pPr algn="l">
              <a:lnSpc>
                <a:spcPts val="2879"/>
              </a:lnSpc>
              <a:spcBef>
                <a:spcPts val="0"/>
              </a:spcBef>
              <a:spcAft>
                <a:spcPts val="0"/>
              </a:spcAft>
              <a:buNone/>
            </a:pPr>
            <a:r>
              <a:rPr sz="2600" b="0" i="1">
                <a:solidFill>
                  <a:srgbClr val="F2E6CC"/>
                </a:solidFill>
                <a:latin typeface="Cormorant Garamond" panose="02020404030301010803" pitchFamily="18"/>
              </a:rPr>
              <a:t>Findings, significance, limitations, further research</a:t>
            </a:r>
          </a:p>
        </p:txBody>
      </p:sp>
      <p:sp>
        <p:nvSpPr>
          <p:cNvPr id="9" name="!!section"/>
          <p:cNvSpPr txBox="1"/>
          <p:nvPr/>
        </p:nvSpPr>
        <p:spPr>
          <a:xfrm>
            <a:off x="457200" y="502920"/>
            <a:ext cx="11277295" cy="1626870"/>
          </a:xfrm>
          <a:prstGeom prst="rect">
            <a:avLst/>
          </a:prstGeom>
          <a:noFill/>
        </p:spPr>
        <p:txBody>
          <a:bodyPr wrap="square" lIns="0" rIns="0" tIns="18288" bIns="18288" anchor="t">
            <a:noAutofit/>
          </a:bodyPr>
          <a:lstStyle/>
          <a:p>
            <a:pPr algn="l">
              <a:lnSpc>
                <a:spcPts val="11590"/>
              </a:lnSpc>
              <a:spcBef>
                <a:spcPts val="0"/>
              </a:spcBef>
              <a:spcAft>
                <a:spcPts val="0"/>
              </a:spcAft>
            </a:pPr>
            <a:r>
              <a:rPr sz="12200" b="0" i="0" spc="600">
                <a:solidFill>
                  <a:srgbClr val="F4ECD8"/>
                </a:solidFill>
                <a:latin typeface="Cormorant Garamond" panose="02020404030301010803" pitchFamily="18"/>
              </a:rPr>
              <a:t>CONCLUSION</a:t>
            </a:r>
          </a:p>
        </p:txBody>
      </p:sp>
      <p:pic>
        <p:nvPicPr>
          <p:cNvPr id="10" name="!!art" descr="Original engraving-style illustration"/>
          <p:cNvPicPr>
            <a:picLocks noChangeAspect="1"/>
          </p:cNvPicPr>
          <p:nvPr/>
        </p:nvPicPr>
        <p:blipFill>
          <a:blip r:embed="rId3"/>
          <a:stretch>
            <a:fillRect/>
          </a:stretch>
        </p:blipFill>
        <p:spPr>
          <a:xfrm>
            <a:off x="8503920" y="3017520"/>
            <a:ext cx="3291840" cy="3291840"/>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110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9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436796" y="170991"/>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0702" y="6361623"/>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16022" y="3428335"/>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Three pillars, one package</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CONCLUSION</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Conclusion · 1.1 · p. 62</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AAA-rated market funding lent on long maturities through IPF, DPF and PforR.</a:t>
            </a:r>
          </a:p>
        </p:txBody>
      </p:sp>
      <p:sp>
        <p:nvSpPr>
          <p:cNvPr id="11" name="!!card1"/>
          <p:cNvSpPr/>
          <p:nvPr/>
        </p:nvSpPr>
        <p:spPr>
          <a:xfrm>
            <a:off x="548640" y="2151888"/>
            <a:ext cx="3515258"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Finance</a:t>
            </a:r>
          </a:p>
          <a:p>
            <a:pPr algn="l">
              <a:lnSpc>
                <a:spcPts val="2400"/>
              </a:lnSpc>
              <a:spcBef>
                <a:spcPts val="0"/>
              </a:spcBef>
              <a:spcAft>
                <a:spcPts val="0"/>
              </a:spcAft>
            </a:pPr>
            <a:r>
              <a:rPr sz="2000" b="0" i="0">
                <a:solidFill>
                  <a:srgbClr val="2E4257"/>
                </a:solidFill>
                <a:latin typeface="Be Vietnam Pro" panose="020F0502020204030204" pitchFamily="34"/>
              </a:rPr>
              <a:t>Pays for investment through the project cycle and disbursement methods</a:t>
            </a:r>
          </a:p>
        </p:txBody>
      </p:sp>
      <p:sp>
        <p:nvSpPr>
          <p:cNvPr id="12" name="!!card2"/>
          <p:cNvSpPr/>
          <p:nvPr/>
        </p:nvSpPr>
        <p:spPr>
          <a:xfrm>
            <a:off x="4338218" y="2151888"/>
            <a:ext cx="3515258"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Technical support</a:t>
            </a:r>
          </a:p>
          <a:p>
            <a:pPr algn="l">
              <a:lnSpc>
                <a:spcPts val="2400"/>
              </a:lnSpc>
              <a:spcBef>
                <a:spcPts val="0"/>
              </a:spcBef>
              <a:spcAft>
                <a:spcPts val="0"/>
              </a:spcAft>
            </a:pPr>
            <a:r>
              <a:rPr sz="2000" b="0" i="0">
                <a:solidFill>
                  <a:srgbClr val="2E4257"/>
                </a:solidFill>
                <a:latin typeface="Be Vietnam Pro" panose="020F0502020204030204" pitchFamily="34"/>
              </a:rPr>
              <a:t>Improves project design, policy and monitoring</a:t>
            </a:r>
          </a:p>
        </p:txBody>
      </p:sp>
      <p:sp>
        <p:nvSpPr>
          <p:cNvPr id="13" name="!!card3"/>
          <p:cNvSpPr/>
          <p:nvPr/>
        </p:nvSpPr>
        <p:spPr>
          <a:xfrm>
            <a:off x="8127796" y="2151888"/>
            <a:ext cx="3515258"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Training</a:t>
            </a:r>
          </a:p>
          <a:p>
            <a:pPr algn="l">
              <a:lnSpc>
                <a:spcPts val="2400"/>
              </a:lnSpc>
              <a:spcBef>
                <a:spcPts val="0"/>
              </a:spcBef>
              <a:spcAft>
                <a:spcPts val="0"/>
              </a:spcAft>
            </a:pPr>
            <a:r>
              <a:rPr sz="2000" b="0" i="0">
                <a:solidFill>
                  <a:srgbClr val="2E4257"/>
                </a:solidFill>
                <a:latin typeface="Be Vietnam Pro" panose="020F0502020204030204" pitchFamily="34"/>
              </a:rPr>
              <a:t>Strengthens the people and institutions that carry out projects</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33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50079" y="41073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40263" y="6402068"/>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55326" y="457977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What the two cases show</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CONCLUSION</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Conclusion · 1.2 · p. 62</a:t>
            </a:r>
          </a:p>
        </p:txBody>
      </p:sp>
      <p:sp>
        <p:nvSpPr>
          <p:cNvPr id="10" name="!!lead"/>
          <p:cNvSpPr txBox="1"/>
          <p:nvPr/>
        </p:nvSpPr>
        <p:spPr>
          <a:xfrm>
            <a:off x="548640" y="1572768"/>
            <a:ext cx="11094415" cy="441960"/>
          </a:xfrm>
          <a:prstGeom prst="rect">
            <a:avLst/>
          </a:prstGeom>
          <a:noFill/>
        </p:spPr>
        <p:txBody>
          <a:bodyPr wrap="square" lIns="0" rIns="0" tIns="18288" bIns="18288" anchor="t">
            <a:noAutofit/>
          </a:bodyPr>
          <a:lstStyle/>
          <a:p>
            <a:pPr algn="l">
              <a:lnSpc>
                <a:spcPts val="3120"/>
              </a:lnSpc>
              <a:spcBef>
                <a:spcPts val="0"/>
              </a:spcBef>
              <a:spcAft>
                <a:spcPts val="0"/>
              </a:spcAft>
            </a:pPr>
            <a:r>
              <a:rPr sz="2600" b="0" i="1">
                <a:solidFill>
                  <a:srgbClr val="2E4257"/>
                </a:solidFill>
                <a:latin typeface="Cormorant Garamond" panose="02020404030301010803" pitchFamily="18"/>
              </a:rPr>
              <a:t>Binding constraints lay mainly on the domestic side, not in the availability of IBRD money.</a:t>
            </a:r>
          </a:p>
        </p:txBody>
      </p:sp>
      <p:sp>
        <p:nvSpPr>
          <p:cNvPr id="11" name="!!card1"/>
          <p:cNvSpPr/>
          <p:nvPr/>
        </p:nvSpPr>
        <p:spPr>
          <a:xfrm>
            <a:off x="548640" y="215188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TEP</a:t>
            </a:r>
          </a:p>
          <a:p>
            <a:pPr algn="l">
              <a:lnSpc>
                <a:spcPts val="2400"/>
              </a:lnSpc>
              <a:spcBef>
                <a:spcPts val="0"/>
              </a:spcBef>
              <a:spcAft>
                <a:spcPts val="0"/>
              </a:spcAft>
            </a:pPr>
            <a:r>
              <a:rPr sz="2000" b="0" i="0">
                <a:solidFill>
                  <a:srgbClr val="2E4257"/>
                </a:solidFill>
                <a:latin typeface="Be Vietnam Pro" panose="020F0502020204030204" pitchFamily="34"/>
              </a:rPr>
              <a:t>Outputs above targets, lower operating costs, highly satisfactory; but disbursed far less than committed</a:t>
            </a:r>
          </a:p>
        </p:txBody>
      </p:sp>
      <p:sp>
        <p:nvSpPr>
          <p:cNvPr id="12" name="!!card2"/>
          <p:cNvSpPr/>
          <p:nvPr/>
        </p:nvSpPr>
        <p:spPr>
          <a:xfrm>
            <a:off x="6233007" y="2151888"/>
            <a:ext cx="5410047" cy="17647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CCSEP</a:t>
            </a:r>
          </a:p>
          <a:p>
            <a:pPr algn="l">
              <a:lnSpc>
                <a:spcPts val="2400"/>
              </a:lnSpc>
              <a:spcBef>
                <a:spcPts val="0"/>
              </a:spcBef>
              <a:spcAft>
                <a:spcPts val="0"/>
              </a:spcAft>
            </a:pPr>
            <a:r>
              <a:rPr sz="2000" b="0" i="0">
                <a:solidFill>
                  <a:srgbClr val="2E4257"/>
                </a:solidFill>
                <a:latin typeface="Be Vietnam Pro" panose="020F0502020204030204" pitchFamily="34"/>
              </a:rPr>
              <a:t>Late counterpart funds, weak PMUs, resettlement disputes; cancelled funds, formal complaint</a:t>
            </a:r>
          </a:p>
        </p:txBody>
      </p:sp>
      <p:sp>
        <p:nvSpPr>
          <p:cNvPr id="13"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47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36341" y="20895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31159" y="6466846"/>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68184" y="4014873"/>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Significance and limitations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CONCLUSION</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Conclusion · 2 · 3 · p. 62–63</a:t>
            </a:r>
          </a:p>
        </p:txBody>
      </p:sp>
      <p:sp>
        <p:nvSpPr>
          <p:cNvPr id="10" name="!!card1"/>
          <p:cNvSpPr/>
          <p:nvPr/>
        </p:nvSpPr>
        <p:spPr>
          <a:xfrm>
            <a:off x="548640"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Significance</a:t>
            </a:r>
          </a:p>
          <a:p>
            <a:pPr algn="l">
              <a:lnSpc>
                <a:spcPts val="2400"/>
              </a:lnSpc>
              <a:spcBef>
                <a:spcPts val="0"/>
              </a:spcBef>
              <a:spcAft>
                <a:spcPts val="0"/>
              </a:spcAft>
            </a:pPr>
            <a:r>
              <a:rPr sz="2000" b="0" i="0">
                <a:solidFill>
                  <a:srgbClr val="2E4257"/>
                </a:solidFill>
                <a:latin typeface="Be Vietnam Pro" panose="020F0502020204030204" pitchFamily="34"/>
              </a:rPr>
              <a:t>One framework applied to two projects; planned vs actual, IBRD vs IDA and counterpart funds</a:t>
            </a:r>
          </a:p>
        </p:txBody>
      </p:sp>
      <p:sp>
        <p:nvSpPr>
          <p:cNvPr id="11" name="!!card2"/>
          <p:cNvSpPr/>
          <p:nvPr/>
        </p:nvSpPr>
        <p:spPr>
          <a:xfrm>
            <a:off x="6233007" y="1572768"/>
            <a:ext cx="5410047" cy="20695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Limitations</a:t>
            </a:r>
          </a:p>
          <a:p>
            <a:pPr algn="l">
              <a:lnSpc>
                <a:spcPts val="2400"/>
              </a:lnSpc>
              <a:spcBef>
                <a:spcPts val="0"/>
              </a:spcBef>
              <a:spcAft>
                <a:spcPts val="0"/>
              </a:spcAft>
            </a:pPr>
            <a:r>
              <a:rPr sz="2000" b="0" i="0">
                <a:solidFill>
                  <a:srgbClr val="2E4257"/>
                </a:solidFill>
                <a:latin typeface="Be Vietnam Pro" panose="020F0502020204030204" pitchFamily="34"/>
              </a:rPr>
              <a:t>Secondary data; many sources prepared by the World Bank; no CCSEP completion report; two cases; system-wide indicators</a:t>
            </a:r>
          </a:p>
        </p:txBody>
      </p:sp>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61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71879" y="219532"/>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44093" y="6414133"/>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38027" y="3826611"/>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Directions for further research</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CONCLUSION</a:t>
            </a:r>
          </a:p>
        </p:txBody>
      </p:sp>
      <p:sp>
        <p:nvSpPr>
          <p:cNvPr id="9" name="!!ref"/>
          <p:cNvSpPr txBox="1"/>
          <p:nvPr/>
        </p:nvSpPr>
        <p:spPr>
          <a:xfrm>
            <a:off x="548640" y="1207008"/>
            <a:ext cx="8229600" cy="256032"/>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Paper § Conclusion · 4 · p. 63</a:t>
            </a:r>
          </a:p>
        </p:txBody>
      </p:sp>
      <p:sp>
        <p:nvSpPr>
          <p:cNvPr id="10" name="!!card1"/>
          <p:cNvSpPr/>
          <p:nvPr/>
        </p:nvSpPr>
        <p:spPr>
          <a:xfrm>
            <a:off x="548640" y="1572768"/>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Update CCSEP</a:t>
            </a:r>
          </a:p>
          <a:p>
            <a:pPr algn="l">
              <a:lnSpc>
                <a:spcPts val="2400"/>
              </a:lnSpc>
              <a:spcBef>
                <a:spcPts val="0"/>
              </a:spcBef>
              <a:spcAft>
                <a:spcPts val="0"/>
              </a:spcAft>
            </a:pPr>
            <a:r>
              <a:rPr sz="2000" b="0" i="0">
                <a:solidFill>
                  <a:srgbClr val="2E4257"/>
                </a:solidFill>
                <a:latin typeface="Be Vietnam Pro" panose="020F0502020204030204" pitchFamily="34"/>
              </a:rPr>
              <a:t>Once its completion report is published</a:t>
            </a:r>
          </a:p>
        </p:txBody>
      </p:sp>
      <p:sp>
        <p:nvSpPr>
          <p:cNvPr id="11" name="!!card2"/>
          <p:cNvSpPr/>
          <p:nvPr/>
        </p:nvSpPr>
        <p:spPr>
          <a:xfrm>
            <a:off x="6233007" y="1572768"/>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Post-IDA projects</a:t>
            </a:r>
          </a:p>
          <a:p>
            <a:pPr algn="l">
              <a:lnSpc>
                <a:spcPts val="2400"/>
              </a:lnSpc>
              <a:spcBef>
                <a:spcPts val="0"/>
              </a:spcBef>
              <a:spcAft>
                <a:spcPts val="0"/>
              </a:spcAft>
            </a:pPr>
            <a:r>
              <a:rPr sz="2000" b="0" i="0">
                <a:solidFill>
                  <a:srgbClr val="2E4257"/>
                </a:solidFill>
                <a:latin typeface="Be Vietnam Pro" panose="020F0502020204030204" pitchFamily="34"/>
              </a:rPr>
              <a:t>Binh Duong water environment project and the southern waterway program</a:t>
            </a:r>
          </a:p>
        </p:txBody>
      </p:sp>
      <p:sp>
        <p:nvSpPr>
          <p:cNvPr id="12" name="!!card3"/>
          <p:cNvSpPr/>
          <p:nvPr/>
        </p:nvSpPr>
        <p:spPr>
          <a:xfrm>
            <a:off x="548640" y="3307080"/>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Other lenders</a:t>
            </a:r>
          </a:p>
          <a:p>
            <a:pPr algn="l">
              <a:lnSpc>
                <a:spcPts val="2400"/>
              </a:lnSpc>
              <a:spcBef>
                <a:spcPts val="0"/>
              </a:spcBef>
              <a:spcAft>
                <a:spcPts val="0"/>
              </a:spcAft>
            </a:pPr>
            <a:r>
              <a:rPr sz="2000" b="0" i="0">
                <a:solidFill>
                  <a:srgbClr val="2E4257"/>
                </a:solidFill>
                <a:latin typeface="Be Vietnam Pro" panose="020F0502020204030204" pitchFamily="34"/>
              </a:rPr>
              <a:t>Compare IBRD lending with the Asian Development Bank</a:t>
            </a:r>
          </a:p>
        </p:txBody>
      </p:sp>
      <p:sp>
        <p:nvSpPr>
          <p:cNvPr id="13" name="!!card4"/>
          <p:cNvSpPr/>
          <p:nvPr/>
        </p:nvSpPr>
        <p:spPr>
          <a:xfrm>
            <a:off x="6233007" y="3307080"/>
            <a:ext cx="5410047" cy="1459992"/>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noAutofit/>
          </a:bodyPr>
          <a:lstStyle/>
          <a:p>
            <a:pPr algn="l">
              <a:lnSpc>
                <a:spcPts val="2640"/>
              </a:lnSpc>
              <a:spcBef>
                <a:spcPts val="0"/>
              </a:spcBef>
              <a:spcAft>
                <a:spcPts val="600"/>
              </a:spcAft>
            </a:pPr>
            <a:r>
              <a:rPr sz="2200" b="1" i="0">
                <a:solidFill>
                  <a:srgbClr val="2E4257"/>
                </a:solidFill>
                <a:latin typeface="Be Vietnam Pro" panose="020F0502020204030204" pitchFamily="34"/>
              </a:rPr>
              <a:t>Quantify delays</a:t>
            </a:r>
          </a:p>
          <a:p>
            <a:pPr algn="l">
              <a:lnSpc>
                <a:spcPts val="2400"/>
              </a:lnSpc>
              <a:spcBef>
                <a:spcPts val="0"/>
              </a:spcBef>
              <a:spcAft>
                <a:spcPts val="0"/>
              </a:spcAft>
            </a:pPr>
            <a:r>
              <a:rPr sz="2000" b="0" i="0">
                <a:solidFill>
                  <a:srgbClr val="2E4257"/>
                </a:solidFill>
                <a:latin typeface="Be Vietnam Pro" panose="020F0502020204030204" pitchFamily="34"/>
              </a:rPr>
              <a:t>Cost of counterpart and land delays in commitment fees and lost time</a:t>
            </a:r>
          </a:p>
        </p:txBody>
      </p:sp>
      <p:sp>
        <p:nvSpPr>
          <p:cNvPr id="14"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114</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75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42435" y="19953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2947" y="6423826"/>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9416" y="3263122"/>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References (1/6)</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REFERENCES</a:t>
            </a:r>
          </a:p>
        </p:txBody>
      </p:sp>
      <p:sp>
        <p:nvSpPr>
          <p:cNvPr id="9" name="!!refs1"/>
          <p:cNvSpPr txBox="1"/>
          <p:nvPr/>
        </p:nvSpPr>
        <p:spPr>
          <a:xfrm>
            <a:off x="548640"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4" action="ppaction://hlinksldjump"/>
              </a:rPr>
              <a:t>1</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(2011). Country Partnership Strategy for the Socialist Republic of Vietnam for the period FY12–FY16. World Bank.</a:t>
            </a:r>
            <a:r>
              <a:rPr sz="1300" b="0" i="0">
                <a:solidFill>
                  <a:srgbClr val="4E637A"/>
                </a:solidFill>
                <a:latin typeface="Be Vietnam Pro" panose="020F0502020204030204" pitchFamily="34"/>
                <a:hlinkClick r:id="rId5"/>
              </a:rPr>
              <a:t> https://documents.banquemondiale.org/fr/publication/documents-reports/documentdetail/865381468329937627</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5" action="ppaction://hlinksldjump"/>
              </a:rPr>
              <a:t>2</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(2009, December 30). World Bank, Vietnam sign $500M loan to reform Vietnam's public investments [Press release].</a:t>
            </a:r>
            <a:r>
              <a:rPr sz="1300" b="0" i="0">
                <a:solidFill>
                  <a:srgbClr val="4E637A"/>
                </a:solidFill>
                <a:latin typeface="Be Vietnam Pro" panose="020F0502020204030204" pitchFamily="34"/>
                <a:hlinkClick r:id="rId6"/>
              </a:rPr>
              <a:t> https://www.worldbank.org/en/news/press-release/2009/12/30/world-bank-vietnam-sign-500m-loan-reform-vietnams-public-investments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6" action="ppaction://hlinksldjump"/>
              </a:rPr>
              <a:t>3</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Group. (2019). Vietnam – Performance and Learning Review of the Country Partnership Framework for the period FY19–FY22. World Bank.</a:t>
            </a:r>
            <a:r>
              <a:rPr sz="1300" b="0" i="0">
                <a:solidFill>
                  <a:srgbClr val="4E637A"/>
                </a:solidFill>
                <a:latin typeface="Be Vietnam Pro" panose="020F0502020204030204" pitchFamily="34"/>
                <a:hlinkClick r:id="rId7"/>
              </a:rPr>
              <a:t> https://documents1.worldbank.org/curated/en/395041558317667311/pdf/Vietnam-Performance-and-Learning-Review-of-the-Country-Partnership-Framework-for-the-Period-FY19-FY22.pdf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7" action="ppaction://hlinksldjump"/>
              </a:rPr>
              <a:t>4</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Viet Nam News. (2026, July). Việt Nam classified as upper-middle-income country in new World Bank evaluations.</a:t>
            </a:r>
            <a:r>
              <a:rPr sz="1300" b="0" i="0">
                <a:solidFill>
                  <a:srgbClr val="4E637A"/>
                </a:solidFill>
                <a:latin typeface="Be Vietnam Pro" panose="020F0502020204030204" pitchFamily="34"/>
                <a:hlinkClick r:id="rId8"/>
              </a:rPr>
              <a:t> https://vietnamnews.vn/society/1784609/viet-nam-classified-as-upper-middle-income-country-in-new-world-bank-evaluations.html</a:t>
            </a:r>
          </a:p>
        </p:txBody>
      </p:sp>
      <p:sp>
        <p:nvSpPr>
          <p:cNvPr id="10" name="!!refs2"/>
          <p:cNvSpPr txBox="1"/>
          <p:nvPr/>
        </p:nvSpPr>
        <p:spPr>
          <a:xfrm>
            <a:off x="6278727"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8" action="ppaction://hlinksldjump"/>
              </a:rPr>
              <a:t>5</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(2024, January 12). World Bank approves project to improve living environment for over half a million people in southern Vietnam [Press release].</a:t>
            </a:r>
            <a:r>
              <a:rPr sz="1300" b="0" i="0">
                <a:solidFill>
                  <a:srgbClr val="4E637A"/>
                </a:solidFill>
                <a:latin typeface="Be Vietnam Pro" panose="020F0502020204030204" pitchFamily="34"/>
                <a:hlinkClick r:id="rId9"/>
              </a:rPr>
              <a:t> https://www.worldbank.org/en/news/press-release/2024/01/12/world-bank-approves-project-to-improve-living-environment-for-over-half-a-million-people-in-southern-vietnam</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9" action="ppaction://hlinksldjump"/>
              </a:rPr>
              <a:t>6</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(2024, June 21). New World Bank program boosts sustainable transport infrastructure for vital Viet Nam waterways [Press release].</a:t>
            </a:r>
            <a:r>
              <a:rPr sz="1300" b="0" i="0">
                <a:solidFill>
                  <a:srgbClr val="4E637A"/>
                </a:solidFill>
                <a:latin typeface="Be Vietnam Pro" panose="020F0502020204030204" pitchFamily="34"/>
                <a:hlinkClick r:id="rId10"/>
              </a:rPr>
              <a:t> https://www.worldbank.org/en/news/press-release/2024/06/21/new-world-bank-program-boosts-sustainable-transport-infrastructure-for-vital-viet-nam-waterways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0" action="ppaction://hlinksldjump"/>
              </a:rPr>
              <a:t>7</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International Bank for Reconstruction and Development. (2026). IBRD financial statements, March 2026. World Bank.</a:t>
            </a:r>
            <a:r>
              <a:rPr sz="1300" b="0" i="0">
                <a:solidFill>
                  <a:srgbClr val="4E637A"/>
                </a:solidFill>
                <a:latin typeface="Be Vietnam Pro" panose="020F0502020204030204" pitchFamily="34"/>
                <a:hlinkClick r:id="rId11"/>
              </a:rPr>
              <a:t> https://thedocs.worldbank.org/en/doc/4f8e88be21bdf2e7dddfae2cd6e3e30b-0040012026/original/IBRD-Financial-Statements-March-2026.pdf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1" action="ppaction://hlinksldjump"/>
              </a:rPr>
              <a:t>8</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Group. (n.d.). World Bank Group timeline.</a:t>
            </a:r>
            <a:r>
              <a:rPr sz="1300" b="0" i="0">
                <a:solidFill>
                  <a:srgbClr val="4E637A"/>
                </a:solidFill>
                <a:latin typeface="Be Vietnam Pro" panose="020F0502020204030204" pitchFamily="34"/>
                <a:hlinkClick r:id="rId12"/>
              </a:rPr>
              <a:t> https://timeline.worldbank.org</a:t>
            </a:r>
          </a:p>
        </p:txBody>
      </p:sp>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115</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88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200438" y="24880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23252" y="6479574"/>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8855" y="3863654"/>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References (2/6)</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REFERENCES</a:t>
            </a:r>
          </a:p>
        </p:txBody>
      </p:sp>
      <p:sp>
        <p:nvSpPr>
          <p:cNvPr id="9" name="!!refs1"/>
          <p:cNvSpPr txBox="1"/>
          <p:nvPr/>
        </p:nvSpPr>
        <p:spPr>
          <a:xfrm>
            <a:off x="548640"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5" action="ppaction://hlinksldjump"/>
              </a:rPr>
              <a:t>9</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Group Archives. (n.d.). Digitized records: The World Bank's first loan.</a:t>
            </a:r>
            <a:r>
              <a:rPr sz="1300" b="0" i="0">
                <a:solidFill>
                  <a:srgbClr val="4E637A"/>
                </a:solidFill>
                <a:latin typeface="Be Vietnam Pro" panose="020F0502020204030204" pitchFamily="34"/>
                <a:hlinkClick r:id="rId5"/>
              </a:rPr>
              <a:t> https://www.worldbank.org/en/archive/history/exhibits/Digitized-Records-World-Bank-First-Loan</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6" action="ppaction://hlinksldjump"/>
              </a:rPr>
              <a:t>10</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Ajay Banga, President of the World Bank Group.</a:t>
            </a:r>
            <a:r>
              <a:rPr sz="1300" b="0" i="0">
                <a:solidFill>
                  <a:srgbClr val="4E637A"/>
                </a:solidFill>
                <a:latin typeface="Be Vietnam Pro" panose="020F0502020204030204" pitchFamily="34"/>
                <a:hlinkClick r:id="rId6"/>
              </a:rPr>
              <a:t> https://www.worldbank.org/en/about/people/a/ajay-banga</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7" action="ppaction://hlinksldjump"/>
              </a:rPr>
              <a:t>11</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(2026). IBRD voting power: Percentage of total votes by country [Dataset]. World Bank Finances One.</a:t>
            </a:r>
            <a:r>
              <a:rPr sz="1300" b="0" i="0">
                <a:solidFill>
                  <a:srgbClr val="4E637A"/>
                </a:solidFill>
                <a:latin typeface="Be Vietnam Pro" panose="020F0502020204030204" pitchFamily="34"/>
                <a:hlinkClick r:id="rId7"/>
              </a:rPr>
              <a:t> https://financesone.worldbank.org/countries/Vietnam</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8" action="ppaction://hlinksldjump"/>
              </a:rPr>
              <a:t>12</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(2018, April 21). World Bank Group shareholders endorse transformative capital package [Press release].</a:t>
            </a:r>
            <a:r>
              <a:rPr sz="1300" b="0" i="0">
                <a:solidFill>
                  <a:srgbClr val="4E637A"/>
                </a:solidFill>
                <a:latin typeface="Be Vietnam Pro" panose="020F0502020204030204" pitchFamily="34"/>
                <a:hlinkClick r:id="rId8"/>
              </a:rPr>
              <a:t> https://www.worldbank.org/en/news/press-release/2018/04/21/world-bank-group-shareholders-endorse-transformative-capital-package</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9" action="ppaction://hlinksldjump"/>
              </a:rPr>
              <a:t>13</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Treasury. (2025). IBRD debt products brief.</a:t>
            </a:r>
            <a:r>
              <a:rPr sz="1300" b="0" i="0">
                <a:solidFill>
                  <a:srgbClr val="4E637A"/>
                </a:solidFill>
                <a:latin typeface="Be Vietnam Pro" panose="020F0502020204030204" pitchFamily="34"/>
                <a:hlinkClick r:id="rId9"/>
              </a:rPr>
              <a:t> https://thedocs.worldbank.org/en/doc/251541b562ff6b17f214752061762b85-0340022025/original/IBRD-Debt-Products-Brief-v3.pdf</a:t>
            </a:r>
          </a:p>
        </p:txBody>
      </p:sp>
      <p:sp>
        <p:nvSpPr>
          <p:cNvPr id="10" name="!!refs2"/>
          <p:cNvSpPr txBox="1"/>
          <p:nvPr/>
        </p:nvSpPr>
        <p:spPr>
          <a:xfrm>
            <a:off x="6278727"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0" action="ppaction://hlinksldjump"/>
              </a:rPr>
              <a:t>14</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Wes, M. (2023, September 14). Anchoring financing in results and reforms: Key takeaways from World Bank experience [Presentation to the High-Level Group on the Future of Cohesion Policy].</a:t>
            </a:r>
            <a:r>
              <a:rPr sz="1300" b="0" i="0">
                <a:solidFill>
                  <a:srgbClr val="4E637A"/>
                </a:solidFill>
                <a:latin typeface="Be Vietnam Pro" panose="020F0502020204030204" pitchFamily="34"/>
                <a:hlinkClick r:id="rId10"/>
              </a:rPr>
              <a:t> https://ec.europa.eu/regional_policy/sources/policy/how/future-cohesion-policy/WorldBank_230914.pdf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1" action="ppaction://hlinksldjump"/>
              </a:rPr>
              <a:t>15</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Gelb, A., Diofasi, A., &amp; Postel, H. (2016). Program for Results: The first 35 operations (CGD Working Paper 430). Center for Global Development.</a:t>
            </a:r>
            <a:r>
              <a:rPr sz="1300" b="0" i="0">
                <a:solidFill>
                  <a:srgbClr val="4E637A"/>
                </a:solidFill>
                <a:latin typeface="Be Vietnam Pro" panose="020F0502020204030204" pitchFamily="34"/>
                <a:hlinkClick r:id="rId11"/>
              </a:rPr>
              <a:t> https://www.cgdev.org/publication/program-results-first-35-operations-working-paper-430</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2" action="ppaction://hlinksldjump"/>
              </a:rPr>
              <a:t>16</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Treasury. (n.d.). IBRD Flexible Loan.</a:t>
            </a:r>
            <a:r>
              <a:rPr sz="1300" b="0" i="0">
                <a:solidFill>
                  <a:srgbClr val="4E637A"/>
                </a:solidFill>
                <a:latin typeface="Be Vietnam Pro" panose="020F0502020204030204" pitchFamily="34"/>
                <a:hlinkClick r:id="rId12"/>
              </a:rPr>
              <a:t> https://projects.worldbank.org/en/about/unit/treasury/ibrd-financial-products/ibrd-flexible-loan</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3" action="ppaction://hlinksldjump"/>
              </a:rPr>
              <a:t>17</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Treasury. (2020). IBRD Flexible Loan pricing basics [Product note].</a:t>
            </a:r>
            <a:r>
              <a:rPr sz="1300" b="0" i="0">
                <a:solidFill>
                  <a:srgbClr val="4E637A"/>
                </a:solidFill>
                <a:latin typeface="Be Vietnam Pro" panose="020F0502020204030204" pitchFamily="34"/>
                <a:hlinkClick r:id="rId13"/>
              </a:rPr>
              <a:t> https://thedocs.worldbank.org/en/doc/494451541196179855-0340022018/original/productnoteIFLpricingbasicsOct2020.pdf</a:t>
            </a:r>
          </a:p>
        </p:txBody>
      </p:sp>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116</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02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49601" y="349243"/>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8986" y="6383984"/>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7008" y="242938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References (3/6)</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REFERENCES</a:t>
            </a:r>
          </a:p>
        </p:txBody>
      </p:sp>
      <p:sp>
        <p:nvSpPr>
          <p:cNvPr id="9" name="!!refs1"/>
          <p:cNvSpPr txBox="1"/>
          <p:nvPr/>
        </p:nvSpPr>
        <p:spPr>
          <a:xfrm>
            <a:off x="548640"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7" action="ppaction://hlinksldjump"/>
              </a:rPr>
              <a:t>18</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(2014, February 11). World Bank Board of Executive Directors announces change in IBRD loan terms [Press release].</a:t>
            </a:r>
            <a:r>
              <a:rPr sz="1300" b="0" i="0">
                <a:solidFill>
                  <a:srgbClr val="4E637A"/>
                </a:solidFill>
                <a:latin typeface="Be Vietnam Pro" panose="020F0502020204030204" pitchFamily="34"/>
                <a:hlinkClick r:id="rId5"/>
              </a:rPr>
              <a:t> https://www.worldbank.org/en/news/press-release/2014/02/11/world-bank-board-of-executive-directors-announces-change-in-ibrd-loan-terms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8" action="ppaction://hlinksldjump"/>
              </a:rPr>
              <a:t>19</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International Bank for Reconstruction and Development. (2025). IBRD financial statements, December 2025. World Bank.</a:t>
            </a:r>
            <a:r>
              <a:rPr sz="1300" b="0" i="0">
                <a:solidFill>
                  <a:srgbClr val="4E637A"/>
                </a:solidFill>
                <a:latin typeface="Be Vietnam Pro" panose="020F0502020204030204" pitchFamily="34"/>
                <a:hlinkClick r:id="rId6"/>
              </a:rPr>
              <a:t> https://thedocs.worldbank.org/en/doc/5e394eaa9f7616b3a5518bd2f4bd9774-0040012025/original/IBRD-Financial-Statements-December-2025.pdf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9" action="ppaction://hlinksldjump"/>
              </a:rPr>
              <a:t>20</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Treasury. (n.d.). IBRD lending rates and fees.</a:t>
            </a:r>
            <a:r>
              <a:rPr sz="1300" b="0" i="0">
                <a:solidFill>
                  <a:srgbClr val="4E637A"/>
                </a:solidFill>
                <a:latin typeface="Be Vietnam Pro" panose="020F0502020204030204" pitchFamily="34"/>
                <a:hlinkClick r:id="rId7"/>
              </a:rPr>
              <a:t> https://projects.worldbank.org/en/about/unit/treasury/ibrd-financial-products/lending-rates-and-fees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0" action="ppaction://hlinksldjump"/>
              </a:rPr>
              <a:t>21</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(2014, August 8). Vietnam: Transmission Efficiency Project [Loans and credits].</a:t>
            </a:r>
            <a:r>
              <a:rPr sz="1300" b="0" i="0">
                <a:solidFill>
                  <a:srgbClr val="4E637A"/>
                </a:solidFill>
                <a:latin typeface="Be Vietnam Pro" panose="020F0502020204030204" pitchFamily="34"/>
                <a:hlinkClick r:id="rId8"/>
              </a:rPr>
              <a:t> https://www.worldbank.org/en/news/loans-credits/2014/08/08/vietnam-transmission-efficiency-project</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1" action="ppaction://hlinksldjump"/>
              </a:rPr>
              <a:t>22</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Environmental and Social Framework.</a:t>
            </a:r>
            <a:r>
              <a:rPr sz="1300" b="0" i="0">
                <a:solidFill>
                  <a:srgbClr val="4E637A"/>
                </a:solidFill>
                <a:latin typeface="Be Vietnam Pro" panose="020F0502020204030204" pitchFamily="34"/>
                <a:hlinkClick r:id="rId9"/>
              </a:rPr>
              <a:t> https://www.worldbank.org/esf</a:t>
            </a:r>
          </a:p>
        </p:txBody>
      </p:sp>
      <p:sp>
        <p:nvSpPr>
          <p:cNvPr id="10" name="!!refs2"/>
          <p:cNvSpPr txBox="1"/>
          <p:nvPr/>
        </p:nvSpPr>
        <p:spPr>
          <a:xfrm>
            <a:off x="6278727"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2" action="ppaction://hlinksldjump"/>
              </a:rPr>
              <a:t>23</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Environmental and social policies.</a:t>
            </a:r>
            <a:r>
              <a:rPr sz="1300" b="0" i="0">
                <a:solidFill>
                  <a:srgbClr val="4E637A"/>
                </a:solidFill>
                <a:latin typeface="Be Vietnam Pro" panose="020F0502020204030204" pitchFamily="34"/>
                <a:hlinkClick r:id="rId10"/>
              </a:rPr>
              <a:t> https://www.worldbank.org/en/projects-operations/environmental-and-social-policies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3" action="ppaction://hlinksldjump"/>
              </a:rPr>
              <a:t>24</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(2020). Annual report 2020: Improving operations for country outcomes.</a:t>
            </a:r>
            <a:r>
              <a:rPr sz="1300" b="0" i="0">
                <a:solidFill>
                  <a:srgbClr val="4E637A"/>
                </a:solidFill>
                <a:latin typeface="Be Vietnam Pro" panose="020F0502020204030204" pitchFamily="34"/>
                <a:hlinkClick r:id="rId11"/>
              </a:rPr>
              <a:t> https://www.worldbank.org/en/about/annual-report-2020/strengthening-the-organization</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4" action="ppaction://hlinksldjump"/>
              </a:rPr>
              <a:t>25</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World Bank project cycle.</a:t>
            </a:r>
            <a:r>
              <a:rPr sz="1300" b="0" i="0">
                <a:solidFill>
                  <a:srgbClr val="4E637A"/>
                </a:solidFill>
                <a:latin typeface="Be Vietnam Pro" panose="020F0502020204030204" pitchFamily="34"/>
                <a:hlinkClick r:id="rId12"/>
              </a:rPr>
              <a:t> https://projects.worldbank.org/en/projects-operations/products-and-services/brief/projectcycle</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5" action="ppaction://hlinksldjump"/>
              </a:rPr>
              <a:t>26</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(2006). Disbursement guidelines for projects.</a:t>
            </a:r>
            <a:r>
              <a:rPr sz="1300" b="0" i="0">
                <a:solidFill>
                  <a:srgbClr val="4E637A"/>
                </a:solidFill>
                <a:latin typeface="Be Vietnam Pro" panose="020F0502020204030204" pitchFamily="34"/>
                <a:hlinkClick r:id="rId13"/>
              </a:rPr>
              <a:t> https://www.eximb.com/upload/app_links/1242.pdf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6" action="ppaction://hlinksldjump"/>
              </a:rPr>
              <a:t>27</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(2017). Disbursement guidelines for investment project financing.</a:t>
            </a:r>
            <a:r>
              <a:rPr sz="1300" b="0" i="0">
                <a:solidFill>
                  <a:srgbClr val="4E637A"/>
                </a:solidFill>
                <a:latin typeface="Be Vietnam Pro" panose="020F0502020204030204" pitchFamily="34"/>
                <a:hlinkClick r:id="rId14"/>
              </a:rPr>
              <a:t> https://documents1.worldbank.org/curated/en/123641487793335838/text/ITK171540-201701221452.txt</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7" action="ppaction://hlinksldjump"/>
              </a:rPr>
              <a:t>28</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(2011, May 24). Vietnam: Second Public Investment Reform Development Policy Operation [Loans and credits].</a:t>
            </a:r>
            <a:r>
              <a:rPr sz="1300" b="0" i="0">
                <a:solidFill>
                  <a:srgbClr val="4E637A"/>
                </a:solidFill>
                <a:latin typeface="Be Vietnam Pro" panose="020F0502020204030204" pitchFamily="34"/>
                <a:hlinkClick r:id="rId15"/>
              </a:rPr>
              <a:t> https://www.worldbank.org/en/news/loans-credits/2011/05/24/vietnam-second-public-investment-reform-development-policy-operation</a:t>
            </a:r>
          </a:p>
        </p:txBody>
      </p:sp>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117</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164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847056" y="453535"/>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88213" y="6477711"/>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931502" y="256089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References (4/6)</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REFERENCES</a:t>
            </a:r>
          </a:p>
        </p:txBody>
      </p:sp>
      <p:sp>
        <p:nvSpPr>
          <p:cNvPr id="9" name="!!refs1"/>
          <p:cNvSpPr txBox="1"/>
          <p:nvPr/>
        </p:nvSpPr>
        <p:spPr>
          <a:xfrm>
            <a:off x="548640"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5" action="ppaction://hlinksldjump"/>
              </a:rPr>
              <a:t>29</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(2011, May 24). World Bank supports policy reform to improve efficiency of Vietnam's public investment [Press release].</a:t>
            </a:r>
            <a:r>
              <a:rPr sz="1300" b="0" i="0">
                <a:solidFill>
                  <a:srgbClr val="4E637A"/>
                </a:solidFill>
                <a:latin typeface="Be Vietnam Pro" panose="020F0502020204030204" pitchFamily="34"/>
                <a:hlinkClick r:id="rId5"/>
              </a:rPr>
              <a:t> https://www.worldbank.org/en/news/press-release/2011/05/24/world-bank-supports-policy-reform-improve-efficiency-vietnams-public-investment</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6" action="ppaction://hlinksldjump"/>
              </a:rPr>
              <a:t>30</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DTiNews. (2011, May 26). WB prioritises public investment in Vietnam.</a:t>
            </a:r>
            <a:r>
              <a:rPr sz="1300" b="0" i="0">
                <a:solidFill>
                  <a:srgbClr val="4E637A"/>
                </a:solidFill>
                <a:latin typeface="Be Vietnam Pro" panose="020F0502020204030204" pitchFamily="34"/>
                <a:hlinkClick r:id="rId6"/>
              </a:rPr>
              <a:t> https://dtinews.dantri.com.vn/print/20110526135305000.htm</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7" action="ppaction://hlinksldjump"/>
              </a:rPr>
              <a:t>31</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(2010, April 6). Vietnam: First Power Sector Reform Development Policy Operation [Loans and credits].</a:t>
            </a:r>
            <a:r>
              <a:rPr sz="1300" b="0" i="0">
                <a:solidFill>
                  <a:srgbClr val="4E637A"/>
                </a:solidFill>
                <a:latin typeface="Be Vietnam Pro" panose="020F0502020204030204" pitchFamily="34"/>
                <a:hlinkClick r:id="rId7"/>
              </a:rPr>
              <a:t> https://www.worldbank.org/en/news/loans-credits/2010/04/06/vietnam-first-power-sector-reform-development-policy-operation</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8" action="ppaction://hlinksldjump"/>
              </a:rPr>
              <a:t>32</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Independent Evaluation Group. (n.d.). Paying for results: Does results-based lending work?</a:t>
            </a:r>
            <a:r>
              <a:rPr sz="1300" b="0" i="0">
                <a:solidFill>
                  <a:srgbClr val="4E637A"/>
                </a:solidFill>
                <a:latin typeface="Be Vietnam Pro" panose="020F0502020204030204" pitchFamily="34"/>
                <a:hlinkClick r:id="rId8"/>
              </a:rPr>
              <a:t> https://ieg.worldbankgroup.org/blog/paying-results-does-results-based-lending-work</a:t>
            </a:r>
          </a:p>
        </p:txBody>
      </p:sp>
      <p:sp>
        <p:nvSpPr>
          <p:cNvPr id="10" name="!!refs2"/>
          <p:cNvSpPr txBox="1"/>
          <p:nvPr/>
        </p:nvSpPr>
        <p:spPr>
          <a:xfrm>
            <a:off x="6278727"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9" action="ppaction://hlinksldjump"/>
              </a:rPr>
              <a:t>33</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(2017). Project appraisal document: Vietnam – Coastal Cities Sustainable Environment Project (P156143). World Bank.</a:t>
            </a:r>
            <a:r>
              <a:rPr sz="1300" b="0" i="0">
                <a:solidFill>
                  <a:srgbClr val="4E637A"/>
                </a:solidFill>
                <a:latin typeface="Be Vietnam Pro" panose="020F0502020204030204" pitchFamily="34"/>
                <a:hlinkClick r:id="rId9"/>
              </a:rPr>
              <a:t> https://projects.worldbank.org/en/projects-operations/project-detail/P156143</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0" action="ppaction://hlinksldjump"/>
              </a:rPr>
              <a:t>34</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Advice and analytics.</a:t>
            </a:r>
            <a:r>
              <a:rPr sz="1300" b="0" i="0">
                <a:solidFill>
                  <a:srgbClr val="4E637A"/>
                </a:solidFill>
                <a:latin typeface="Be Vietnam Pro" panose="020F0502020204030204" pitchFamily="34"/>
                <a:hlinkClick r:id="rId10"/>
              </a:rPr>
              <a:t> https://www.worldbank.org/asa</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1" action="ppaction://hlinksldjump"/>
              </a:rPr>
              <a:t>35</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Asian Development Bank. (2024). Linked Document A: Comparison of technical assistance provided by multilateral development banks.</a:t>
            </a:r>
            <a:r>
              <a:rPr sz="1300" b="0" i="0">
                <a:solidFill>
                  <a:srgbClr val="4E637A"/>
                </a:solidFill>
                <a:latin typeface="Be Vietnam Pro" panose="020F0502020204030204" pitchFamily="34"/>
                <a:hlinkClick r:id="rId11"/>
              </a:rPr>
              <a:t> https://www.adb.org/sites/default/files/linked-documents/Linked%20Document%20A%20-%20Comparison%20of%20TA%20provided%20by%20MDBs_20241029.pdf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2" action="ppaction://hlinksldjump"/>
              </a:rPr>
              <a:t>36</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Reimbursable advisory services in Southeast Asia.</a:t>
            </a:r>
            <a:r>
              <a:rPr sz="1300" b="0" i="0">
                <a:solidFill>
                  <a:srgbClr val="4E637A"/>
                </a:solidFill>
                <a:latin typeface="Be Vietnam Pro" panose="020F0502020204030204" pitchFamily="34"/>
                <a:hlinkClick r:id="rId12"/>
              </a:rPr>
              <a:t> https://worldbank.org/en/country/thailand/brief/reimbursable-advisory-services-in-southeast-asia</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3" action="ppaction://hlinksldjump"/>
              </a:rPr>
              <a:t>37</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Independent Evaluation Group. (2023). Vietnam – Transmission Efficiency Project: Project performance assessment report (Report No. 182837). World Bank.</a:t>
            </a:r>
            <a:r>
              <a:rPr sz="1300" b="0" i="0">
                <a:solidFill>
                  <a:srgbClr val="4E637A"/>
                </a:solidFill>
                <a:latin typeface="Be Vietnam Pro" panose="020F0502020204030204" pitchFamily="34"/>
                <a:hlinkClick r:id="rId13"/>
              </a:rPr>
              <a:t> https://documents.worldbank.org/en/publication/documents-reports/documentdetail/099026109262383942</a:t>
            </a:r>
          </a:p>
        </p:txBody>
      </p:sp>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118</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302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80010" y="389680"/>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5975" y="6499180"/>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7222" y="259460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References (5/6)</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REFERENCES</a:t>
            </a:r>
          </a:p>
        </p:txBody>
      </p:sp>
      <p:sp>
        <p:nvSpPr>
          <p:cNvPr id="9" name="!!refs1"/>
          <p:cNvSpPr txBox="1"/>
          <p:nvPr/>
        </p:nvSpPr>
        <p:spPr>
          <a:xfrm>
            <a:off x="548640"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4" action="ppaction://hlinksldjump"/>
              </a:rPr>
              <a:t>38</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Pacific World Bank project orientation [Open Learning Campus course].</a:t>
            </a:r>
            <a:r>
              <a:rPr sz="1300" b="0" i="0">
                <a:solidFill>
                  <a:srgbClr val="4E637A"/>
                </a:solidFill>
                <a:latin typeface="Be Vietnam Pro" panose="020F0502020204030204" pitchFamily="34"/>
                <a:hlinkClick r:id="rId5"/>
              </a:rPr>
              <a:t> https://www.worldbank.org/en/olc/course/48351</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5" action="ppaction://hlinksldjump"/>
              </a:rPr>
              <a:t>39</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(2015, March 23). A new online course to build procurement capacity [Feature story].</a:t>
            </a:r>
            <a:r>
              <a:rPr sz="1300" b="0" i="0">
                <a:solidFill>
                  <a:srgbClr val="4E637A"/>
                </a:solidFill>
                <a:latin typeface="Be Vietnam Pro" panose="020F0502020204030204" pitchFamily="34"/>
                <a:hlinkClick r:id="rId6"/>
              </a:rPr>
              <a:t> https://www.worldbank.org/en/news/feature/2015/03/23/a-new-online-course-to-build-procurement-capacity</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6" action="ppaction://hlinksldjump"/>
              </a:rPr>
              <a:t>40</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(n.d.). E-procurement learning (self-paced) [Open Learning Campus course].</a:t>
            </a:r>
            <a:r>
              <a:rPr sz="1300" b="0" i="0">
                <a:solidFill>
                  <a:srgbClr val="4E637A"/>
                </a:solidFill>
                <a:latin typeface="Be Vietnam Pro" panose="020F0502020204030204" pitchFamily="34"/>
                <a:hlinkClick r:id="rId7"/>
              </a:rPr>
              <a:t> https://www.worldbank.org/en/olc/course/37108</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7" action="ppaction://hlinksldjump"/>
              </a:rPr>
              <a:t>41</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(2022). Implementation completion and results report: Vietnam – Transmission Efficiency Project (IBRD-84170). World Bank.</a:t>
            </a:r>
            <a:r>
              <a:rPr sz="1300" b="0" i="0">
                <a:solidFill>
                  <a:srgbClr val="4E637A"/>
                </a:solidFill>
                <a:latin typeface="Be Vietnam Pro" panose="020F0502020204030204" pitchFamily="34"/>
                <a:hlinkClick r:id="rId8"/>
              </a:rPr>
              <a:t> https://projects.worldbank.org/en/projects-operations/project-detail/P131558</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8" action="ppaction://hlinksldjump"/>
              </a:rPr>
              <a:t>42</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Independent Evaluation Group. (2022). Implementation completion report review: Vietnam – Transmission Efficiency Project (P131558). World Bank</a:t>
            </a:r>
            <a:r>
              <a:rPr sz="1300" b="0" i="0">
                <a:solidFill>
                  <a:srgbClr val="4E637A"/>
                </a:solidFill>
                <a:latin typeface="Be Vietnam Pro" panose="020F0502020204030204" pitchFamily="34"/>
                <a:hlinkClick r:id="rId9"/>
              </a:rPr>
              <a:t> https://ieg.worldbankgroup.org</a:t>
            </a:r>
          </a:p>
        </p:txBody>
      </p:sp>
      <p:sp>
        <p:nvSpPr>
          <p:cNvPr id="10" name="!!refs2"/>
          <p:cNvSpPr txBox="1"/>
          <p:nvPr/>
        </p:nvSpPr>
        <p:spPr>
          <a:xfrm>
            <a:off x="6278727"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9" action="ppaction://hlinksldjump"/>
              </a:rPr>
              <a:t>43</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(2022). Restructuring paper on a proposed project restructuring of Vietnam – Coastal Cities Sustainable Environment Project (RES53942). World Bank.</a:t>
            </a:r>
            <a:r>
              <a:rPr sz="1300" b="0" i="0">
                <a:solidFill>
                  <a:srgbClr val="4E637A"/>
                </a:solidFill>
                <a:latin typeface="Be Vietnam Pro" panose="020F0502020204030204" pitchFamily="34"/>
                <a:hlinkClick r:id="rId10"/>
              </a:rPr>
              <a:t> https://projects.worldbank.org/en/projects-operations/project-detail/P156143</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0" action="ppaction://hlinksldjump"/>
              </a:rPr>
              <a:t>44</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(2014). Project appraisal document on a proposed loan to the Socialist Republic of Vietnam for a Transmission Efficiency Project (P131558). World Bank.</a:t>
            </a:r>
            <a:r>
              <a:rPr sz="1300" b="0" i="0">
                <a:solidFill>
                  <a:srgbClr val="4E637A"/>
                </a:solidFill>
                <a:latin typeface="Be Vietnam Pro" panose="020F0502020204030204" pitchFamily="34"/>
                <a:hlinkClick r:id="rId8"/>
              </a:rPr>
              <a:t> https://projects.worldbank.org/en/projects-operations/project-detail/P131558</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1" action="ppaction://hlinksldjump"/>
              </a:rPr>
              <a:t>45</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Baird, M. (2011). Vietnam and the World Bank: A brief history of the partnership (Report No. 66928). World Bank.</a:t>
            </a:r>
            <a:r>
              <a:rPr sz="1300" b="0" i="0">
                <a:solidFill>
                  <a:srgbClr val="4E637A"/>
                </a:solidFill>
                <a:latin typeface="Be Vietnam Pro" panose="020F0502020204030204" pitchFamily="34"/>
                <a:hlinkClick r:id="rId11"/>
              </a:rPr>
              <a:t> https://documents1.worldbank.org/curated/en/846181468133547558/pdf/669280WP00PUBL0859B0WBdonghanh0Eng2.pdf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2" action="ppaction://hlinksldjump"/>
              </a:rPr>
              <a:t>46</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(2013, October 17). Remarks at the celebration of 20 years of ODA in Vietnam [Speech].</a:t>
            </a:r>
            <a:r>
              <a:rPr sz="1300" b="0" i="0">
                <a:solidFill>
                  <a:srgbClr val="4E637A"/>
                </a:solidFill>
                <a:latin typeface="Be Vietnam Pro" panose="020F0502020204030204" pitchFamily="34"/>
                <a:hlinkClick r:id="rId12"/>
              </a:rPr>
              <a:t> https://www.worldbank.org/en/news/speech/2013/10/17/celebration-of-20-years-of-ODA-in-vietnam.print</a:t>
            </a:r>
          </a:p>
        </p:txBody>
      </p:sp>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119</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440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017104" y="18335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2257" y="6490807"/>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99441" y="4522460"/>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References (6/6)</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REFERENCES</a:t>
            </a:r>
          </a:p>
        </p:txBody>
      </p:sp>
      <p:sp>
        <p:nvSpPr>
          <p:cNvPr id="9" name="!!refs1"/>
          <p:cNvSpPr txBox="1"/>
          <p:nvPr/>
        </p:nvSpPr>
        <p:spPr>
          <a:xfrm>
            <a:off x="548640"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0" action="ppaction://hlinksldjump"/>
              </a:rPr>
              <a:t>47</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(2017). Project appraisal document: Vietnam – Support for Autonomous Higher Education Project (P156849). World Bank.</a:t>
            </a:r>
            <a:r>
              <a:rPr sz="1300" b="0" i="0">
                <a:solidFill>
                  <a:srgbClr val="4E637A"/>
                </a:solidFill>
                <a:latin typeface="Be Vietnam Pro" panose="020F0502020204030204" pitchFamily="34"/>
                <a:hlinkClick r:id="rId5"/>
              </a:rPr>
              <a:t> https://projects.worldbank.org/en/projects-operations/project-detail/P156849</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1" action="ppaction://hlinksldjump"/>
              </a:rPr>
              <a:t>48</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(2013). Decree No. 38/2013/ND-CP on the management and use of ODA and concessional loans.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2" action="ppaction://hlinksldjump"/>
              </a:rPr>
              <a:t>49</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(2016). Decree No. 16/2016/ND-CP on the management and use of ODA and concessional loans.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3" action="ppaction://hlinksldjump"/>
              </a:rPr>
              <a:t>50</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(2020). Decree No. 56/2020/ND-CP on the management and use of ODA and concessional loans of foreign sponsors.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4" action="ppaction://hlinksldjump"/>
              </a:rPr>
              <a:t>51</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(2021). Decree No. 114/2021/ND-CP on the management and use of ODA and concessional loans of foreign donors.</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5" action="ppaction://hlinksldjump"/>
              </a:rPr>
              <a:t>52</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(2023). Decree No. 20/2023/ND-CP amending Decree No. 114/2021/ND-CP.</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6" action="ppaction://hlinksldjump"/>
              </a:rPr>
              <a:t>53</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(2025). Decree No. 242/2025/ND-CP on the management and use of ODA and concessional loans.</a:t>
            </a:r>
          </a:p>
        </p:txBody>
      </p:sp>
      <p:sp>
        <p:nvSpPr>
          <p:cNvPr id="10" name="!!refs2"/>
          <p:cNvSpPr txBox="1"/>
          <p:nvPr/>
        </p:nvSpPr>
        <p:spPr>
          <a:xfrm>
            <a:off x="6278727" y="1435608"/>
            <a:ext cx="5364327" cy="4809744"/>
          </a:xfrm>
          <a:prstGeom prst="rect">
            <a:avLst/>
          </a:prstGeom>
          <a:noFill/>
        </p:spPr>
        <p:txBody>
          <a:bodyPr wrap="square" lIns="0" rIns="0" tIns="18288" bIns="18288" anchor="t">
            <a:noAutofit/>
          </a:bodyPr>
          <a:lstStyle/>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7" action="ppaction://hlinksldjump"/>
              </a:rPr>
              <a:t>54</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(2026). Decree No. 119/2026/ND-CP amending Decree No. 242/2025/ND-CP.</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8" action="ppaction://hlinksldjump"/>
              </a:rPr>
              <a:t>55</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(2020). Implementation status and results report No. 7: Vietnam – Coastal Cities Sustainable Environment Project (P156143). World Bank.</a:t>
            </a:r>
            <a:r>
              <a:rPr sz="1300" b="0" i="0">
                <a:solidFill>
                  <a:srgbClr val="4E637A"/>
                </a:solidFill>
                <a:latin typeface="Be Vietnam Pro" panose="020F0502020204030204" pitchFamily="34"/>
                <a:hlinkClick r:id="rId6"/>
              </a:rPr>
              <a:t> https://projects.worldbank.org/en/projects-operations/project-detail/P156143</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19" action="ppaction://hlinksldjump"/>
              </a:rPr>
              <a:t>56</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Government of Vietnam. (2014). Decree No. 80/2014/ND-CP on drainage and wastewater treatment.</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0" action="ppaction://hlinksldjump"/>
              </a:rPr>
              <a:t>57</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Inspection Panel. (2024). Report and recommendation: Viet Nam – Coastal Cities Sustainable Environment Project, second request for inspection (22 January 2024). World Bank.</a:t>
            </a:r>
            <a:r>
              <a:rPr sz="1300" b="0" i="0">
                <a:solidFill>
                  <a:srgbClr val="4E637A"/>
                </a:solidFill>
                <a:latin typeface="Be Vietnam Pro" panose="020F0502020204030204" pitchFamily="34"/>
                <a:hlinkClick r:id="rId7"/>
              </a:rPr>
              <a:t> https://www.inspectionpanel.org/sites/default/files/cases/documents/166-Viet%20Nam-CCSEP-Inspection%20Panel%20Report%20and%20Recommendation-22%20January%202024.pdf</a:t>
            </a:r>
          </a:p>
          <a:p>
            <a:pPr algn="l">
              <a:lnSpc>
                <a:spcPts val="1560"/>
              </a:lnSpc>
              <a:spcBef>
                <a:spcPts val="0"/>
              </a:spcBef>
              <a:spcAft>
                <a:spcPts val="500"/>
              </a:spcAft>
            </a:pPr>
            <a:r>
              <a:rPr sz="1400" b="1" i="0">
                <a:solidFill>
                  <a:srgbClr val="2E4257"/>
                </a:solidFill>
                <a:latin typeface="Be Vietnam Pro" panose="020F0502020204030204" pitchFamily="34"/>
              </a:rPr>
              <a:t>[</a:t>
            </a:r>
            <a:r>
              <a:rPr sz="1400" b="1" i="0" u="sng">
                <a:solidFill>
                  <a:srgbClr val="A33224"/>
                </a:solidFill>
                <a:latin typeface="Be Vietnam Pro" panose="020F0502020204030204" pitchFamily="34"/>
                <a:hlinkClick r:id="rId21" action="ppaction://hlinksldjump"/>
              </a:rPr>
              <a:t>58</a:t>
            </a:r>
            <a:r>
              <a:rPr sz="1400" b="1" i="0">
                <a:solidFill>
                  <a:srgbClr val="2E4257"/>
                </a:solidFill>
                <a:latin typeface="Be Vietnam Pro" panose="020F0502020204030204" pitchFamily="34"/>
              </a:rPr>
              <a:t>]</a:t>
            </a:r>
            <a:r>
              <a:rPr sz="1300" b="0" i="0">
                <a:solidFill>
                  <a:srgbClr val="2E4257"/>
                </a:solidFill>
                <a:latin typeface="Be Vietnam Pro" panose="020F0502020204030204" pitchFamily="34"/>
              </a:rPr>
              <a:t> </a:t>
            </a:r>
            <a:r>
              <a:rPr sz="1300" b="0" i="0">
                <a:solidFill>
                  <a:srgbClr val="2E4257"/>
                </a:solidFill>
                <a:latin typeface="Be Vietnam Pro" panose="020F0502020204030204" pitchFamily="34"/>
              </a:rPr>
              <a:t>World Bank Accountability Mechanism. (2025). Case update: Conclusion of the dispute resolution process in Viet Nam.</a:t>
            </a:r>
            <a:r>
              <a:rPr sz="1300" b="0" i="0">
                <a:solidFill>
                  <a:srgbClr val="4E637A"/>
                </a:solidFill>
                <a:latin typeface="Be Vietnam Pro" panose="020F0502020204030204" pitchFamily="34"/>
                <a:hlinkClick r:id="rId8"/>
              </a:rPr>
              <a:t> https://accountability.worldbank.org/en/news/2025/conclusion-of-drs-in-vietnam</a:t>
            </a:r>
          </a:p>
        </p:txBody>
      </p:sp>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120</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578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995132" y="431196"/>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83801" y="6392394"/>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28211" y="4438038"/>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Index of sources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INDEX</a:t>
            </a:r>
          </a:p>
        </p:txBody>
      </p:sp>
      <p:sp>
        <p:nvSpPr>
          <p:cNvPr id="9" name="Index hint"/>
          <p:cNvSpPr txBox="1"/>
          <p:nvPr/>
        </p:nvSpPr>
        <p:spPr>
          <a:xfrm>
            <a:off x="548640" y="1389888"/>
            <a:ext cx="11094415" cy="292608"/>
          </a:xfrm>
          <a:prstGeom prst="rect">
            <a:avLst/>
          </a:prstGeom>
          <a:noFill/>
        </p:spPr>
        <p:txBody>
          <a:bodyPr wrap="square" lIns="0" rIns="0" tIns="18288" bIns="18288" anchor="t">
            <a:noAutofit/>
          </a:bodyPr>
          <a:lstStyle/>
          <a:p>
            <a:pPr algn="l">
              <a:lnSpc>
                <a:spcPts val="1560"/>
              </a:lnSpc>
              <a:spcBef>
                <a:spcPts val="0"/>
              </a:spcBef>
              <a:spcAft>
                <a:spcPts val="0"/>
              </a:spcAft>
            </a:pPr>
            <a:r>
              <a:rPr sz="1300" b="0" i="1">
                <a:solidFill>
                  <a:srgbClr val="4B5A69"/>
                </a:solidFill>
                <a:latin typeface="Be Vietnam Pro" panose="020F0502020204030204" pitchFamily="34"/>
              </a:rPr>
              <a:t>Click a number to open its source card; the card's “Back” button returns to the slide you came from.</a:t>
            </a:r>
          </a:p>
        </p:txBody>
      </p:sp>
      <p:sp>
        <p:nvSpPr>
          <p:cNvPr id="10" name="Index 1">
            <a:hlinkClick r:id="rId6" action="ppaction://hlinksldjump"/>
          </p:cNvPr>
          <p:cNvSpPr/>
          <p:nvPr/>
        </p:nvSpPr>
        <p:spPr>
          <a:xfrm>
            <a:off x="585216"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6" action="ppaction://hlinksldjump"/>
              </a:rPr>
              <a:t>1</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2011</a:t>
            </a:r>
          </a:p>
        </p:txBody>
      </p:sp>
      <p:sp>
        <p:nvSpPr>
          <p:cNvPr id="11" name="Index 2">
            <a:hlinkClick r:id="rId7" action="ppaction://hlinksldjump"/>
          </p:cNvPr>
          <p:cNvSpPr/>
          <p:nvPr/>
        </p:nvSpPr>
        <p:spPr>
          <a:xfrm>
            <a:off x="1694657"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7" action="ppaction://hlinksldjump"/>
              </a:rPr>
              <a:t>2</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2009</a:t>
            </a:r>
          </a:p>
        </p:txBody>
      </p:sp>
      <p:sp>
        <p:nvSpPr>
          <p:cNvPr id="12" name="Index 3">
            <a:hlinkClick r:id="rId8" action="ppaction://hlinksldjump"/>
          </p:cNvPr>
          <p:cNvSpPr/>
          <p:nvPr/>
        </p:nvSpPr>
        <p:spPr>
          <a:xfrm>
            <a:off x="2804099"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8" action="ppaction://hlinksldjump"/>
              </a:rPr>
              <a:t>3</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WBG 2019</a:t>
            </a:r>
          </a:p>
        </p:txBody>
      </p:sp>
      <p:sp>
        <p:nvSpPr>
          <p:cNvPr id="13" name="Index 4">
            <a:hlinkClick r:id="rId9" action="ppaction://hlinksldjump"/>
          </p:cNvPr>
          <p:cNvSpPr/>
          <p:nvPr/>
        </p:nvSpPr>
        <p:spPr>
          <a:xfrm>
            <a:off x="3913540"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9" action="ppaction://hlinksldjump"/>
              </a:rPr>
              <a:t>4</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VN News 2026</a:t>
            </a:r>
          </a:p>
        </p:txBody>
      </p:sp>
      <p:sp>
        <p:nvSpPr>
          <p:cNvPr id="14" name="Index 5">
            <a:hlinkClick r:id="rId10" action="ppaction://hlinksldjump"/>
          </p:cNvPr>
          <p:cNvSpPr/>
          <p:nvPr/>
        </p:nvSpPr>
        <p:spPr>
          <a:xfrm>
            <a:off x="5022982"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0" action="ppaction://hlinksldjump"/>
              </a:rPr>
              <a:t>5</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2024</a:t>
            </a:r>
          </a:p>
        </p:txBody>
      </p:sp>
      <p:sp>
        <p:nvSpPr>
          <p:cNvPr id="15" name="Index 6">
            <a:hlinkClick r:id="rId11" action="ppaction://hlinksldjump"/>
          </p:cNvPr>
          <p:cNvSpPr/>
          <p:nvPr/>
        </p:nvSpPr>
        <p:spPr>
          <a:xfrm>
            <a:off x="6132423"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1" action="ppaction://hlinksldjump"/>
              </a:rPr>
              <a:t>6</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2024</a:t>
            </a:r>
          </a:p>
        </p:txBody>
      </p:sp>
      <p:sp>
        <p:nvSpPr>
          <p:cNvPr id="16" name="Index 7">
            <a:hlinkClick r:id="rId12" action="ppaction://hlinksldjump"/>
          </p:cNvPr>
          <p:cNvSpPr/>
          <p:nvPr/>
        </p:nvSpPr>
        <p:spPr>
          <a:xfrm>
            <a:off x="7241865"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2" action="ppaction://hlinksldjump"/>
              </a:rPr>
              <a:t>7</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IBRD 2026</a:t>
            </a:r>
          </a:p>
        </p:txBody>
      </p:sp>
      <p:sp>
        <p:nvSpPr>
          <p:cNvPr id="17" name="Index 8">
            <a:hlinkClick r:id="rId13" action="ppaction://hlinksldjump"/>
          </p:cNvPr>
          <p:cNvSpPr/>
          <p:nvPr/>
        </p:nvSpPr>
        <p:spPr>
          <a:xfrm>
            <a:off x="8351306"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3" action="ppaction://hlinksldjump"/>
              </a:rPr>
              <a:t>8</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WBG n.d.</a:t>
            </a:r>
          </a:p>
        </p:txBody>
      </p:sp>
      <p:sp>
        <p:nvSpPr>
          <p:cNvPr id="18" name="Index 9">
            <a:hlinkClick r:id="rId14" action="ppaction://hlinksldjump"/>
          </p:cNvPr>
          <p:cNvSpPr/>
          <p:nvPr/>
        </p:nvSpPr>
        <p:spPr>
          <a:xfrm>
            <a:off x="9460748"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4" action="ppaction://hlinksldjump"/>
              </a:rPr>
              <a:t>9</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WBG Archives n.d.</a:t>
            </a:r>
          </a:p>
        </p:txBody>
      </p:sp>
      <p:sp>
        <p:nvSpPr>
          <p:cNvPr id="19" name="Index 10">
            <a:hlinkClick r:id="rId15" action="ppaction://hlinksldjump"/>
          </p:cNvPr>
          <p:cNvSpPr/>
          <p:nvPr/>
        </p:nvSpPr>
        <p:spPr>
          <a:xfrm>
            <a:off x="10570189" y="170992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5" action="ppaction://hlinksldjump"/>
              </a:rPr>
              <a:t>10</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20" name="Index 11">
            <a:hlinkClick r:id="rId16" action="ppaction://hlinksldjump"/>
          </p:cNvPr>
          <p:cNvSpPr/>
          <p:nvPr/>
        </p:nvSpPr>
        <p:spPr>
          <a:xfrm>
            <a:off x="585216"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6" action="ppaction://hlinksldjump"/>
              </a:rPr>
              <a:t>11</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2026</a:t>
            </a:r>
          </a:p>
        </p:txBody>
      </p:sp>
      <p:sp>
        <p:nvSpPr>
          <p:cNvPr id="21" name="Index 12">
            <a:hlinkClick r:id="rId17" action="ppaction://hlinksldjump"/>
          </p:cNvPr>
          <p:cNvSpPr/>
          <p:nvPr/>
        </p:nvSpPr>
        <p:spPr>
          <a:xfrm>
            <a:off x="1694657"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7" action="ppaction://hlinksldjump"/>
              </a:rPr>
              <a:t>12</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2018</a:t>
            </a:r>
          </a:p>
        </p:txBody>
      </p:sp>
      <p:sp>
        <p:nvSpPr>
          <p:cNvPr id="22" name="Index 13">
            <a:hlinkClick r:id="rId18" action="ppaction://hlinksldjump"/>
          </p:cNvPr>
          <p:cNvSpPr/>
          <p:nvPr/>
        </p:nvSpPr>
        <p:spPr>
          <a:xfrm>
            <a:off x="2804099"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8" action="ppaction://hlinksldjump"/>
              </a:rPr>
              <a:t>13</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Treasury 2025</a:t>
            </a:r>
          </a:p>
        </p:txBody>
      </p:sp>
      <p:sp>
        <p:nvSpPr>
          <p:cNvPr id="23" name="Index 14">
            <a:hlinkClick r:id="rId19" action="ppaction://hlinksldjump"/>
          </p:cNvPr>
          <p:cNvSpPr/>
          <p:nvPr/>
        </p:nvSpPr>
        <p:spPr>
          <a:xfrm>
            <a:off x="3913540"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19" action="ppaction://hlinksldjump"/>
              </a:rPr>
              <a:t>14</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Wes 2023</a:t>
            </a:r>
          </a:p>
        </p:txBody>
      </p:sp>
      <p:sp>
        <p:nvSpPr>
          <p:cNvPr id="24" name="Index 15">
            <a:hlinkClick r:id="rId20" action="ppaction://hlinksldjump"/>
          </p:cNvPr>
          <p:cNvSpPr/>
          <p:nvPr/>
        </p:nvSpPr>
        <p:spPr>
          <a:xfrm>
            <a:off x="5022982"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0" action="ppaction://hlinksldjump"/>
              </a:rPr>
              <a:t>15</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Gelb 2016</a:t>
            </a:r>
          </a:p>
        </p:txBody>
      </p:sp>
      <p:sp>
        <p:nvSpPr>
          <p:cNvPr id="25" name="Index 16">
            <a:hlinkClick r:id="rId21" action="ppaction://hlinksldjump"/>
          </p:cNvPr>
          <p:cNvSpPr/>
          <p:nvPr/>
        </p:nvSpPr>
        <p:spPr>
          <a:xfrm>
            <a:off x="6132423"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1" action="ppaction://hlinksldjump"/>
              </a:rPr>
              <a:t>16</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Treasury n.d.</a:t>
            </a:r>
          </a:p>
        </p:txBody>
      </p:sp>
      <p:sp>
        <p:nvSpPr>
          <p:cNvPr id="26" name="Index 17">
            <a:hlinkClick r:id="rId22" action="ppaction://hlinksldjump"/>
          </p:cNvPr>
          <p:cNvSpPr/>
          <p:nvPr/>
        </p:nvSpPr>
        <p:spPr>
          <a:xfrm>
            <a:off x="7241865"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2" action="ppaction://hlinksldjump"/>
              </a:rPr>
              <a:t>17</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Treasury 2020</a:t>
            </a:r>
          </a:p>
        </p:txBody>
      </p:sp>
      <p:sp>
        <p:nvSpPr>
          <p:cNvPr id="27" name="Index 18">
            <a:hlinkClick r:id="rId23" action="ppaction://hlinksldjump"/>
          </p:cNvPr>
          <p:cNvSpPr/>
          <p:nvPr/>
        </p:nvSpPr>
        <p:spPr>
          <a:xfrm>
            <a:off x="8351306"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3" action="ppaction://hlinksldjump"/>
              </a:rPr>
              <a:t>18</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2014</a:t>
            </a:r>
          </a:p>
        </p:txBody>
      </p:sp>
      <p:sp>
        <p:nvSpPr>
          <p:cNvPr id="28" name="Index 19">
            <a:hlinkClick r:id="rId24" action="ppaction://hlinksldjump"/>
          </p:cNvPr>
          <p:cNvSpPr/>
          <p:nvPr/>
        </p:nvSpPr>
        <p:spPr>
          <a:xfrm>
            <a:off x="9460748"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4" action="ppaction://hlinksldjump"/>
              </a:rPr>
              <a:t>19</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IBRD 2025</a:t>
            </a:r>
          </a:p>
        </p:txBody>
      </p:sp>
      <p:sp>
        <p:nvSpPr>
          <p:cNvPr id="29" name="Index 20">
            <a:hlinkClick r:id="rId25" action="ppaction://hlinksldjump"/>
          </p:cNvPr>
          <p:cNvSpPr/>
          <p:nvPr/>
        </p:nvSpPr>
        <p:spPr>
          <a:xfrm>
            <a:off x="10570189" y="2481072"/>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5" action="ppaction://hlinksldjump"/>
              </a:rPr>
              <a:t>20</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Treasury n.d.</a:t>
            </a:r>
          </a:p>
        </p:txBody>
      </p:sp>
      <p:sp>
        <p:nvSpPr>
          <p:cNvPr id="30" name="Index 21">
            <a:hlinkClick r:id="rId26" action="ppaction://hlinksldjump"/>
          </p:cNvPr>
          <p:cNvSpPr/>
          <p:nvPr/>
        </p:nvSpPr>
        <p:spPr>
          <a:xfrm>
            <a:off x="585216"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6" action="ppaction://hlinksldjump"/>
              </a:rPr>
              <a:t>21</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2014</a:t>
            </a:r>
          </a:p>
        </p:txBody>
      </p:sp>
      <p:sp>
        <p:nvSpPr>
          <p:cNvPr id="31" name="Index 22">
            <a:hlinkClick r:id="rId27" action="ppaction://hlinksldjump"/>
          </p:cNvPr>
          <p:cNvSpPr/>
          <p:nvPr/>
        </p:nvSpPr>
        <p:spPr>
          <a:xfrm>
            <a:off x="1694657"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7" action="ppaction://hlinksldjump"/>
              </a:rPr>
              <a:t>22</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32" name="Index 23">
            <a:hlinkClick r:id="rId28" action="ppaction://hlinksldjump"/>
          </p:cNvPr>
          <p:cNvSpPr/>
          <p:nvPr/>
        </p:nvSpPr>
        <p:spPr>
          <a:xfrm>
            <a:off x="2804099"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8" action="ppaction://hlinksldjump"/>
              </a:rPr>
              <a:t>23</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33" name="Index 24">
            <a:hlinkClick r:id="rId29" action="ppaction://hlinksldjump"/>
          </p:cNvPr>
          <p:cNvSpPr/>
          <p:nvPr/>
        </p:nvSpPr>
        <p:spPr>
          <a:xfrm>
            <a:off x="3913540"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29" action="ppaction://hlinksldjump"/>
              </a:rPr>
              <a:t>24</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2020</a:t>
            </a:r>
          </a:p>
        </p:txBody>
      </p:sp>
      <p:sp>
        <p:nvSpPr>
          <p:cNvPr id="34" name="Index 25">
            <a:hlinkClick r:id="rId30" action="ppaction://hlinksldjump"/>
          </p:cNvPr>
          <p:cNvSpPr/>
          <p:nvPr/>
        </p:nvSpPr>
        <p:spPr>
          <a:xfrm>
            <a:off x="5022982"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0" action="ppaction://hlinksldjump"/>
              </a:rPr>
              <a:t>25</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35" name="Index 26">
            <a:hlinkClick r:id="rId31" action="ppaction://hlinksldjump"/>
          </p:cNvPr>
          <p:cNvSpPr/>
          <p:nvPr/>
        </p:nvSpPr>
        <p:spPr>
          <a:xfrm>
            <a:off x="6132423"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1" action="ppaction://hlinksldjump"/>
              </a:rPr>
              <a:t>26</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2006</a:t>
            </a:r>
          </a:p>
        </p:txBody>
      </p:sp>
      <p:sp>
        <p:nvSpPr>
          <p:cNvPr id="36" name="Index 27">
            <a:hlinkClick r:id="rId32" action="ppaction://hlinksldjump"/>
          </p:cNvPr>
          <p:cNvSpPr/>
          <p:nvPr/>
        </p:nvSpPr>
        <p:spPr>
          <a:xfrm>
            <a:off x="7241865"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2" action="ppaction://hlinksldjump"/>
              </a:rPr>
              <a:t>27</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2017</a:t>
            </a:r>
          </a:p>
        </p:txBody>
      </p:sp>
      <p:sp>
        <p:nvSpPr>
          <p:cNvPr id="37" name="Index 28">
            <a:hlinkClick r:id="rId33" action="ppaction://hlinksldjump"/>
          </p:cNvPr>
          <p:cNvSpPr/>
          <p:nvPr/>
        </p:nvSpPr>
        <p:spPr>
          <a:xfrm>
            <a:off x="8351306"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3" action="ppaction://hlinksldjump"/>
              </a:rPr>
              <a:t>28</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2011</a:t>
            </a:r>
          </a:p>
        </p:txBody>
      </p:sp>
      <p:sp>
        <p:nvSpPr>
          <p:cNvPr id="38" name="Index 29">
            <a:hlinkClick r:id="rId34" action="ppaction://hlinksldjump"/>
          </p:cNvPr>
          <p:cNvSpPr/>
          <p:nvPr/>
        </p:nvSpPr>
        <p:spPr>
          <a:xfrm>
            <a:off x="9460748"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4" action="ppaction://hlinksldjump"/>
              </a:rPr>
              <a:t>29</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2011</a:t>
            </a:r>
          </a:p>
        </p:txBody>
      </p:sp>
      <p:sp>
        <p:nvSpPr>
          <p:cNvPr id="39" name="Index 30">
            <a:hlinkClick r:id="rId35" action="ppaction://hlinksldjump"/>
          </p:cNvPr>
          <p:cNvSpPr/>
          <p:nvPr/>
        </p:nvSpPr>
        <p:spPr>
          <a:xfrm>
            <a:off x="10570189" y="3252216"/>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5" action="ppaction://hlinksldjump"/>
              </a:rPr>
              <a:t>30</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DTiNews 2011</a:t>
            </a:r>
          </a:p>
        </p:txBody>
      </p:sp>
      <p:sp>
        <p:nvSpPr>
          <p:cNvPr id="40" name="Index 31">
            <a:hlinkClick r:id="rId36" action="ppaction://hlinksldjump"/>
          </p:cNvPr>
          <p:cNvSpPr/>
          <p:nvPr/>
        </p:nvSpPr>
        <p:spPr>
          <a:xfrm>
            <a:off x="585216"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6" action="ppaction://hlinksldjump"/>
              </a:rPr>
              <a:t>31</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2010</a:t>
            </a:r>
          </a:p>
        </p:txBody>
      </p:sp>
      <p:sp>
        <p:nvSpPr>
          <p:cNvPr id="41" name="Index 32">
            <a:hlinkClick r:id="rId37" action="ppaction://hlinksldjump"/>
          </p:cNvPr>
          <p:cNvSpPr/>
          <p:nvPr/>
        </p:nvSpPr>
        <p:spPr>
          <a:xfrm>
            <a:off x="1694657"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7" action="ppaction://hlinksldjump"/>
              </a:rPr>
              <a:t>32</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IEG n.d.</a:t>
            </a:r>
          </a:p>
        </p:txBody>
      </p:sp>
      <p:sp>
        <p:nvSpPr>
          <p:cNvPr id="42" name="Index 33">
            <a:hlinkClick r:id="rId38" action="ppaction://hlinksldjump"/>
          </p:cNvPr>
          <p:cNvSpPr/>
          <p:nvPr/>
        </p:nvSpPr>
        <p:spPr>
          <a:xfrm>
            <a:off x="2804099"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8" action="ppaction://hlinksldjump"/>
              </a:rPr>
              <a:t>33</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2017</a:t>
            </a:r>
          </a:p>
        </p:txBody>
      </p:sp>
      <p:sp>
        <p:nvSpPr>
          <p:cNvPr id="43" name="Index 34">
            <a:hlinkClick r:id="rId39" action="ppaction://hlinksldjump"/>
          </p:cNvPr>
          <p:cNvSpPr/>
          <p:nvPr/>
        </p:nvSpPr>
        <p:spPr>
          <a:xfrm>
            <a:off x="3913540"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39" action="ppaction://hlinksldjump"/>
              </a:rPr>
              <a:t>34</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44" name="Index 35">
            <a:hlinkClick r:id="rId40" action="ppaction://hlinksldjump"/>
          </p:cNvPr>
          <p:cNvSpPr/>
          <p:nvPr/>
        </p:nvSpPr>
        <p:spPr>
          <a:xfrm>
            <a:off x="5022982"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0" action="ppaction://hlinksldjump"/>
              </a:rPr>
              <a:t>35</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ADB 2024</a:t>
            </a:r>
          </a:p>
        </p:txBody>
      </p:sp>
      <p:sp>
        <p:nvSpPr>
          <p:cNvPr id="45" name="Index 36">
            <a:hlinkClick r:id="rId41" action="ppaction://hlinksldjump"/>
          </p:cNvPr>
          <p:cNvSpPr/>
          <p:nvPr/>
        </p:nvSpPr>
        <p:spPr>
          <a:xfrm>
            <a:off x="6132423"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1" action="ppaction://hlinksldjump"/>
              </a:rPr>
              <a:t>36</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46" name="Index 37">
            <a:hlinkClick r:id="rId42" action="ppaction://hlinksldjump"/>
          </p:cNvPr>
          <p:cNvSpPr/>
          <p:nvPr/>
        </p:nvSpPr>
        <p:spPr>
          <a:xfrm>
            <a:off x="7241865"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2" action="ppaction://hlinksldjump"/>
              </a:rPr>
              <a:t>37</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IEG 2023</a:t>
            </a:r>
          </a:p>
        </p:txBody>
      </p:sp>
      <p:sp>
        <p:nvSpPr>
          <p:cNvPr id="47" name="Index 38">
            <a:hlinkClick r:id="rId43" action="ppaction://hlinksldjump"/>
          </p:cNvPr>
          <p:cNvSpPr/>
          <p:nvPr/>
        </p:nvSpPr>
        <p:spPr>
          <a:xfrm>
            <a:off x="8351306"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3" action="ppaction://hlinksldjump"/>
              </a:rPr>
              <a:t>38</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48" name="Index 39">
            <a:hlinkClick r:id="rId44" action="ppaction://hlinksldjump"/>
          </p:cNvPr>
          <p:cNvSpPr/>
          <p:nvPr/>
        </p:nvSpPr>
        <p:spPr>
          <a:xfrm>
            <a:off x="9460748"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4" action="ppaction://hlinksldjump"/>
              </a:rPr>
              <a:t>39</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2015</a:t>
            </a:r>
          </a:p>
        </p:txBody>
      </p:sp>
      <p:sp>
        <p:nvSpPr>
          <p:cNvPr id="49" name="Index 40">
            <a:hlinkClick r:id="rId45" action="ppaction://hlinksldjump"/>
          </p:cNvPr>
          <p:cNvSpPr/>
          <p:nvPr/>
        </p:nvSpPr>
        <p:spPr>
          <a:xfrm>
            <a:off x="10570189" y="4023360"/>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5" action="ppaction://hlinksldjump"/>
              </a:rPr>
              <a:t>40</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n.d.</a:t>
            </a:r>
          </a:p>
        </p:txBody>
      </p:sp>
      <p:sp>
        <p:nvSpPr>
          <p:cNvPr id="50" name="Index 41">
            <a:hlinkClick r:id="rId46" action="ppaction://hlinksldjump"/>
          </p:cNvPr>
          <p:cNvSpPr/>
          <p:nvPr/>
        </p:nvSpPr>
        <p:spPr>
          <a:xfrm>
            <a:off x="585216"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6" action="ppaction://hlinksldjump"/>
              </a:rPr>
              <a:t>41</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2022</a:t>
            </a:r>
          </a:p>
        </p:txBody>
      </p:sp>
      <p:sp>
        <p:nvSpPr>
          <p:cNvPr id="51" name="Index 42">
            <a:hlinkClick r:id="rId47" action="ppaction://hlinksldjump"/>
          </p:cNvPr>
          <p:cNvSpPr/>
          <p:nvPr/>
        </p:nvSpPr>
        <p:spPr>
          <a:xfrm>
            <a:off x="1694657"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7" action="ppaction://hlinksldjump"/>
              </a:rPr>
              <a:t>42</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IEG 2022</a:t>
            </a:r>
          </a:p>
        </p:txBody>
      </p:sp>
      <p:sp>
        <p:nvSpPr>
          <p:cNvPr id="52" name="Index 43">
            <a:hlinkClick r:id="rId48" action="ppaction://hlinksldjump"/>
          </p:cNvPr>
          <p:cNvSpPr/>
          <p:nvPr/>
        </p:nvSpPr>
        <p:spPr>
          <a:xfrm>
            <a:off x="2804099"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8" action="ppaction://hlinksldjump"/>
              </a:rPr>
              <a:t>43</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2022</a:t>
            </a:r>
          </a:p>
        </p:txBody>
      </p:sp>
      <p:sp>
        <p:nvSpPr>
          <p:cNvPr id="53" name="Index 44">
            <a:hlinkClick r:id="rId49" action="ppaction://hlinksldjump"/>
          </p:cNvPr>
          <p:cNvSpPr/>
          <p:nvPr/>
        </p:nvSpPr>
        <p:spPr>
          <a:xfrm>
            <a:off x="3913540"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49" action="ppaction://hlinksldjump"/>
              </a:rPr>
              <a:t>44</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2014</a:t>
            </a:r>
          </a:p>
        </p:txBody>
      </p:sp>
      <p:sp>
        <p:nvSpPr>
          <p:cNvPr id="54" name="Index 45">
            <a:hlinkClick r:id="rId50" action="ppaction://hlinksldjump"/>
          </p:cNvPr>
          <p:cNvSpPr/>
          <p:nvPr/>
        </p:nvSpPr>
        <p:spPr>
          <a:xfrm>
            <a:off x="5022982"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0" action="ppaction://hlinksldjump"/>
              </a:rPr>
              <a:t>45</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Baird 2011</a:t>
            </a:r>
          </a:p>
        </p:txBody>
      </p:sp>
      <p:sp>
        <p:nvSpPr>
          <p:cNvPr id="55" name="Index 46">
            <a:hlinkClick r:id="rId51" action="ppaction://hlinksldjump"/>
          </p:cNvPr>
          <p:cNvSpPr/>
          <p:nvPr/>
        </p:nvSpPr>
        <p:spPr>
          <a:xfrm>
            <a:off x="6132423"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1" action="ppaction://hlinksldjump"/>
              </a:rPr>
              <a:t>46</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2013</a:t>
            </a:r>
          </a:p>
        </p:txBody>
      </p:sp>
      <p:sp>
        <p:nvSpPr>
          <p:cNvPr id="56" name="Index 47">
            <a:hlinkClick r:id="rId52" action="ppaction://hlinksldjump"/>
          </p:cNvPr>
          <p:cNvSpPr/>
          <p:nvPr/>
        </p:nvSpPr>
        <p:spPr>
          <a:xfrm>
            <a:off x="7241865"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2" action="ppaction://hlinksldjump"/>
              </a:rPr>
              <a:t>47</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2017</a:t>
            </a:r>
          </a:p>
        </p:txBody>
      </p:sp>
      <p:sp>
        <p:nvSpPr>
          <p:cNvPr id="57" name="Index 48">
            <a:hlinkClick r:id="rId53" action="ppaction://hlinksldjump"/>
          </p:cNvPr>
          <p:cNvSpPr/>
          <p:nvPr/>
        </p:nvSpPr>
        <p:spPr>
          <a:xfrm>
            <a:off x="8351306"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3" action="ppaction://hlinksldjump"/>
              </a:rPr>
              <a:t>48</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2013</a:t>
            </a:r>
          </a:p>
        </p:txBody>
      </p:sp>
      <p:sp>
        <p:nvSpPr>
          <p:cNvPr id="58" name="Index 49">
            <a:hlinkClick r:id="rId54" action="ppaction://hlinksldjump"/>
          </p:cNvPr>
          <p:cNvSpPr/>
          <p:nvPr/>
        </p:nvSpPr>
        <p:spPr>
          <a:xfrm>
            <a:off x="9460748"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4" action="ppaction://hlinksldjump"/>
              </a:rPr>
              <a:t>49</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2016</a:t>
            </a:r>
          </a:p>
        </p:txBody>
      </p:sp>
      <p:sp>
        <p:nvSpPr>
          <p:cNvPr id="59" name="Index 50">
            <a:hlinkClick r:id="rId55" action="ppaction://hlinksldjump"/>
          </p:cNvPr>
          <p:cNvSpPr/>
          <p:nvPr/>
        </p:nvSpPr>
        <p:spPr>
          <a:xfrm>
            <a:off x="10570189" y="4794504"/>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5" action="ppaction://hlinksldjump"/>
              </a:rPr>
              <a:t>50</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2020</a:t>
            </a:r>
          </a:p>
        </p:txBody>
      </p:sp>
      <p:sp>
        <p:nvSpPr>
          <p:cNvPr id="60" name="Index 51">
            <a:hlinkClick r:id="rId56" action="ppaction://hlinksldjump"/>
          </p:cNvPr>
          <p:cNvSpPr/>
          <p:nvPr/>
        </p:nvSpPr>
        <p:spPr>
          <a:xfrm>
            <a:off x="585216"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6" action="ppaction://hlinksldjump"/>
              </a:rPr>
              <a:t>51</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2021</a:t>
            </a:r>
          </a:p>
        </p:txBody>
      </p:sp>
      <p:sp>
        <p:nvSpPr>
          <p:cNvPr id="61" name="Index 52">
            <a:hlinkClick r:id="rId57" action="ppaction://hlinksldjump"/>
          </p:cNvPr>
          <p:cNvSpPr/>
          <p:nvPr/>
        </p:nvSpPr>
        <p:spPr>
          <a:xfrm>
            <a:off x="1694657"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7" action="ppaction://hlinksldjump"/>
              </a:rPr>
              <a:t>52</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2023</a:t>
            </a:r>
          </a:p>
        </p:txBody>
      </p:sp>
      <p:sp>
        <p:nvSpPr>
          <p:cNvPr id="62" name="Index 53">
            <a:hlinkClick r:id="rId58" action="ppaction://hlinksldjump"/>
          </p:cNvPr>
          <p:cNvSpPr/>
          <p:nvPr/>
        </p:nvSpPr>
        <p:spPr>
          <a:xfrm>
            <a:off x="2804099"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8" action="ppaction://hlinksldjump"/>
              </a:rPr>
              <a:t>53</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2025</a:t>
            </a:r>
          </a:p>
        </p:txBody>
      </p:sp>
      <p:sp>
        <p:nvSpPr>
          <p:cNvPr id="63" name="Index 54">
            <a:hlinkClick r:id="rId59" action="ppaction://hlinksldjump"/>
          </p:cNvPr>
          <p:cNvSpPr/>
          <p:nvPr/>
        </p:nvSpPr>
        <p:spPr>
          <a:xfrm>
            <a:off x="3913540"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59" action="ppaction://hlinksldjump"/>
              </a:rPr>
              <a:t>54</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2026</a:t>
            </a:r>
          </a:p>
        </p:txBody>
      </p:sp>
      <p:sp>
        <p:nvSpPr>
          <p:cNvPr id="64" name="Index 55">
            <a:hlinkClick r:id="rId60" action="ppaction://hlinksldjump"/>
          </p:cNvPr>
          <p:cNvSpPr/>
          <p:nvPr/>
        </p:nvSpPr>
        <p:spPr>
          <a:xfrm>
            <a:off x="5022982"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60" action="ppaction://hlinksldjump"/>
              </a:rPr>
              <a:t>55</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2020</a:t>
            </a:r>
          </a:p>
        </p:txBody>
      </p:sp>
      <p:sp>
        <p:nvSpPr>
          <p:cNvPr id="65" name="Index 56">
            <a:hlinkClick r:id="rId61" action="ppaction://hlinksldjump"/>
          </p:cNvPr>
          <p:cNvSpPr/>
          <p:nvPr/>
        </p:nvSpPr>
        <p:spPr>
          <a:xfrm>
            <a:off x="6132423"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61" action="ppaction://hlinksldjump"/>
              </a:rPr>
              <a:t>56</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Gov. VN 2014</a:t>
            </a:r>
          </a:p>
        </p:txBody>
      </p:sp>
      <p:sp>
        <p:nvSpPr>
          <p:cNvPr id="66" name="Index 57">
            <a:hlinkClick r:id="rId62" action="ppaction://hlinksldjump"/>
          </p:cNvPr>
          <p:cNvSpPr/>
          <p:nvPr/>
        </p:nvSpPr>
        <p:spPr>
          <a:xfrm>
            <a:off x="7241865"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62" action="ppaction://hlinksldjump"/>
              </a:rPr>
              <a:t>57</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Insp. Panel 2024</a:t>
            </a:r>
          </a:p>
        </p:txBody>
      </p:sp>
      <p:sp>
        <p:nvSpPr>
          <p:cNvPr id="67" name="Index 58">
            <a:hlinkClick r:id="rId63" action="ppaction://hlinksldjump"/>
          </p:cNvPr>
          <p:cNvSpPr/>
          <p:nvPr/>
        </p:nvSpPr>
        <p:spPr>
          <a:xfrm>
            <a:off x="8351306" y="5565648"/>
            <a:ext cx="1036289" cy="679704"/>
          </a:xfrm>
          <a:prstGeom prst="rect">
            <a:avLst/>
          </a:prstGeom>
          <a:solidFill>
            <a:srgbClr val="E8DD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a:t>
            </a:r>
            <a:r>
              <a:rPr sz="1600" b="1" i="0" u="sng">
                <a:solidFill>
                  <a:srgbClr val="A33224"/>
                </a:solidFill>
                <a:latin typeface="Be Vietnam Pro" panose="020F0502020204030204" pitchFamily="34"/>
                <a:hlinkClick r:id="rId63" action="ppaction://hlinksldjump"/>
              </a:rPr>
              <a:t>58</a:t>
            </a:r>
            <a:r>
              <a:rPr sz="1600" b="1" i="0">
                <a:solidFill>
                  <a:srgbClr val="2E4257"/>
                </a:solidFill>
                <a:latin typeface="Be Vietnam Pro" panose="020F0502020204030204" pitchFamily="34"/>
              </a:rPr>
              <a:t>]</a:t>
            </a:r>
          </a:p>
          <a:p>
            <a:pPr algn="ctr">
              <a:lnSpc>
                <a:spcPts val="1439"/>
              </a:lnSpc>
              <a:spcBef>
                <a:spcPts val="0"/>
              </a:spcBef>
              <a:spcAft>
                <a:spcPts val="0"/>
              </a:spcAft>
            </a:pPr>
            <a:r>
              <a:rPr sz="1200" b="0" i="0">
                <a:solidFill>
                  <a:srgbClr val="4B5A69"/>
                </a:solidFill>
                <a:latin typeface="Be Vietnam Pro" panose="020F0502020204030204" pitchFamily="34"/>
              </a:rPr>
              <a:t>WB Acc. 2025</a:t>
            </a:r>
          </a:p>
        </p:txBody>
      </p:sp>
      <p:sp>
        <p:nvSpPr>
          <p:cNvPr id="68"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121</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4" name="!!compass" descr="">
            <a:extLst>
              <a:ext uri="{C183D7F6-B498-43B3-948B-1728B52AA6E4}">
                <adec:decorative xmlns:adec="http://schemas.microsoft.com/office/drawing/2017/decorative" val="1"/>
              </a:ext>
            </a:extLst>
          </p:cNvPr>
          <p:cNvPicPr>
            <a:picLocks noChangeAspect="1"/>
          </p:cNvPicPr>
          <p:nvPr/>
        </p:nvPicPr>
        <p:blipFill>
          <a:blip r:embed="rId3">
            <a:alphaModFix amt="55000"/>
          </a:blip>
          <a:stretch>
            <a:fillRect/>
          </a:stretch>
        </p:blipFill>
        <p:spPr>
          <a:xfrm rot="17160000">
            <a:off x="11045952" y="182880"/>
            <a:ext cx="868680" cy="868680"/>
          </a:xfrm>
          <a:prstGeom prst="rect">
            <a:avLst/>
          </a:prstGeom>
        </p:spPr>
      </p:pic>
      <p:pic>
        <p:nvPicPr>
          <p:cNvPr id="5"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07278" y="332664"/>
            <a:ext cx="310896" cy="310896"/>
          </a:xfrm>
          <a:prstGeom prst="rect">
            <a:avLst/>
          </a:prstGeom>
        </p:spPr>
      </p:pic>
      <p:pic>
        <p:nvPicPr>
          <p:cNvPr id="6"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6282" y="6481269"/>
            <a:ext cx="237744" cy="237744"/>
          </a:xfrm>
          <a:prstGeom prst="rect">
            <a:avLst/>
          </a:prstGeom>
        </p:spPr>
      </p:pic>
      <p:pic>
        <p:nvPicPr>
          <p:cNvPr id="7"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818321" y="4174716"/>
            <a:ext cx="201168" cy="201168"/>
          </a:xfrm>
          <a:prstGeom prst="rect">
            <a:avLst/>
          </a:prstGeom>
        </p:spPr>
      </p:pic>
      <p:sp>
        <p:nvSpPr>
          <p:cNvPr id="2" name="!!title"/>
          <p:cNvSpPr>
            <a:spLocks noGrp="1"/>
          </p:cNvSpPr>
          <p:nvPr>
            <p:ph type="title"/>
          </p:nvPr>
        </p:nvSpPr>
        <p:spPr>
          <a:xfrm>
            <a:off x="548640" y="566928"/>
            <a:ext cx="10332720" cy="713232"/>
          </a:xfrm>
        </p:spPr>
        <p:txBody>
          <a:bodyPr wrap="square" lIns="0" rIns="0" tIns="18288" bIns="18288" anchor="t">
            <a:noAutofit/>
          </a:bodyPr>
          <a:lstStyle/>
          <a:p>
            <a:pPr algn="l">
              <a:lnSpc>
                <a:spcPts val="4000"/>
              </a:lnSpc>
              <a:spcBef>
                <a:spcPts val="0"/>
              </a:spcBef>
              <a:spcAft>
                <a:spcPts val="0"/>
              </a:spcAft>
            </a:pPr>
            <a:r>
              <a:rPr sz="4000" b="0" i="0">
                <a:solidFill>
                  <a:srgbClr val="2E4257"/>
                </a:solidFill>
                <a:latin typeface="Cormorant Garamond" panose="02020404030301010803" pitchFamily="18"/>
              </a:rPr>
              <a:t>Credits</a:t>
            </a:r>
          </a:p>
        </p:txBody>
      </p:sp>
      <p:sp>
        <p:nvSpPr>
          <p:cNvPr id="8"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SOURCES  ·  CREDITS</a:t>
            </a:r>
          </a:p>
        </p:txBody>
      </p:sp>
      <p:sp>
        <p:nvSpPr>
          <p:cNvPr id="9" name="Credits text"/>
          <p:cNvSpPr txBox="1"/>
          <p:nvPr/>
        </p:nvSpPr>
        <p:spPr>
          <a:xfrm>
            <a:off x="548640" y="1481328"/>
            <a:ext cx="7955279" cy="4809744"/>
          </a:xfrm>
          <a:prstGeom prst="rect">
            <a:avLst/>
          </a:prstGeom>
          <a:noFill/>
        </p:spPr>
        <p:txBody>
          <a:bodyPr wrap="square" lIns="0" rIns="0" tIns="18288" bIns="18288" anchor="t">
            <a:noAutofit/>
          </a:bodyPr>
          <a:lstStyle/>
          <a:p>
            <a:pPr algn="l">
              <a:lnSpc>
                <a:spcPts val="1800"/>
              </a:lnSpc>
              <a:spcBef>
                <a:spcPts val="0"/>
              </a:spcBef>
              <a:spcAft>
                <a:spcPts val="900"/>
              </a:spcAft>
            </a:pPr>
            <a:r>
              <a:rPr sz="1500" b="1" i="0">
                <a:solidFill>
                  <a:srgbClr val="2E4257"/>
                </a:solidFill>
                <a:latin typeface="Be Vietnam Pro" panose="020F0502020204030204" pitchFamily="34"/>
              </a:rPr>
              <a:t>Content:</a:t>
            </a:r>
            <a:r>
              <a:rPr sz="1500" b="0" i="0">
                <a:solidFill>
                  <a:srgbClr val="2E4257"/>
                </a:solidFill>
                <a:latin typeface="Be Vietnam Pro" panose="020F0502020204030204" pitchFamily="34"/>
              </a:rPr>
              <a:t> Group 6, “IBRD and its Development Project Financing Activities in Vietnam” (Project Finance, NEU, Investment Economics 65). All figures, names and citations are taken from the paper.</a:t>
            </a:r>
          </a:p>
          <a:p>
            <a:pPr algn="l">
              <a:lnSpc>
                <a:spcPts val="1800"/>
              </a:lnSpc>
              <a:spcBef>
                <a:spcPts val="0"/>
              </a:spcBef>
              <a:spcAft>
                <a:spcPts val="900"/>
              </a:spcAft>
            </a:pPr>
            <a:r>
              <a:rPr sz="1500" b="1" i="0">
                <a:solidFill>
                  <a:srgbClr val="2E4257"/>
                </a:solidFill>
                <a:latin typeface="Be Vietnam Pro" panose="020F0502020204030204" pitchFamily="34"/>
              </a:rPr>
              <a:t>Illustrations:</a:t>
            </a:r>
            <a:r>
              <a:rPr sz="1500" b="0" i="0">
                <a:solidFill>
                  <a:srgbClr val="2E4257"/>
                </a:solidFill>
                <a:latin typeface="Be Vietnam Pro" panose="020F0502020204030204" pitchFamily="34"/>
              </a:rPr>
              <a:t> bank, globe, pylon, coastal city, bridge, ledger and coins, decree scroll, compass rose and red dots are original line drawings made for this deck (scripts/make_art.py, SVG </a:t>
            </a:r>
            <a:r>
              <a:rPr sz="1500" b="0" i="0">
                <a:solidFill>
                  <a:srgbClr val="2E4257"/>
                </a:solidFill>
                <a:latin typeface="Cormorant Garamond" panose="02020404030301010803" pitchFamily="18"/>
              </a:rPr>
              <a:t>→</a:t>
            </a:r>
            <a:r>
              <a:rPr sz="1500" b="0" i="0">
                <a:solidFill>
                  <a:srgbClr val="2E4257"/>
                </a:solidFill>
                <a:latin typeface="Be Vietnam Pro" panose="020F0502020204030204" pitchFamily="34"/>
              </a:rPr>
              <a:t> PNG). Paper and watercolor grounds are generated textures.</a:t>
            </a:r>
          </a:p>
          <a:p>
            <a:pPr algn="l">
              <a:lnSpc>
                <a:spcPts val="1800"/>
              </a:lnSpc>
              <a:spcBef>
                <a:spcPts val="0"/>
              </a:spcBef>
              <a:spcAft>
                <a:spcPts val="900"/>
              </a:spcAft>
            </a:pPr>
            <a:r>
              <a:rPr sz="1500" b="1" i="0">
                <a:solidFill>
                  <a:srgbClr val="2E4257"/>
                </a:solidFill>
                <a:latin typeface="Be Vietnam Pro" panose="020F0502020204030204" pitchFamily="34"/>
              </a:rPr>
              <a:t>Charts:</a:t>
            </a:r>
            <a:r>
              <a:rPr sz="1500" b="0" i="0">
                <a:solidFill>
                  <a:srgbClr val="2E4257"/>
                </a:solidFill>
                <a:latin typeface="Be Vietnam Pro" panose="020F0502020204030204" pitchFamily="34"/>
              </a:rPr>
              <a:t> rebuilt as native PowerPoint charts from numbers printed in the paper's tables, text or figure labels. Figure 8's two original images are reproduced from the paper because their bars carry no labels.</a:t>
            </a:r>
          </a:p>
          <a:p>
            <a:pPr algn="l">
              <a:lnSpc>
                <a:spcPts val="1800"/>
              </a:lnSpc>
              <a:spcBef>
                <a:spcPts val="0"/>
              </a:spcBef>
              <a:spcAft>
                <a:spcPts val="900"/>
              </a:spcAft>
            </a:pPr>
            <a:r>
              <a:rPr sz="1500" b="1" i="0">
                <a:solidFill>
                  <a:srgbClr val="2E4257"/>
                </a:solidFill>
                <a:latin typeface="Be Vietnam Pro" panose="020F0502020204030204" pitchFamily="34"/>
              </a:rPr>
              <a:t>Fonts:</a:t>
            </a:r>
            <a:r>
              <a:rPr sz="1500" b="0" i="0">
                <a:solidFill>
                  <a:srgbClr val="2E4257"/>
                </a:solidFill>
                <a:latin typeface="Be Vietnam Pro" panose="020F0502020204030204" pitchFamily="34"/>
              </a:rPr>
              <a:t> Cormorant Garamond (Christian Thalmann, Catharsis Fonts) and Be Vietnam Pro (Lâm Bảo, Tony Le, ViệtAnh Nguyễn), both SIL Open Font License 1.1 (fonts/).</a:t>
            </a:r>
          </a:p>
          <a:p>
            <a:pPr algn="l">
              <a:lnSpc>
                <a:spcPts val="1800"/>
              </a:lnSpc>
              <a:spcBef>
                <a:spcPts val="0"/>
              </a:spcBef>
              <a:spcAft>
                <a:spcPts val="900"/>
              </a:spcAft>
            </a:pPr>
            <a:r>
              <a:rPr sz="1500" b="1" i="0">
                <a:solidFill>
                  <a:srgbClr val="2E4257"/>
                </a:solidFill>
                <a:latin typeface="Be Vietnam Pro" panose="020F0502020204030204" pitchFamily="34"/>
              </a:rPr>
              <a:t>Style reference:</a:t>
            </a:r>
            <a:r>
              <a:rPr sz="1500" b="0" i="0">
                <a:solidFill>
                  <a:srgbClr val="2E4257"/>
                </a:solidFill>
                <a:latin typeface="Be Vietnam Pro" panose="020F0502020204030204" pitchFamily="34"/>
              </a:rPr>
              <a:t> layout mood only (cream paper, blue watercolor, engravings, red dots) from a third-party slide design; no image or text reused.</a:t>
            </a:r>
          </a:p>
        </p:txBody>
      </p:sp>
      <p:pic>
        <p:nvPicPr>
          <p:cNvPr id="10"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69680" y="2211704"/>
            <a:ext cx="2743200" cy="3257550"/>
          </a:xfrm>
          <a:prstGeom prst="rect">
            <a:avLst/>
          </a:prstGeom>
        </p:spPr>
      </p:pic>
      <p:sp>
        <p:nvSpPr>
          <p:cNvPr id="11"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4B5A69"/>
                </a:solidFill>
                <a:latin typeface="Be Vietnam Pro"/>
              </a:rPr>
              <a:t>122</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600">
        <p159:morph option="byObject"/>
      </p:transition>
    </mc:Choice>
    <mc:Fallback>
      <p:transition spd="slow">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bg"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pic>
        <p:nvPicPr>
          <p:cNvPr id="5" name="!!compass" descr="">
            <a:extLst>
              <a:ext uri="{C183D7F6-B498-43B3-948B-1728B52AA6E4}">
                <adec:decorative xmlns:adec="http://schemas.microsoft.com/office/drawing/2017/decorative" val="1"/>
              </a:ext>
            </a:extLst>
          </p:cNvPr>
          <p:cNvPicPr>
            <a:picLocks noChangeAspect="1"/>
          </p:cNvPicPr>
          <p:nvPr/>
        </p:nvPicPr>
        <p:blipFill>
          <a:blip r:embed="rId3">
            <a:alphaModFix amt="35000"/>
          </a:blip>
          <a:stretch>
            <a:fillRect/>
          </a:stretch>
        </p:blipFill>
        <p:spPr>
          <a:xfrm rot="18540000">
            <a:off x="8778240" y="3566160"/>
            <a:ext cx="2926080" cy="2926080"/>
          </a:xfrm>
          <a:prstGeom prst="rect">
            <a:avLst/>
          </a:prstGeom>
        </p:spPr>
      </p:pic>
      <p:pic>
        <p:nvPicPr>
          <p:cNvPr id="6" name="!!dot1"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769333" y="642639"/>
            <a:ext cx="502920" cy="502920"/>
          </a:xfrm>
          <a:prstGeom prst="rect">
            <a:avLst/>
          </a:prstGeom>
        </p:spPr>
      </p:pic>
      <p:pic>
        <p:nvPicPr>
          <p:cNvPr id="7" name="!!dot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969964" y="6234653"/>
            <a:ext cx="329184" cy="329184"/>
          </a:xfrm>
          <a:prstGeom prst="rect">
            <a:avLst/>
          </a:prstGeom>
        </p:spPr>
      </p:pic>
      <p:pic>
        <p:nvPicPr>
          <p:cNvPr id="8" name="!!dot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94961" y="1414813"/>
            <a:ext cx="256032" cy="256032"/>
          </a:xfrm>
          <a:prstGeom prst="rect">
            <a:avLst/>
          </a:prstGeom>
        </p:spPr>
      </p:pic>
      <p:sp>
        <p:nvSpPr>
          <p:cNvPr id="2" name="!!title"/>
          <p:cNvSpPr>
            <a:spLocks noGrp="1"/>
          </p:cNvSpPr>
          <p:nvPr>
            <p:ph type="title"/>
          </p:nvPr>
        </p:nvSpPr>
        <p:spPr>
          <a:xfrm>
            <a:off x="548640" y="1828800"/>
            <a:ext cx="8229600" cy="1737360"/>
          </a:xfrm>
        </p:spPr>
        <p:txBody>
          <a:bodyPr wrap="square" lIns="0" rIns="0" tIns="18288" bIns="18288" anchor="t">
            <a:noAutofit/>
          </a:bodyPr>
          <a:lstStyle/>
          <a:p>
            <a:pPr algn="l">
              <a:lnSpc>
                <a:spcPts val="13000"/>
              </a:lnSpc>
              <a:spcBef>
                <a:spcPts val="0"/>
              </a:spcBef>
              <a:spcAft>
                <a:spcPts val="0"/>
              </a:spcAft>
            </a:pPr>
            <a:r>
              <a:rPr sz="13000" b="0" i="1" cap="none">
                <a:solidFill>
                  <a:srgbClr val="F4ECD8"/>
                </a:solidFill>
                <a:latin typeface="Cormorant Garamond" panose="02020404030301010803" pitchFamily="18"/>
              </a:rPr>
              <a:t>Thank you</a:t>
            </a:r>
          </a:p>
        </p:txBody>
      </p:sp>
      <p:sp>
        <p:nvSpPr>
          <p:cNvPr id="9" name="!!section"/>
          <p:cNvSpPr txBox="1"/>
          <p:nvPr/>
        </p:nvSpPr>
        <p:spPr>
          <a:xfrm>
            <a:off x="548640" y="502920"/>
            <a:ext cx="10058400" cy="365760"/>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F4ECD8"/>
                </a:solidFill>
                <a:latin typeface="Be Vietnam Pro" panose="020F0502020204030204" pitchFamily="34"/>
              </a:rPr>
              <a:t>IBRD · GROUP 6 · PROJECT FINANCE</a:t>
            </a:r>
          </a:p>
        </p:txBody>
      </p:sp>
      <p:sp>
        <p:nvSpPr>
          <p:cNvPr id="10" name="!!subtitle"/>
          <p:cNvSpPr txBox="1"/>
          <p:nvPr/>
        </p:nvSpPr>
        <p:spPr>
          <a:xfrm>
            <a:off x="548640" y="3840480"/>
            <a:ext cx="7772400" cy="822960"/>
          </a:xfrm>
          <a:prstGeom prst="rect">
            <a:avLst/>
          </a:prstGeom>
          <a:noFill/>
        </p:spPr>
        <p:txBody>
          <a:bodyPr wrap="square" lIns="0" rIns="0" tIns="18288" bIns="18288" anchor="t">
            <a:noAutofit/>
          </a:bodyPr>
          <a:lstStyle/>
          <a:p>
            <a:pPr algn="l">
              <a:lnSpc>
                <a:spcPts val="4800"/>
              </a:lnSpc>
              <a:spcBef>
                <a:spcPts val="0"/>
              </a:spcBef>
              <a:spcAft>
                <a:spcPts val="0"/>
              </a:spcAft>
            </a:pPr>
            <a:r>
              <a:rPr sz="4000" b="0" i="1">
                <a:solidFill>
                  <a:srgbClr val="F2E6CC"/>
                </a:solidFill>
                <a:latin typeface="Cormorant Garamond" panose="02020404030301010803" pitchFamily="18"/>
              </a:rPr>
              <a:t>for your attention</a:t>
            </a:r>
          </a:p>
        </p:txBody>
      </p:sp>
      <p:pic>
        <p:nvPicPr>
          <p:cNvPr id="11" name="!!art"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95360" y="1653757"/>
            <a:ext cx="3108960" cy="3641924"/>
          </a:xfrm>
          <a:prstGeom prst="rect">
            <a:avLst/>
          </a:prstGeom>
        </p:spPr>
      </p:pic>
      <p:sp>
        <p:nvSpPr>
          <p:cNvPr id="12" name="Slide number"/>
          <p:cNvSpPr txBox="1"/>
          <p:nvPr/>
        </p:nvSpPr>
        <p:spPr>
          <a:xfrm>
            <a:off x="10865815" y="6473952"/>
            <a:ext cx="868680" cy="274320"/>
          </a:xfrm>
          <a:prstGeom prst="rect">
            <a:avLst/>
          </a:prstGeom>
          <a:noFill/>
        </p:spPr>
        <p:txBody>
          <a:bodyPr wrap="square" lIns="0" rIns="0" tIns="18288" bIns="18288" anchor="t">
            <a:noAutofit/>
          </a:bodyPr>
          <a:lstStyle/>
          <a:p>
            <a:pPr algn="r"/>
            <a:fld id="{B6F15528-21DE-4FAA-801E-634DDDAF4B2B}" type="slidenum">
              <a:rPr lang="en-US" sz="1200">
                <a:solidFill>
                  <a:srgbClr val="F4ECD8"/>
                </a:solidFill>
                <a:latin typeface="Be Vietnam Pro"/>
              </a:rPr>
              <a:t>123</a:t>
            </a:fld>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(2011). Country Partnership Strategy for the Socialist Republic of Vietnam for the period FY12–FY16.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https://documents.banquemondiale.org/fr/publication/documents-reports/documentdetail/865381468329937627</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3982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a:t>
            </a:r>
            <a:r>
              <a:rPr sz="1400" b="1" i="0">
                <a:solidFill>
                  <a:srgbClr val="2E4257"/>
                </a:solidFill>
                <a:latin typeface="Be Vietnam Pro" panose="020F0502020204030204" pitchFamily="34"/>
              </a:rPr>
              <a:t> · Section 1.2, paragraph 1 (p. 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Bank declared Vietnam IBRD-eligible in 2007, and the first IBRD loan, a US$500 million Public Investment Reform loan, was approved in December 2009 [1; 2].”</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1/2</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(2009, December 30). World Bank, Vietnam sign $500M loan to reform Vietnam's public investments [Press release].</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https://www.worldbank.org/en/news/press-release/2009/12/30/world-bank-vietnam-sign-500m-loan-reform-vietnams-public-investments</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3982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a:t>
            </a:r>
            <a:r>
              <a:rPr sz="1400" b="1" i="0">
                <a:solidFill>
                  <a:srgbClr val="2E4257"/>
                </a:solidFill>
                <a:latin typeface="Be Vietnam Pro" panose="020F0502020204030204" pitchFamily="34"/>
              </a:rPr>
              <a:t> · Section 1.2, paragraph 1 (p. 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Bank declared Vietnam IBRD-eligible in 2007, and the first IBRD loan, a US$500 million Public Investment Reform loan, was approved in December 2009 [1; 2].”</a:t>
            </a:r>
          </a:p>
        </p:txBody>
      </p:sp>
      <p:sp>
        <p:nvSpPr>
          <p:cNvPr id="11" name="Cited for: slide 20"/>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20</a:t>
            </a:r>
            <a:r>
              <a:rPr sz="1400" b="1" i="0">
                <a:solidFill>
                  <a:srgbClr val="2E4257"/>
                </a:solidFill>
                <a:latin typeface="Be Vietnam Pro" panose="020F0502020204030204" pitchFamily="34"/>
              </a:rPr>
              <a:t> · Section 1.4.1, paragraph 2 (p. 16)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“Vietnam's first IBRD loan was a DPF operation: a US$500 million Public Investment Reform loan approved in December 2009 and signed on 30 December 2009 [2].”</a:t>
            </a:r>
          </a:p>
        </p:txBody>
      </p:sp>
      <p:sp>
        <p:nvSpPr>
          <p:cNvPr id="12" name="Cited for: slide 35"/>
          <p:cNvSpPr txBox="1"/>
          <p:nvPr/>
        </p:nvSpPr>
        <p:spPr>
          <a:xfrm>
            <a:off x="4892040" y="34726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35</a:t>
            </a:r>
            <a:r>
              <a:rPr sz="1400" b="1" i="0">
                <a:solidFill>
                  <a:srgbClr val="2E4257"/>
                </a:solidFill>
                <a:latin typeface="Be Vietnam Pro" panose="020F0502020204030204" pitchFamily="34"/>
              </a:rPr>
              <a:t> · Section 2.1.3, paragraph 2 (p. 24)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first operation, a US$500 million IBRD loan, was approved in December 2009 as the first of two single-tranche operations [2].”</a:t>
            </a:r>
          </a:p>
        </p:txBody>
      </p:sp>
      <p:sp>
        <p:nvSpPr>
          <p:cNvPr id="13" name="Cited for: slide 37"/>
          <p:cNvSpPr txBox="1"/>
          <p:nvPr/>
        </p:nvSpPr>
        <p:spPr>
          <a:xfrm>
            <a:off x="4892040" y="453694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37</a:t>
            </a:r>
            <a:r>
              <a:rPr sz="1400" b="1" i="0">
                <a:solidFill>
                  <a:srgbClr val="2E4257"/>
                </a:solidFill>
                <a:latin typeface="Be Vietnam Pro" panose="020F0502020204030204" pitchFamily="34"/>
              </a:rPr>
              <a:t> · Section 2.2.2, paragraph 3 (p. 25)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Public Investment Reform series, for example, rested on policy dialogue about the public investment cycle [2].”</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2/2</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(2009, December 30). World Bank, Vietnam sign $500M loan to reform Vietnam's public investments [Press release].</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https://www.worldbank.org/en/news/press-release/2009/12/30/world-bank-vietnam-sign-500m-loan-reform-vietnams-public-investments</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3982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43"/>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43</a:t>
            </a:r>
            <a:r>
              <a:rPr sz="1400" b="1" i="0">
                <a:solidFill>
                  <a:srgbClr val="2E4257"/>
                </a:solidFill>
                <a:latin typeface="Be Vietnam Pro" panose="020F0502020204030204" pitchFamily="34"/>
              </a:rPr>
              <a:t> · Section 2.3.3, paragraph 2 (p. 28)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Public Investment Reform series, for example, supported measures to strengthen how public investment projects are selected and implemented [2].”</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3" name="Previous page button">
            <a:hlinkClick r:id="rId7"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Group. (2019). Vietnam – Performance and Learning Review of the Country Partnership Framework for the period FY19–FY22. World Bank.</a:t>
            </a:r>
          </a:p>
        </p:txBody>
      </p:sp>
      <p:sp>
        <p:nvSpPr>
          <p:cNvPr id="6" name="Reference URL"/>
          <p:cNvSpPr txBox="1"/>
          <p:nvPr/>
        </p:nvSpPr>
        <p:spPr>
          <a:xfrm>
            <a:off x="548640" y="2578608"/>
            <a:ext cx="3931920" cy="77724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https://documents1.worldbank.org/curated/en/395041558317667311/pdf/Vietnam-Performance-and-Learning-Review-of-the-Country-Partnership-Framework-for-the-Period-FY19-FY22.pdf</a:t>
            </a:r>
          </a:p>
        </p:txBody>
      </p:sp>
      <p:sp>
        <p:nvSpPr>
          <p:cNvPr id="7" name="Status label"/>
          <p:cNvSpPr/>
          <p:nvPr/>
        </p:nvSpPr>
        <p:spPr>
          <a:xfrm>
            <a:off x="548640" y="346557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58114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a:t>
            </a:r>
            <a:r>
              <a:rPr sz="1400" b="1" i="0">
                <a:solidFill>
                  <a:srgbClr val="2E4257"/>
                </a:solidFill>
                <a:latin typeface="Be Vietnam Pro" panose="020F0502020204030204" pitchFamily="34"/>
              </a:rPr>
              <a:t> · Section 1.2, paragraph 1 (p. 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“From 2018, it could borrow only from the IBRD and through non-concessional IDA terms, both at higher interest rates, with transitional support during the IDA18 period (FY18–20) [3].”</a:t>
            </a:r>
          </a:p>
        </p:txBody>
      </p:sp>
      <p:sp>
        <p:nvSpPr>
          <p:cNvPr id="11" name="Cited for: slide 6"/>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6</a:t>
            </a:r>
            <a:r>
              <a:rPr sz="1400" b="1" i="0">
                <a:solidFill>
                  <a:srgbClr val="2E4257"/>
                </a:solidFill>
                <a:latin typeface="Be Vietnam Pro" panose="020F0502020204030204" pitchFamily="34"/>
              </a:rPr>
              <a:t> · Section 1.2, paragraph 2 (p. 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“According to the World Bank, official financing alone will not be enough to meet these needs, so Vietnam will also have to borrow on capital markets and pay more to do so [3].”</a:t>
            </a:r>
          </a:p>
        </p:txBody>
      </p:sp>
      <p:sp>
        <p:nvSpPr>
          <p:cNvPr id="12" name="Cited for: slide 47"/>
          <p:cNvSpPr txBox="1"/>
          <p:nvPr/>
        </p:nvSpPr>
        <p:spPr>
          <a:xfrm>
            <a:off x="4892040" y="347268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47</a:t>
            </a:r>
            <a:r>
              <a:rPr sz="1400" b="1" i="0">
                <a:solidFill>
                  <a:srgbClr val="2E4257"/>
                </a:solidFill>
                <a:latin typeface="Be Vietnam Pro" panose="020F0502020204030204" pitchFamily="34"/>
              </a:rPr>
              <a:t> · Section 3.1.2,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World Bank's 2019 Performance and Learning Review records transitional IDA18 support of SDR 1.593 billion (approximately USD 2.3 billion before a subsequent allocation reduction), alongside continuing access to IBRD financing [3].”</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Viet Nam News. (2026, July). Việt Nam classified as upper-middle-income country in new World Bank evaluations.</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https://vietnamnews.vn/society/1784609/viet-nam-classified-as-upper-middle-income-country-in-new-world-bank-evaluations.html</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a:t>
            </a:r>
            <a:r>
              <a:rPr sz="1400" b="1" i="0">
                <a:solidFill>
                  <a:srgbClr val="2E4257"/>
                </a:solidFill>
                <a:latin typeface="Be Vietnam Pro" panose="020F0502020204030204" pitchFamily="34"/>
              </a:rPr>
              <a:t> · Section 1.2, paragraph 1 (p. 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July 2026, the World Bank reclassified Vietnam as an upper-middle-income economy [4].”</a:t>
            </a:r>
          </a:p>
        </p:txBody>
      </p:sp>
      <p:sp>
        <p:nvSpPr>
          <p:cNvPr id="11" name="Cited for: slide 47"/>
          <p:cNvSpPr txBox="1"/>
          <p:nvPr/>
        </p:nvSpPr>
        <p:spPr>
          <a:xfrm>
            <a:off x="4892040" y="21950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47</a:t>
            </a:r>
            <a:r>
              <a:rPr sz="1400" b="1" i="0">
                <a:solidFill>
                  <a:srgbClr val="2E4257"/>
                </a:solidFill>
                <a:latin typeface="Be Vietnam Pro" panose="020F0502020204030204" pitchFamily="34"/>
              </a:rPr>
              <a:t> · Section 3.1.2, paragraph 3 (p. 32)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World Bank Group reclassified Vietnam as an upper-middle-income economy in July 2026, a country-income classification distinct from its 2017 IDA graduation [4].”</a:t>
            </a:r>
          </a:p>
        </p:txBody>
      </p:sp>
      <p:sp>
        <p:nvSpPr>
          <p:cNvPr id="12" name="Cited for: slide 108"/>
          <p:cNvSpPr txBox="1"/>
          <p:nvPr/>
        </p:nvSpPr>
        <p:spPr>
          <a:xfrm>
            <a:off x="4892040" y="34726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108</a:t>
            </a:r>
            <a:r>
              <a:rPr sz="1400" b="1" i="0">
                <a:solidFill>
                  <a:srgbClr val="2E4257"/>
                </a:solidFill>
                <a:latin typeface="Be Vietnam Pro" panose="020F0502020204030204" pitchFamily="34"/>
              </a:rPr>
              <a:t> · Section 3.4.3, paragraph 1 (p. 60)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“Vietnam's reclassification as an upper-middle-income economy in 2026 means that future World Bank borrowing will rely on IBRD terms [4].”</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(2024, January 12). World Bank approves project to improve living environment for over half a million people in southern Vietnam [Press release].</a:t>
            </a:r>
          </a:p>
        </p:txBody>
      </p:sp>
      <p:sp>
        <p:nvSpPr>
          <p:cNvPr id="6" name="Reference URL"/>
          <p:cNvSpPr txBox="1"/>
          <p:nvPr/>
        </p:nvSpPr>
        <p:spPr>
          <a:xfrm>
            <a:off x="548640" y="2578608"/>
            <a:ext cx="3931920" cy="77724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https://www.worldbank.org/en/news/press-release/2024/01/12/world-bank-approves-project-to-improve-living-environment-for-over-half-a-million-people-in-southern-vietnam</a:t>
            </a:r>
          </a:p>
        </p:txBody>
      </p:sp>
      <p:sp>
        <p:nvSpPr>
          <p:cNvPr id="7" name="Status label"/>
          <p:cNvSpPr/>
          <p:nvPr/>
        </p:nvSpPr>
        <p:spPr>
          <a:xfrm>
            <a:off x="548640" y="346557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58114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Not cited"/>
          <p:cNvSpPr txBox="1"/>
          <p:nvPr/>
        </p:nvSpPr>
        <p:spPr>
          <a:xfrm>
            <a:off x="4892040" y="1572768"/>
            <a:ext cx="6751015" cy="73152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1">
                <a:solidFill>
                  <a:srgbClr val="2E4257"/>
                </a:solidFill>
                <a:latin typeface="Be Vietnam Pro" panose="020F0502020204030204" pitchFamily="34"/>
              </a:rPr>
              <a:t>Not cited in the body text. The paper lists this source in its References only.</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5"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6</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(2024, June 21). New World Bank program boosts sustainable transport infrastructure for vital Viet Nam waterways [Press release].</a:t>
            </a:r>
          </a:p>
        </p:txBody>
      </p:sp>
      <p:sp>
        <p:nvSpPr>
          <p:cNvPr id="6" name="Reference URL"/>
          <p:cNvSpPr txBox="1"/>
          <p:nvPr/>
        </p:nvSpPr>
        <p:spPr>
          <a:xfrm>
            <a:off x="548640" y="2578608"/>
            <a:ext cx="3931920" cy="77724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https://www.worldbank.org/en/news/press-release/2024/06/21/new-world-bank-program-boosts-sustainable-transport-infrastructure-for-vital-viet-nam-waterways</a:t>
            </a:r>
          </a:p>
        </p:txBody>
      </p:sp>
      <p:sp>
        <p:nvSpPr>
          <p:cNvPr id="7" name="Status label"/>
          <p:cNvSpPr/>
          <p:nvPr/>
        </p:nvSpPr>
        <p:spPr>
          <a:xfrm>
            <a:off x="548640" y="346557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58114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Not cited"/>
          <p:cNvSpPr txBox="1"/>
          <p:nvPr/>
        </p:nvSpPr>
        <p:spPr>
          <a:xfrm>
            <a:off x="4892040" y="1572768"/>
            <a:ext cx="6751015" cy="731520"/>
          </a:xfrm>
          <a:prstGeom prst="rect">
            <a:avLst/>
          </a:prstGeom>
          <a:noFill/>
        </p:spPr>
        <p:txBody>
          <a:bodyPr wrap="square" lIns="0" rIns="0" tIns="18288" bIns="18288" anchor="t">
            <a:noAutofit/>
          </a:bodyPr>
          <a:lstStyle/>
          <a:p>
            <a:pPr algn="l">
              <a:lnSpc>
                <a:spcPts val="1920"/>
              </a:lnSpc>
              <a:spcBef>
                <a:spcPts val="0"/>
              </a:spcBef>
              <a:spcAft>
                <a:spcPts val="0"/>
              </a:spcAft>
            </a:pPr>
            <a:r>
              <a:rPr sz="1600" b="0" i="1">
                <a:solidFill>
                  <a:srgbClr val="2E4257"/>
                </a:solidFill>
                <a:latin typeface="Be Vietnam Pro" panose="020F0502020204030204" pitchFamily="34"/>
              </a:rPr>
              <a:t>Not cited in the body text. The paper lists this source in its References only.</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5"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International Bank for Reconstruction and Development. (2026). IBRD financial statements, March 2026. World Bank.</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https://thedocs.worldbank.org/en/doc/4f8e88be21bdf2e7dddfae2cd6e3e30b-0040012026/original/IBRD-Financial-Statements-March-2026.pdf</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2"/>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12</a:t>
            </a:r>
            <a:r>
              <a:rPr sz="1400" b="1" i="0">
                <a:solidFill>
                  <a:srgbClr val="2E4257"/>
                </a:solidFill>
                <a:latin typeface="Be Vietnam Pro" panose="020F0502020204030204" pitchFamily="34"/>
              </a:rPr>
              <a:t> · Section 1.1.1, paragraph 1 (p. 10)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 is one of the five institutions of the World Bank Group and, together with IDA, forms what is commonly called the World Bank [7].”</a:t>
            </a:r>
          </a:p>
        </p:txBody>
      </p:sp>
      <p:sp>
        <p:nvSpPr>
          <p:cNvPr id="11" name="Cited for: slide 13"/>
          <p:cNvSpPr txBox="1"/>
          <p:nvPr/>
        </p:nvSpPr>
        <p:spPr>
          <a:xfrm>
            <a:off x="4892040" y="21950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13</a:t>
            </a:r>
            <a:r>
              <a:rPr sz="1400" b="1" i="0">
                <a:solidFill>
                  <a:srgbClr val="2E4257"/>
                </a:solidFill>
                <a:latin typeface="Be Vietnam Pro" panose="020F0502020204030204" pitchFamily="34"/>
              </a:rPr>
              <a:t> · Paper § 1.1.2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[7] and [8].”</a:t>
            </a:r>
          </a:p>
        </p:txBody>
      </p:sp>
      <p:sp>
        <p:nvSpPr>
          <p:cNvPr id="12" name="Cited for: slide 14"/>
          <p:cNvSpPr txBox="1"/>
          <p:nvPr/>
        </p:nvSpPr>
        <p:spPr>
          <a:xfrm>
            <a:off x="4892040" y="283260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14</a:t>
            </a:r>
            <a:r>
              <a:rPr sz="1400" b="1" i="0">
                <a:solidFill>
                  <a:srgbClr val="2E4257"/>
                </a:solidFill>
                <a:latin typeface="Be Vietnam Pro" panose="020F0502020204030204" pitchFamily="34"/>
              </a:rPr>
              <a:t> · Paper § 1.1.2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[7] and [8].”</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8</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Group. (n.d.). World Bank Group timeline.</a:t>
            </a:r>
          </a:p>
        </p:txBody>
      </p:sp>
      <p:sp>
        <p:nvSpPr>
          <p:cNvPr id="6" name="Reference URL"/>
          <p:cNvSpPr txBox="1"/>
          <p:nvPr/>
        </p:nvSpPr>
        <p:spPr>
          <a:xfrm>
            <a:off x="548640" y="2121408"/>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https://timeline.worldbank.org</a:t>
            </a:r>
          </a:p>
        </p:txBody>
      </p:sp>
      <p:sp>
        <p:nvSpPr>
          <p:cNvPr id="7" name="Status label"/>
          <p:cNvSpPr/>
          <p:nvPr/>
        </p:nvSpPr>
        <p:spPr>
          <a:xfrm>
            <a:off x="548640" y="24597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57530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3"/>
          <p:cNvSpPr txBox="1"/>
          <p:nvPr/>
        </p:nvSpPr>
        <p:spPr>
          <a:xfrm>
            <a:off x="4892040" y="13441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13</a:t>
            </a:r>
            <a:r>
              <a:rPr sz="1400" b="1" i="0">
                <a:solidFill>
                  <a:srgbClr val="2E4257"/>
                </a:solidFill>
                <a:latin typeface="Be Vietnam Pro" panose="020F0502020204030204" pitchFamily="34"/>
              </a:rPr>
              <a:t> · Paper § 1.1.2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[7] and [8].”</a:t>
            </a:r>
          </a:p>
        </p:txBody>
      </p:sp>
      <p:sp>
        <p:nvSpPr>
          <p:cNvPr id="11" name="Cited for: slide 14"/>
          <p:cNvSpPr txBox="1"/>
          <p:nvPr/>
        </p:nvSpPr>
        <p:spPr>
          <a:xfrm>
            <a:off x="4892040" y="198170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14</a:t>
            </a:r>
            <a:r>
              <a:rPr sz="1400" b="1" i="0">
                <a:solidFill>
                  <a:srgbClr val="2E4257"/>
                </a:solidFill>
                <a:latin typeface="Be Vietnam Pro" panose="020F0502020204030204" pitchFamily="34"/>
              </a:rPr>
              <a:t> · Paper § 1.1.2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[7] and [8].”</a:t>
            </a:r>
          </a:p>
        </p:txBody>
      </p:sp>
      <p:sp>
        <p:nvSpPr>
          <p:cNvPr id="12" name="Cited for: slide 16"/>
          <p:cNvSpPr txBox="1"/>
          <p:nvPr/>
        </p:nvSpPr>
        <p:spPr>
          <a:xfrm>
            <a:off x="4892040" y="261924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16</a:t>
            </a:r>
            <a:r>
              <a:rPr sz="1400" b="1" i="0">
                <a:solidFill>
                  <a:srgbClr val="2E4257"/>
                </a:solidFill>
                <a:latin typeface="Be Vietnam Pro" panose="020F0502020204030204" pitchFamily="34"/>
              </a:rPr>
              <a:t> · Section 1.2, paragraph 2 (p. 12)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“This led the IBRD to turn its attention to developing countries [8].”</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9</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Group Archives. (n.d.). Digitized records: The World Bank's first loan.</a:t>
            </a:r>
          </a:p>
        </p:txBody>
      </p:sp>
      <p:sp>
        <p:nvSpPr>
          <p:cNvPr id="6" name="Reference URL"/>
          <p:cNvSpPr txBox="1"/>
          <p:nvPr/>
        </p:nvSpPr>
        <p:spPr>
          <a:xfrm>
            <a:off x="548640" y="23500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https://www.worldbank.org/en/archive/history/exhibits/Digitized-Records-World-Bank-First-Loan</a:t>
            </a:r>
          </a:p>
        </p:txBody>
      </p:sp>
      <p:sp>
        <p:nvSpPr>
          <p:cNvPr id="7" name="Status label"/>
          <p:cNvSpPr/>
          <p:nvPr/>
        </p:nvSpPr>
        <p:spPr>
          <a:xfrm>
            <a:off x="548640" y="28712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9867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6"/>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16</a:t>
            </a:r>
            <a:r>
              <a:rPr sz="1400" b="1" i="0">
                <a:solidFill>
                  <a:srgbClr val="2E4257"/>
                </a:solidFill>
                <a:latin typeface="Be Vietnam Pro" panose="020F0502020204030204" pitchFamily="34"/>
              </a:rPr>
              <a:t> · Section 1.2, paragraph 2 (p. 12)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“Its first loan, worth US$250 million, went to France in 1947 to support reconstruction [9].”</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10</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Ajay Banga, President of the World Bank Group.</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https://www.worldbank.org/en/about/people/a/ajay-banga</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7581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7"/>
          <p:cNvSpPr txBox="1"/>
          <p:nvPr/>
        </p:nvSpPr>
        <p:spPr>
          <a:xfrm>
            <a:off x="4892040" y="13441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17</a:t>
            </a:r>
            <a:r>
              <a:rPr sz="1400" b="1" i="0">
                <a:solidFill>
                  <a:srgbClr val="2E4257"/>
                </a:solidFill>
                <a:latin typeface="Be Vietnam Pro" panose="020F0502020204030204" pitchFamily="34"/>
              </a:rPr>
              <a:t> · Section 1.3.1, paragraph 3 (p. 14)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current President is Ajay Banga, who began his term on 2 June 2023 [10].”</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(2026). IBRD voting power: Percentage of total votes by country [Dataset]. World Bank Finances One.</a:t>
            </a:r>
          </a:p>
        </p:txBody>
      </p:sp>
      <p:sp>
        <p:nvSpPr>
          <p:cNvPr id="6" name="Reference URL"/>
          <p:cNvSpPr txBox="1"/>
          <p:nvPr/>
        </p:nvSpPr>
        <p:spPr>
          <a:xfrm>
            <a:off x="548640" y="23500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https://financesone.worldbank.org/countries/Vietnam</a:t>
            </a:r>
          </a:p>
        </p:txBody>
      </p:sp>
      <p:sp>
        <p:nvSpPr>
          <p:cNvPr id="7" name="Status label"/>
          <p:cNvSpPr/>
          <p:nvPr/>
        </p:nvSpPr>
        <p:spPr>
          <a:xfrm>
            <a:off x="548640" y="28712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9867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8"/>
          <p:cNvSpPr txBox="1"/>
          <p:nvPr/>
        </p:nvSpPr>
        <p:spPr>
          <a:xfrm>
            <a:off x="4892040" y="13441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18</a:t>
            </a:r>
            <a:r>
              <a:rPr sz="1400" b="1" i="0">
                <a:solidFill>
                  <a:srgbClr val="2E4257"/>
                </a:solidFill>
                <a:latin typeface="Be Vietnam Pro" panose="020F0502020204030204" pitchFamily="34"/>
              </a:rPr>
              <a:t> · Section 1.3.2, paragraph 4 (p. 15)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“As of April 2026, Vietnam held 0.21 percent of IBRD votes [11].”</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(2018, April 21). World Bank Group shareholders endorse transformative capital package [Press release].</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https://www.worldbank.org/en/news/press-release/2018/04/21/world-bank-group-shareholders-endorse-transformative-capital-package</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3982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9"/>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19</a:t>
            </a:r>
            <a:r>
              <a:rPr sz="1400" b="1" i="0">
                <a:solidFill>
                  <a:srgbClr val="2E4257"/>
                </a:solidFill>
                <a:latin typeface="Be Vietnam Pro" panose="020F0502020204030204" pitchFamily="34"/>
              </a:rPr>
              <a:t> · Section 1.3.3, paragraph 2 (p. 15)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“When demand for lending grows, member countries can agree to a capital increase, as they did in 2018 [12].”</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Treasury. (2025). IBRD debt products brief.</a:t>
            </a:r>
          </a:p>
        </p:txBody>
      </p:sp>
      <p:sp>
        <p:nvSpPr>
          <p:cNvPr id="6" name="Reference URL"/>
          <p:cNvSpPr txBox="1"/>
          <p:nvPr/>
        </p:nvSpPr>
        <p:spPr>
          <a:xfrm>
            <a:off x="548640" y="21214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https://thedocs.worldbank.org/en/doc/251541b562ff6b17f214752061762b85-0340022025/original/IBRD-Debt-Products-Brief-v3.pdf</a:t>
            </a:r>
          </a:p>
        </p:txBody>
      </p:sp>
      <p:sp>
        <p:nvSpPr>
          <p:cNvPr id="7" name="Status label"/>
          <p:cNvSpPr/>
          <p:nvPr/>
        </p:nvSpPr>
        <p:spPr>
          <a:xfrm>
            <a:off x="548640" y="28254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9410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9"/>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19</a:t>
            </a:r>
            <a:r>
              <a:rPr sz="1400" b="1" i="0">
                <a:solidFill>
                  <a:srgbClr val="2E4257"/>
                </a:solidFill>
                <a:latin typeface="Be Vietnam Pro" panose="020F0502020204030204" pitchFamily="34"/>
              </a:rPr>
              <a:t> · Section 1.3.3, paragraph 3 (p. 15)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recent years, the IBRD has also issued sustainable development bonds and green bonds, linking investors' money to social and environmental goals [13].”</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Wes, M. (2023, September 14). Anchoring financing in results and reforms: Key takeaways from World Bank experience [Presentation to the High-Level Group on the Future of Cohesion Policy].</a:t>
            </a:r>
          </a:p>
        </p:txBody>
      </p:sp>
      <p:sp>
        <p:nvSpPr>
          <p:cNvPr id="6" name="Reference URL"/>
          <p:cNvSpPr txBox="1"/>
          <p:nvPr/>
        </p:nvSpPr>
        <p:spPr>
          <a:xfrm>
            <a:off x="548640" y="28072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https://ec.europa.eu/regional_policy/sources/policy/how/future-cohesion-policy/WorldBank_230914.pdf</a:t>
            </a:r>
          </a:p>
        </p:txBody>
      </p:sp>
      <p:sp>
        <p:nvSpPr>
          <p:cNvPr id="7" name="Status label"/>
          <p:cNvSpPr/>
          <p:nvPr/>
        </p:nvSpPr>
        <p:spPr>
          <a:xfrm>
            <a:off x="548640" y="35112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6268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0"/>
          <p:cNvSpPr txBox="1"/>
          <p:nvPr/>
        </p:nvSpPr>
        <p:spPr>
          <a:xfrm>
            <a:off x="4892040" y="13441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20</a:t>
            </a:r>
            <a:r>
              <a:rPr sz="1400" b="1" i="0">
                <a:solidFill>
                  <a:srgbClr val="2E4257"/>
                </a:solidFill>
                <a:latin typeface="Be Vietnam Pro" panose="020F0502020204030204" pitchFamily="34"/>
              </a:rPr>
              <a:t> · Section 1.4.1, paragraph 1 (p. 16)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“Money is disbursed as the borrower incurs eligible project expenditures [14].”</a:t>
            </a:r>
          </a:p>
        </p:txBody>
      </p:sp>
      <p:sp>
        <p:nvSpPr>
          <p:cNvPr id="11" name="Cited for: slide 21"/>
          <p:cNvSpPr txBox="1"/>
          <p:nvPr/>
        </p:nvSpPr>
        <p:spPr>
          <a:xfrm>
            <a:off x="4892040" y="198170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21</a:t>
            </a:r>
            <a:r>
              <a:rPr sz="1400" b="1" i="0">
                <a:solidFill>
                  <a:srgbClr val="2E4257"/>
                </a:solidFill>
                <a:latin typeface="Be Vietnam Pro" panose="020F0502020204030204" pitchFamily="34"/>
              </a:rPr>
              <a:t> · Table/figure source line (§ 1.4.1) · Locator: Wes (2023)</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Wes (2023) and Gelb et al. (2016).”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15</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Gelb, A., Diofasi, A., &amp; Postel, H. (2016). Program for Results: The first 35 operations (CGD Working Paper 430). Center for Global Development.</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https://www.cgdev.org/publication/program-results-first-35-operations-working-paper-430</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2153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0"/>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20</a:t>
            </a:r>
            <a:r>
              <a:rPr sz="1400" b="1" i="0">
                <a:solidFill>
                  <a:srgbClr val="2E4257"/>
                </a:solidFill>
                <a:latin typeface="Be Vietnam Pro" panose="020F0502020204030204" pitchFamily="34"/>
              </a:rPr>
              <a:t> · Section 1.4.1, paragraph 3 (p. 17)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 was only the third financing instrument approved by the Bank's Board since 1944 [15].”</a:t>
            </a:r>
          </a:p>
        </p:txBody>
      </p:sp>
      <p:sp>
        <p:nvSpPr>
          <p:cNvPr id="11" name="Cited for: slide 21"/>
          <p:cNvSpPr txBox="1"/>
          <p:nvPr/>
        </p:nvSpPr>
        <p:spPr>
          <a:xfrm>
            <a:off x="4892040" y="21950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21</a:t>
            </a:r>
            <a:r>
              <a:rPr sz="1400" b="1" i="0">
                <a:solidFill>
                  <a:srgbClr val="2E4257"/>
                </a:solidFill>
                <a:latin typeface="Be Vietnam Pro" panose="020F0502020204030204" pitchFamily="34"/>
              </a:rPr>
              <a:t> · Table/figure source line (§ 1.4.1) · Locator: Gelb et al. (2016)</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Wes (2023) and Gelb et al. (2016).”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16</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Treasury. (n.d.). IBRD Flexible Loan.</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https://projects.worldbank.org/en/about/unit/treasury/ibrd-financial-products/ibrd-flexible-loan</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37581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World Bank Treasury (n.d.-a)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16</a:t>
            </a:r>
            <a:r>
              <a:rPr sz="1200" b="1" i="0">
                <a:solidFill>
                  <a:srgbClr val="A33224"/>
                </a:solidFill>
                <a:latin typeface="Be Vietnam Pro" panose="020F0502020204030204" pitchFamily="34"/>
              </a:rPr>
              <a:t>]</a:t>
            </a:r>
          </a:p>
        </p:txBody>
      </p:sp>
      <p:sp>
        <p:nvSpPr>
          <p:cNvPr id="9" name="Locators"/>
          <p:cNvSpPr txBox="1"/>
          <p:nvPr/>
        </p:nvSpPr>
        <p:spPr>
          <a:xfrm>
            <a:off x="548640" y="45079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22"/>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22</a:t>
            </a:r>
            <a:r>
              <a:rPr sz="1400" b="1" i="0">
                <a:solidFill>
                  <a:srgbClr val="2E4257"/>
                </a:solidFill>
                <a:latin typeface="Be Vietnam Pro" panose="020F0502020204030204" pitchFamily="34"/>
              </a:rPr>
              <a:t> · Section 1.4.2, paragraph 1 (p. 17)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IBRD Flexible Loan (IFL) is the Bank's leading loan product for public-sector borrowers in middle-income countries [16].”</a:t>
            </a:r>
          </a:p>
        </p:txBody>
      </p:sp>
      <p:sp>
        <p:nvSpPr>
          <p:cNvPr id="12" name="Cited for: slide 24"/>
          <p:cNvSpPr txBox="1"/>
          <p:nvPr/>
        </p:nvSpPr>
        <p:spPr>
          <a:xfrm>
            <a:off x="4892040" y="21950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24</a:t>
            </a:r>
            <a:r>
              <a:rPr sz="1400" b="1" i="0">
                <a:solidFill>
                  <a:srgbClr val="2E4257"/>
                </a:solidFill>
                <a:latin typeface="Be Vietnam Pro" panose="020F0502020204030204" pitchFamily="34"/>
              </a:rPr>
              <a:t> · Table/figure source line (§ 1.4.2) · Locator: World Bank Treasury (n.d.-a)</a:t>
            </a:r>
          </a:p>
          <a:p>
            <a:pPr algn="l">
              <a:lnSpc>
                <a:spcPts val="1680"/>
              </a:lnSpc>
              <a:spcBef>
                <a:spcPts val="0"/>
              </a:spcBef>
              <a:spcAft>
                <a:spcPts val="1000"/>
              </a:spcAft>
            </a:pPr>
            <a:r>
              <a:rPr sz="1400" b="0" i="1">
                <a:solidFill>
                  <a:srgbClr val="4B5A69"/>
                </a:solidFill>
                <a:latin typeface="Be Vietnam Pro" panose="020F0502020204030204" pitchFamily="34"/>
              </a:rPr>
              <a:t>“World Bank Treasury (n.d.-a)”</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Treasury. (2020). IBRD Flexible Loan pricing basics [Product note].</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https://thedocs.worldbank.org/en/doc/494451541196179855-0340022018/original/productnoteIFLpricingbasicsOct2020.pdf</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2"/>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22</a:t>
            </a:r>
            <a:r>
              <a:rPr sz="1400" b="1" i="0">
                <a:solidFill>
                  <a:srgbClr val="2E4257"/>
                </a:solidFill>
                <a:latin typeface="Be Vietnam Pro" panose="020F0502020204030204" pitchFamily="34"/>
              </a:rPr>
              <a:t> · Section 1.4.2, paragraph 2 (p. 17)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premium rises with the loan's average maturity and depends on the borrower's pricing group, set by income level [17].”</a:t>
            </a:r>
          </a:p>
        </p:txBody>
      </p:sp>
      <p:sp>
        <p:nvSpPr>
          <p:cNvPr id="11" name="Cited for: slide 24"/>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24</a:t>
            </a:r>
            <a:r>
              <a:rPr sz="1400" b="1" i="0">
                <a:solidFill>
                  <a:srgbClr val="2E4257"/>
                </a:solidFill>
                <a:latin typeface="Be Vietnam Pro" panose="020F0502020204030204" pitchFamily="34"/>
              </a:rPr>
              <a:t> · Table/figure source line (§ 1.4.2) · Locator: World Bank Treasury (2020)</a:t>
            </a:r>
          </a:p>
          <a:p>
            <a:pPr algn="l">
              <a:lnSpc>
                <a:spcPts val="1680"/>
              </a:lnSpc>
              <a:spcBef>
                <a:spcPts val="0"/>
              </a:spcBef>
              <a:spcAft>
                <a:spcPts val="1000"/>
              </a:spcAft>
            </a:pPr>
            <a:r>
              <a:rPr sz="1400" b="0" i="1">
                <a:solidFill>
                  <a:srgbClr val="4B5A69"/>
                </a:solidFill>
                <a:latin typeface="Be Vietnam Pro" panose="020F0502020204030204" pitchFamily="34"/>
              </a:rPr>
              <a:t>“World Bank Treasury (2020)”</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18</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(2014, February 11). World Bank Board of Executive Directors announces change in IBRD loan terms [Press release].</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https://www.worldbank.org/en/news/press-release/2014/02/11/world-bank-board-of-executive-directors-announces-change-in-ibrd-loan-terms</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World Bank (2014b)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18</a:t>
            </a:r>
            <a:r>
              <a:rPr sz="1200" b="1" i="0">
                <a:solidFill>
                  <a:srgbClr val="A33224"/>
                </a:solidFill>
                <a:latin typeface="Be Vietnam Pro" panose="020F0502020204030204" pitchFamily="34"/>
              </a:rPr>
              <a:t>]</a:t>
            </a:r>
          </a:p>
        </p:txBody>
      </p:sp>
      <p:sp>
        <p:nvSpPr>
          <p:cNvPr id="9" name="Locators"/>
          <p:cNvSpPr txBox="1"/>
          <p:nvPr/>
        </p:nvSpPr>
        <p:spPr>
          <a:xfrm>
            <a:off x="548640" y="514807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23"/>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23</a:t>
            </a:r>
            <a:r>
              <a:rPr sz="1400" b="1" i="0">
                <a:solidFill>
                  <a:srgbClr val="2E4257"/>
                </a:solidFill>
                <a:latin typeface="Be Vietnam Pro" panose="020F0502020204030204" pitchFamily="34"/>
              </a:rPr>
              <a:t> · Section 1.4.2, paragraph 3 (p. 18)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2014, the maximum final maturity of a standard IFL was extended from 30 to 35 years, and the maximum average maturity from 18 to 20 years [18].”</a:t>
            </a:r>
          </a:p>
        </p:txBody>
      </p:sp>
      <p:sp>
        <p:nvSpPr>
          <p:cNvPr id="12" name="Cited for: slide 24"/>
          <p:cNvSpPr txBox="1"/>
          <p:nvPr/>
        </p:nvSpPr>
        <p:spPr>
          <a:xfrm>
            <a:off x="4892040" y="240842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24</a:t>
            </a:r>
            <a:r>
              <a:rPr sz="1400" b="1" i="0">
                <a:solidFill>
                  <a:srgbClr val="2E4257"/>
                </a:solidFill>
                <a:latin typeface="Be Vietnam Pro" panose="020F0502020204030204" pitchFamily="34"/>
              </a:rPr>
              <a:t> · Table/figure source line (§ 1.4.2) · Locator: World Bank (2014b)</a:t>
            </a:r>
          </a:p>
          <a:p>
            <a:pPr algn="l">
              <a:lnSpc>
                <a:spcPts val="1680"/>
              </a:lnSpc>
              <a:spcBef>
                <a:spcPts val="0"/>
              </a:spcBef>
              <a:spcAft>
                <a:spcPts val="1000"/>
              </a:spcAft>
            </a:pPr>
            <a:r>
              <a:rPr sz="1400" b="0" i="1">
                <a:solidFill>
                  <a:srgbClr val="4B5A69"/>
                </a:solidFill>
                <a:latin typeface="Be Vietnam Pro" panose="020F0502020204030204" pitchFamily="34"/>
              </a:rPr>
              <a:t>“World Bank (2014b); IBRD (2025)”</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19</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International Bank for Reconstruction and Development. (2025). IBRD financial statements, December 2025. World Bank.</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https://thedocs.worldbank.org/en/doc/5e394eaa9f7616b3a5518bd2f4bd9774-0040012025/original/IBRD-Financial-Statements-December-2025.pdf</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3"/>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23</a:t>
            </a:r>
            <a:r>
              <a:rPr sz="1400" b="1" i="0">
                <a:solidFill>
                  <a:srgbClr val="2E4257"/>
                </a:solidFill>
                <a:latin typeface="Be Vietnam Pro" panose="020F0502020204030204" pitchFamily="34"/>
              </a:rPr>
              <a:t> · Section 1.4.2, paragraph 3 (p. 18)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“For some projects, the final maturity can now reach 50 years [19].”</a:t>
            </a:r>
          </a:p>
        </p:txBody>
      </p:sp>
      <p:sp>
        <p:nvSpPr>
          <p:cNvPr id="11" name="Cited for: slide 24"/>
          <p:cNvSpPr txBox="1"/>
          <p:nvPr/>
        </p:nvSpPr>
        <p:spPr>
          <a:xfrm>
            <a:off x="4892040" y="21950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24</a:t>
            </a:r>
            <a:r>
              <a:rPr sz="1400" b="1" i="0">
                <a:solidFill>
                  <a:srgbClr val="2E4257"/>
                </a:solidFill>
                <a:latin typeface="Be Vietnam Pro" panose="020F0502020204030204" pitchFamily="34"/>
              </a:rPr>
              <a:t> · Table/figure source line (§ 1.4.2) · Locator: IBRD (2025)</a:t>
            </a:r>
          </a:p>
          <a:p>
            <a:pPr algn="l">
              <a:lnSpc>
                <a:spcPts val="1680"/>
              </a:lnSpc>
              <a:spcBef>
                <a:spcPts val="0"/>
              </a:spcBef>
              <a:spcAft>
                <a:spcPts val="1000"/>
              </a:spcAft>
            </a:pPr>
            <a:r>
              <a:rPr sz="1400" b="0" i="1">
                <a:solidFill>
                  <a:srgbClr val="4B5A69"/>
                </a:solidFill>
                <a:latin typeface="Be Vietnam Pro" panose="020F0502020204030204" pitchFamily="34"/>
              </a:rPr>
              <a:t>“World Bank (2014b); IBRD (2025)”</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20</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Treasury. (n.d.). IBRD lending rates and fees.</a:t>
            </a:r>
          </a:p>
        </p:txBody>
      </p:sp>
      <p:sp>
        <p:nvSpPr>
          <p:cNvPr id="6" name="Reference URL"/>
          <p:cNvSpPr txBox="1"/>
          <p:nvPr/>
        </p:nvSpPr>
        <p:spPr>
          <a:xfrm>
            <a:off x="548640" y="21214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https://projects.worldbank.org/en/about/unit/treasury/ibrd-financial-products/lending-rates-and-fees</a:t>
            </a:r>
          </a:p>
        </p:txBody>
      </p:sp>
      <p:sp>
        <p:nvSpPr>
          <p:cNvPr id="7" name="Status label"/>
          <p:cNvSpPr/>
          <p:nvPr/>
        </p:nvSpPr>
        <p:spPr>
          <a:xfrm>
            <a:off x="548640" y="28254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394106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World Bank Treasury (n.d.-b)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20</a:t>
            </a:r>
            <a:r>
              <a:rPr sz="1200" b="1" i="0">
                <a:solidFill>
                  <a:srgbClr val="A33224"/>
                </a:solidFill>
                <a:latin typeface="Be Vietnam Pro" panose="020F0502020204030204" pitchFamily="34"/>
              </a:rPr>
              <a:t>]</a:t>
            </a:r>
          </a:p>
        </p:txBody>
      </p:sp>
      <p:sp>
        <p:nvSpPr>
          <p:cNvPr id="9" name="Locators"/>
          <p:cNvSpPr txBox="1"/>
          <p:nvPr/>
        </p:nvSpPr>
        <p:spPr>
          <a:xfrm>
            <a:off x="548640" y="469087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23"/>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23</a:t>
            </a:r>
            <a:r>
              <a:rPr sz="1400" b="1" i="0">
                <a:solidFill>
                  <a:srgbClr val="2E4257"/>
                </a:solidFill>
                <a:latin typeface="Be Vietnam Pro" panose="020F0502020204030204" pitchFamily="34"/>
              </a:rPr>
              <a:t> · Section 1.4.2, paragraph 3 (p. 18)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October 2024, the IBRD added a Short Maturity Loan with a 7-year final maturity and a 20-basis-point discount on the spread [20].”</a:t>
            </a:r>
          </a:p>
        </p:txBody>
      </p:sp>
      <p:sp>
        <p:nvSpPr>
          <p:cNvPr id="12" name="Cited for: slide 24"/>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24</a:t>
            </a:r>
            <a:r>
              <a:rPr sz="1400" b="1" i="0">
                <a:solidFill>
                  <a:srgbClr val="2E4257"/>
                </a:solidFill>
                <a:latin typeface="Be Vietnam Pro" panose="020F0502020204030204" pitchFamily="34"/>
              </a:rPr>
              <a:t> · Table/figure source line (§ 1.4.2) · Locator: World Bank Treasury (n.d.-b)</a:t>
            </a:r>
          </a:p>
          <a:p>
            <a:pPr algn="l">
              <a:lnSpc>
                <a:spcPts val="1680"/>
              </a:lnSpc>
              <a:spcBef>
                <a:spcPts val="0"/>
              </a:spcBef>
              <a:spcAft>
                <a:spcPts val="1000"/>
              </a:spcAft>
            </a:pPr>
            <a:r>
              <a:rPr sz="1400" b="0" i="1">
                <a:solidFill>
                  <a:srgbClr val="4B5A69"/>
                </a:solidFill>
                <a:latin typeface="Be Vietnam Pro" panose="020F0502020204030204" pitchFamily="34"/>
              </a:rPr>
              <a:t>“World Bank Treasury (n.d.-b)”</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(2014, August 8). Vietnam: Transmission Efficiency Project [Loans and credits].</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https://www.worldbank.org/en/news/loans-credits/2014/08/08/vietnam-transmission-efficiency-project</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3"/>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23</a:t>
            </a:r>
            <a:r>
              <a:rPr sz="1400" b="1" i="0">
                <a:solidFill>
                  <a:srgbClr val="2E4257"/>
                </a:solidFill>
                <a:latin typeface="Be Vietnam Pro" panose="020F0502020204030204" pitchFamily="34"/>
              </a:rPr>
              <a:t> · Section 1.4.2, paragraph 4 (p. 18)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for example, had a 26-year maturity with a 10-year grace period [21].”</a:t>
            </a:r>
          </a:p>
        </p:txBody>
      </p:sp>
      <p:sp>
        <p:nvSpPr>
          <p:cNvPr id="11" name="Cited for: slide 33"/>
          <p:cNvSpPr txBox="1"/>
          <p:nvPr/>
        </p:nvSpPr>
        <p:spPr>
          <a:xfrm>
            <a:off x="4892040" y="21950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33</a:t>
            </a:r>
            <a:r>
              <a:rPr sz="1400" b="1" i="0">
                <a:solidFill>
                  <a:srgbClr val="2E4257"/>
                </a:solidFill>
                <a:latin typeface="Be Vietnam Pro" panose="020F0502020204030204" pitchFamily="34"/>
              </a:rPr>
              <a:t> · Section 2.1.2, paragraph 3 (p. 23)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TEP, NPT provided US$231.25 million of the planned US$731.25 million [21].”</a:t>
            </a:r>
          </a:p>
        </p:txBody>
      </p:sp>
      <p:sp>
        <p:nvSpPr>
          <p:cNvPr id="12" name="Cited for: slide 106"/>
          <p:cNvSpPr txBox="1"/>
          <p:nvPr/>
        </p:nvSpPr>
        <p:spPr>
          <a:xfrm>
            <a:off x="4892040" y="32593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106</a:t>
            </a:r>
            <a:r>
              <a:rPr sz="1400" b="1" i="0">
                <a:solidFill>
                  <a:srgbClr val="2E4257"/>
                </a:solidFill>
                <a:latin typeface="Be Vietnam Pro" panose="020F0502020204030204" pitchFamily="34"/>
              </a:rPr>
              <a:t> · Section 3.4.1, paragraph 1 (p. 59)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received USD 500 million with a 26-year maturity and a 10-year grace period [21], and CCSEP's IBRD loan carried a 29-year maturity [33].”</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Environmental and Social Framework.</a:t>
            </a:r>
          </a:p>
        </p:txBody>
      </p:sp>
      <p:sp>
        <p:nvSpPr>
          <p:cNvPr id="6" name="Reference URL"/>
          <p:cNvSpPr txBox="1"/>
          <p:nvPr/>
        </p:nvSpPr>
        <p:spPr>
          <a:xfrm>
            <a:off x="548640" y="2121408"/>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https://www.worldbank.org/esf</a:t>
            </a:r>
          </a:p>
        </p:txBody>
      </p:sp>
      <p:sp>
        <p:nvSpPr>
          <p:cNvPr id="7" name="Status label"/>
          <p:cNvSpPr/>
          <p:nvPr/>
        </p:nvSpPr>
        <p:spPr>
          <a:xfrm>
            <a:off x="548640" y="24597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57530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5"/>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25</a:t>
            </a:r>
            <a:r>
              <a:rPr sz="1400" b="1" i="0">
                <a:solidFill>
                  <a:srgbClr val="2E4257"/>
                </a:solidFill>
                <a:latin typeface="Be Vietnam Pro" panose="020F0502020204030204" pitchFamily="34"/>
              </a:rPr>
              <a:t> · Section 1.4.3, paragraph 2 (p. 19)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 applies to all IPF projects initiated on or after 1 October 2018 [22].”</a:t>
            </a:r>
          </a:p>
        </p:txBody>
      </p:sp>
      <p:sp>
        <p:nvSpPr>
          <p:cNvPr id="11" name="Cited for: slide 26"/>
          <p:cNvSpPr txBox="1"/>
          <p:nvPr/>
        </p:nvSpPr>
        <p:spPr>
          <a:xfrm>
            <a:off x="4892040" y="21950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26</a:t>
            </a:r>
            <a:r>
              <a:rPr sz="1400" b="1" i="0">
                <a:solidFill>
                  <a:srgbClr val="2E4257"/>
                </a:solidFill>
                <a:latin typeface="Be Vietnam Pro" panose="020F0502020204030204" pitchFamily="34"/>
              </a:rPr>
              <a:t> · Section 1.4.3, paragraph 3 (p. 19)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 sets out ten Environmental and Social Standards (ESSs) that borrowers must meet throughout the project [22]:”</a:t>
            </a:r>
          </a:p>
        </p:txBody>
      </p:sp>
      <p:sp>
        <p:nvSpPr>
          <p:cNvPr id="12" name="Cited for: slide 52"/>
          <p:cNvSpPr txBox="1"/>
          <p:nvPr/>
        </p:nvSpPr>
        <p:spPr>
          <a:xfrm>
            <a:off x="4892040" y="32593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52</a:t>
            </a:r>
            <a:r>
              <a:rPr sz="1400" b="1" i="0">
                <a:solidFill>
                  <a:srgbClr val="2E4257"/>
                </a:solidFill>
                <a:latin typeface="Be Vietnam Pro" panose="020F0502020204030204" pitchFamily="34"/>
              </a:rPr>
              <a:t> · Section 3.1.4, paragraph 4 (p. 35)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“Its Environmental and Social Framework (ESF) applies to new investment project financing initiated on or after 1 October 2018 [22].”</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Environmental and social policies.</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https://www.worldbank.org/en/projects-operations/environmental-and-social-policies</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7581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5"/>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25</a:t>
            </a:r>
            <a:r>
              <a:rPr sz="1400" b="1" i="0">
                <a:solidFill>
                  <a:srgbClr val="2E4257"/>
                </a:solidFill>
                <a:latin typeface="Be Vietnam Pro" panose="020F0502020204030204" pitchFamily="34"/>
              </a:rPr>
              <a:t> · Section 1.4.3, paragraph 2 (p. 19)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two systems are expected to run in parallel for about seven years [23].”</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(2020). Annual report 2020: Improving operations for country outcomes.</a:t>
            </a:r>
          </a:p>
        </p:txBody>
      </p:sp>
      <p:sp>
        <p:nvSpPr>
          <p:cNvPr id="6" name="Reference URL"/>
          <p:cNvSpPr txBox="1"/>
          <p:nvPr/>
        </p:nvSpPr>
        <p:spPr>
          <a:xfrm>
            <a:off x="548640" y="23500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https://www.worldbank.org/en/about/annual-report-2020/strengthening-the-organization</a:t>
            </a:r>
          </a:p>
        </p:txBody>
      </p:sp>
      <p:sp>
        <p:nvSpPr>
          <p:cNvPr id="7" name="Status label"/>
          <p:cNvSpPr/>
          <p:nvPr/>
        </p:nvSpPr>
        <p:spPr>
          <a:xfrm>
            <a:off x="548640" y="28712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9867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2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25</a:t>
            </a:r>
            <a:r>
              <a:rPr sz="1400" b="1" i="0">
                <a:solidFill>
                  <a:srgbClr val="2E4257"/>
                </a:solidFill>
                <a:latin typeface="Be Vietnam Pro" panose="020F0502020204030204" pitchFamily="34"/>
              </a:rPr>
              <a:t> · Section 1.4.3, paragraph 14 (p. 19)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Procurement Framework applies to projects with a concept note on or after 1 July 2016 [24].”</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25</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World Bank project cycle.</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https://projects.worldbank.org/en/projects-operations/products-and-services/brief/projectcycle</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37581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World Bank, n.d.-c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25</a:t>
            </a:r>
            <a:r>
              <a:rPr sz="1200" b="1" i="0">
                <a:solidFill>
                  <a:srgbClr val="A33224"/>
                </a:solidFill>
                <a:latin typeface="Be Vietnam Pro" panose="020F0502020204030204" pitchFamily="34"/>
              </a:rPr>
              <a:t>]</a:t>
            </a:r>
          </a:p>
        </p:txBody>
      </p:sp>
      <p:sp>
        <p:nvSpPr>
          <p:cNvPr id="9" name="Locators"/>
          <p:cNvSpPr txBox="1"/>
          <p:nvPr/>
        </p:nvSpPr>
        <p:spPr>
          <a:xfrm>
            <a:off x="548640" y="45079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28"/>
          <p:cNvSpPr txBox="1"/>
          <p:nvPr/>
        </p:nvSpPr>
        <p:spPr>
          <a:xfrm>
            <a:off x="4892040" y="134416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28</a:t>
            </a:r>
            <a:r>
              <a:rPr sz="1400" b="1" i="0">
                <a:solidFill>
                  <a:srgbClr val="2E4257"/>
                </a:solidFill>
                <a:latin typeface="Be Vietnam Pro" panose="020F0502020204030204" pitchFamily="34"/>
              </a:rPr>
              <a:t> · Section 2.1.1, paragraph 1 (p. 21)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“Every IBRD operation passes through a six-stage project cycle [25].”</a:t>
            </a:r>
          </a:p>
        </p:txBody>
      </p:sp>
      <p:sp>
        <p:nvSpPr>
          <p:cNvPr id="12" name="Cited for: slide 29"/>
          <p:cNvSpPr txBox="1"/>
          <p:nvPr/>
        </p:nvSpPr>
        <p:spPr>
          <a:xfrm>
            <a:off x="4892040" y="198170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29</a:t>
            </a:r>
            <a:r>
              <a:rPr sz="1400" b="1" i="0">
                <a:solidFill>
                  <a:srgbClr val="2E4257"/>
                </a:solidFill>
                <a:latin typeface="Be Vietnam Pro" panose="020F0502020204030204" pitchFamily="34"/>
              </a:rPr>
              <a:t> · Paper § 2.1.1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[25].”</a:t>
            </a:r>
          </a:p>
        </p:txBody>
      </p:sp>
      <p:sp>
        <p:nvSpPr>
          <p:cNvPr id="13" name="Cited for: slide 30"/>
          <p:cNvSpPr txBox="1"/>
          <p:nvPr/>
        </p:nvSpPr>
        <p:spPr>
          <a:xfrm>
            <a:off x="4892040" y="2619248"/>
            <a:ext cx="6751015" cy="6375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30</a:t>
            </a:r>
            <a:r>
              <a:rPr sz="1400" b="1" i="0">
                <a:solidFill>
                  <a:srgbClr val="2E4257"/>
                </a:solidFill>
                <a:latin typeface="Be Vietnam Pro" panose="020F0502020204030204" pitchFamily="34"/>
              </a:rPr>
              <a:t> · Paper § 2.1.1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[25].”</a:t>
            </a:r>
          </a:p>
        </p:txBody>
      </p:sp>
      <p:sp>
        <p:nvSpPr>
          <p:cNvPr id="14" name="Cited for: slide 38"/>
          <p:cNvSpPr txBox="1"/>
          <p:nvPr/>
        </p:nvSpPr>
        <p:spPr>
          <a:xfrm>
            <a:off x="4892040" y="32567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38</a:t>
            </a:r>
            <a:r>
              <a:rPr sz="1400" b="1" i="0">
                <a:solidFill>
                  <a:srgbClr val="2E4257"/>
                </a:solidFill>
                <a:latin typeface="Be Vietnam Pro" panose="020F0502020204030204" pitchFamily="34"/>
              </a:rPr>
              <a:t> · Author–year citation in the text (§ 2.2.3) · Locator: World Bank, n.d.-c</a:t>
            </a:r>
          </a:p>
          <a:p>
            <a:pPr algn="l">
              <a:lnSpc>
                <a:spcPts val="1680"/>
              </a:lnSpc>
              <a:spcBef>
                <a:spcPts val="0"/>
              </a:spcBef>
              <a:spcAft>
                <a:spcPts val="1000"/>
              </a:spcAft>
            </a:pPr>
            <a:r>
              <a:rPr sz="1400" b="0" i="1">
                <a:solidFill>
                  <a:srgbClr val="4B5A69"/>
                </a:solidFill>
                <a:latin typeface="Be Vietnam Pro" panose="020F0502020204030204" pitchFamily="34"/>
              </a:rPr>
              <a:t>“Regular ISRs rate progress to the PDO and implementation (World Bank, n.d.-c)”</a:t>
            </a:r>
          </a:p>
        </p:txBody>
      </p:sp>
      <p:sp>
        <p:nvSpPr>
          <p:cNvPr id="15"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6"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26</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(2006). Disbursement guidelines for projects.</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https://www.eximb.com/upload/app_links/1242.pdf</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7581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2"/>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32</a:t>
            </a:r>
            <a:r>
              <a:rPr sz="1400" b="1" i="0">
                <a:solidFill>
                  <a:srgbClr val="2E4257"/>
                </a:solidFill>
                <a:latin typeface="Be Vietnam Pro" panose="020F0502020204030204" pitchFamily="34"/>
              </a:rPr>
              <a:t> · Section 2.1.2, paragraph 1 (p. 22)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“Once a loan is effective, the IBRD releases funds through four disbursement methods, set out in each project's disbursement letter [26; 27].”</a:t>
            </a:r>
          </a:p>
        </p:txBody>
      </p:sp>
      <p:sp>
        <p:nvSpPr>
          <p:cNvPr id="11" name="Cited for: slide 33"/>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33</a:t>
            </a:r>
            <a:r>
              <a:rPr sz="1400" b="1" i="0">
                <a:solidFill>
                  <a:srgbClr val="2E4257"/>
                </a:solidFill>
                <a:latin typeface="Be Vietnam Pro" panose="020F0502020204030204" pitchFamily="34"/>
              </a:rPr>
              <a:t> · Section 2.1.2, paragraph 2 (p. 23)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Bank also sets a minimum value for applications and a disbursement deadline, usually four months after the closing date [26].”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Disbursement guidelines for investment project financing.</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https://documents1.worldbank.org/curated/en/123641487793335838/text/ITK171540-201701221452.txt</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2"/>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32</a:t>
            </a:r>
            <a:r>
              <a:rPr sz="1400" b="1" i="0">
                <a:solidFill>
                  <a:srgbClr val="2E4257"/>
                </a:solidFill>
                <a:latin typeface="Be Vietnam Pro" panose="020F0502020204030204" pitchFamily="34"/>
              </a:rPr>
              <a:t> · Section 2.1.2, paragraph 1 (p. 22)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“Once a loan is effective, the IBRD releases funds through four disbursement methods, set out in each project's disbursement letter [26; 27].”</a:t>
            </a:r>
          </a:p>
        </p:txBody>
      </p:sp>
      <p:sp>
        <p:nvSpPr>
          <p:cNvPr id="11" name="Cited for: slide 36"/>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36</a:t>
            </a:r>
            <a:r>
              <a:rPr sz="1400" b="1" i="0">
                <a:solidFill>
                  <a:srgbClr val="2E4257"/>
                </a:solidFill>
                <a:latin typeface="Be Vietnam Pro" panose="020F0502020204030204" pitchFamily="34"/>
              </a:rPr>
              <a:t> · Section 2.2.1, paragraph 2 (p. 25)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“Where preparation itself is costly, the borrower can use a Project Preparation Advance, which is later refinanced from the loan [27].”</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28</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(2011, May 24). Vietnam: Second Public Investment Reform Development Policy Operation [Loans and credits].</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https://www.worldbank.org/en/news/loans-credits/2011/05/24/vietnam-second-public-investment-reform-development-policy-operation</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3982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35</a:t>
            </a:r>
            <a:r>
              <a:rPr sz="1400" b="1" i="0">
                <a:solidFill>
                  <a:srgbClr val="2E4257"/>
                </a:solidFill>
                <a:latin typeface="Be Vietnam Pro" panose="020F0502020204030204" pitchFamily="34"/>
              </a:rPr>
              <a:t> · Section 2.1.3, paragraph 2 (p. 24)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second, approved in May 2011, combined an IBRD loan of US$87.3 million with an IDA credit of US$262.7 million [28].”</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29</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(2011, May 24). World Bank supports policy reform to improve efficiency of Vietnam's public investment [Press release].</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https://www.worldbank.org/en/news/press-release/2011/05/24/world-bank-supports-policy-reform-improve-efficiency-vietnams-public-investment</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39826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35</a:t>
            </a:r>
            <a:r>
              <a:rPr sz="1400" b="1" i="0">
                <a:solidFill>
                  <a:srgbClr val="2E4257"/>
                </a:solidFill>
                <a:latin typeface="Be Vietnam Pro" panose="020F0502020204030204" pitchFamily="34"/>
              </a:rPr>
              <a:t> · Section 2.1.3, paragraph 2 (p. 24)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“Its reforms aimed to strengthen the public investment cycle and the legal basis for public-private partnerships [29; 30].”</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30</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DTiNews. (2011, May 26). WB prioritises public investment in Vietnam.</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https://dtinews.dantri.com.vn/print/20110526135305000.htm</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7581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35</a:t>
            </a:r>
            <a:r>
              <a:rPr sz="1400" b="1" i="0">
                <a:solidFill>
                  <a:srgbClr val="2E4257"/>
                </a:solidFill>
                <a:latin typeface="Be Vietnam Pro" panose="020F0502020204030204" pitchFamily="34"/>
              </a:rPr>
              <a:t> · Section 2.1.3, paragraph 2 (p. 24)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“Its reforms aimed to strengthen the public investment cycle and the legal basis for public-private partnerships [29; 30].”</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(2010, April 6). Vietnam: First Power Sector Reform Development Policy Operation [Loans and credits].</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https://www.worldbank.org/en/news/loans-credits/2010/04/06/vietnam-first-power-sector-reform-development-policy-operation</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35</a:t>
            </a:r>
            <a:r>
              <a:rPr sz="1400" b="1" i="0">
                <a:solidFill>
                  <a:srgbClr val="2E4257"/>
                </a:solidFill>
                <a:latin typeface="Be Vietnam Pro" panose="020F0502020204030204" pitchFamily="34"/>
              </a:rPr>
              <a:t> · Section 2.1.3, paragraph 2 (p. 24)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 similar approach supported power-sector reform: in 2010, a DPF operation combined US$200 million from the IBRD with US$111.8 million from IDA [31].”</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(n.d.). Paying for results: Does results-based lending work?</a:t>
            </a:r>
          </a:p>
        </p:txBody>
      </p:sp>
      <p:sp>
        <p:nvSpPr>
          <p:cNvPr id="6" name="Reference URL"/>
          <p:cNvSpPr txBox="1"/>
          <p:nvPr/>
        </p:nvSpPr>
        <p:spPr>
          <a:xfrm>
            <a:off x="548640" y="23500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https://ieg.worldbankgroup.org/blog/paying-results-does-results-based-lending-work</a:t>
            </a:r>
          </a:p>
        </p:txBody>
      </p:sp>
      <p:sp>
        <p:nvSpPr>
          <p:cNvPr id="7" name="Status label"/>
          <p:cNvSpPr/>
          <p:nvPr/>
        </p:nvSpPr>
        <p:spPr>
          <a:xfrm>
            <a:off x="548640" y="28712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9867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4"/>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34</a:t>
            </a:r>
            <a:r>
              <a:rPr sz="1400" b="1" i="0">
                <a:solidFill>
                  <a:srgbClr val="2E4257"/>
                </a:solidFill>
                <a:latin typeface="Be Vietnam Pro" panose="020F0502020204030204" pitchFamily="34"/>
              </a:rPr>
              <a:t> · Section 2.1.3, paragraph 3 (p. 24)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“IEG has found that the choice of DLIs is critical: they must lead clearly to the program's development objective, and monitoring should not focus on DLIs alone [32].”</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36"/>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36</a:t>
            </a:r>
            <a:r>
              <a:rPr sz="1400" b="1" i="0">
                <a:solidFill>
                  <a:srgbClr val="2E4257"/>
                </a:solidFill>
                <a:latin typeface="Be Vietnam Pro" panose="020F0502020204030204" pitchFamily="34"/>
              </a:rPr>
              <a:t> · Section 2.2.1, paragraph 2 (p. 25)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“CCSEP, for instance, prepared an environmental and social impact assessment for each city and a resettlement policy framework for all four [33].”</a:t>
            </a:r>
          </a:p>
        </p:txBody>
      </p:sp>
      <p:sp>
        <p:nvSpPr>
          <p:cNvPr id="12" name="Cited for: slide 79"/>
          <p:cNvSpPr txBox="1"/>
          <p:nvPr/>
        </p:nvSpPr>
        <p:spPr>
          <a:xfrm>
            <a:off x="4892040" y="26217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79</a:t>
            </a:r>
            <a:r>
              <a:rPr sz="1400" b="1" i="0">
                <a:solidFill>
                  <a:srgbClr val="2E4257"/>
                </a:solidFill>
                <a:latin typeface="Be Vietnam Pro" panose="020F0502020204030204" pitchFamily="34"/>
              </a:rPr>
              <a:t> · Section 3.3.1, paragraph 1 (p. 47)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sector's investment requirement was estimated at around USD 771 million per year, while expected funding covered only about 27% [33].”</a:t>
            </a:r>
          </a:p>
        </p:txBody>
      </p:sp>
      <p:sp>
        <p:nvSpPr>
          <p:cNvPr id="13" name="Cited for: slide 80"/>
          <p:cNvSpPr txBox="1"/>
          <p:nvPr/>
        </p:nvSpPr>
        <p:spPr>
          <a:xfrm>
            <a:off x="4892040" y="3686048"/>
            <a:ext cx="6751015" cy="17043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80</a:t>
            </a:r>
            <a:r>
              <a:rPr sz="1400" b="1" i="0">
                <a:solidFill>
                  <a:srgbClr val="2E4257"/>
                </a:solidFill>
                <a:latin typeface="Be Vietnam Pro" panose="020F0502020204030204" pitchFamily="34"/>
              </a:rPr>
              <a:t> · Section 3.3.1, paragraph 2 (p. 48)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borrower was the Government of Vietnam, the World Bank served as the financier, and implementation was decentralized to the four provinces of Quang Binh, Binh Dinh, Khanh Hoa and Ninh Thuan through Project Management Units (PMUs) under the direction of provincial People's Committees [33; 43].”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82"/>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82</a:t>
            </a:r>
            <a:r>
              <a:rPr sz="1400" b="1" i="0">
                <a:solidFill>
                  <a:srgbClr val="2E4257"/>
                </a:solidFill>
                <a:latin typeface="Be Vietnam Pro" panose="020F0502020204030204" pitchFamily="34"/>
              </a:rPr>
              <a:t> · Section 3.3.1, paragraph 3 (p. 48)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“Expected outcomes were measured by three main indicators: approximately 290,000 direct beneficiaries, 256,000 people gaining access to sanitation via household sewer connections, and a 100% service cost recovery level [33].”</a:t>
            </a:r>
          </a:p>
        </p:txBody>
      </p:sp>
      <p:sp>
        <p:nvSpPr>
          <p:cNvPr id="12" name="Cited for: slide 83"/>
          <p:cNvSpPr txBox="1"/>
          <p:nvPr/>
        </p:nvSpPr>
        <p:spPr>
          <a:xfrm>
            <a:off x="4892040" y="26217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83</a:t>
            </a:r>
            <a:r>
              <a:rPr sz="1400" b="1" i="0">
                <a:solidFill>
                  <a:srgbClr val="2E4257"/>
                </a:solidFill>
                <a:latin typeface="Be Vietnam Pro" panose="020F0502020204030204" pitchFamily="34"/>
              </a:rPr>
              <a:t> · Section 3.3.2, paragraph 1 (p. 49) · Locator: Data Sheet</a:t>
            </a:r>
          </a:p>
          <a:p>
            <a:pPr algn="l">
              <a:lnSpc>
                <a:spcPts val="1680"/>
              </a:lnSpc>
              <a:spcBef>
                <a:spcPts val="0"/>
              </a:spcBef>
              <a:spcAft>
                <a:spcPts val="1000"/>
              </a:spcAft>
            </a:pPr>
            <a:r>
              <a:rPr sz="1400" b="0" i="1">
                <a:solidFill>
                  <a:srgbClr val="4B5A69"/>
                </a:solidFill>
                <a:latin typeface="Be Vietnam Pro" panose="020F0502020204030204" pitchFamily="34"/>
              </a:rPr>
              <a:t>“CCSEP was designed as an Investment Project Financing operation, financing specific investment items rather than policy reforms or results, as the other two instruments do [33, Data Sheet].”</a:t>
            </a:r>
          </a:p>
        </p:txBody>
      </p:sp>
      <p:sp>
        <p:nvSpPr>
          <p:cNvPr id="13" name="Cited for: slide 84"/>
          <p:cNvSpPr txBox="1"/>
          <p:nvPr/>
        </p:nvSpPr>
        <p:spPr>
          <a:xfrm>
            <a:off x="4892040" y="368604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84</a:t>
            </a:r>
            <a:r>
              <a:rPr sz="1400" b="1" i="0">
                <a:solidFill>
                  <a:srgbClr val="2E4257"/>
                </a:solidFill>
                <a:latin typeface="Be Vietnam Pro" panose="020F0502020204030204" pitchFamily="34"/>
              </a:rPr>
              <a:t> · Section 3.3.2, paragraph 2 (p. 49) · Locator: para. 44</a:t>
            </a:r>
          </a:p>
          <a:p>
            <a:pPr algn="l">
              <a:lnSpc>
                <a:spcPts val="1680"/>
              </a:lnSpc>
              <a:spcBef>
                <a:spcPts val="0"/>
              </a:spcBef>
              <a:spcAft>
                <a:spcPts val="1000"/>
              </a:spcAft>
            </a:pPr>
            <a:r>
              <a:rPr sz="1400" b="0" i="1">
                <a:solidFill>
                  <a:srgbClr val="4B5A69"/>
                </a:solidFill>
                <a:latin typeface="Be Vietnam Pro" panose="020F0502020204030204" pitchFamily="34"/>
              </a:rPr>
              <a:t>“The IDA credit was denominated in SDR, with a 25-year maturity including a 5-year grace period, an interest rate of 2% per annum (0.75% service charge and 1.25% interest), a commitment fee of 0.5% per annum, and no front-end fee [33, para. 44].”</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3/8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85"/>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85</a:t>
            </a:r>
            <a:r>
              <a:rPr sz="1400" b="1" i="0">
                <a:solidFill>
                  <a:srgbClr val="2E4257"/>
                </a:solidFill>
                <a:latin typeface="Be Vietnam Pro" panose="020F0502020204030204" pitchFamily="34"/>
              </a:rPr>
              <a:t> · Section 3.3.2, paragraph 2 (p. 49) · Locator: para. 44</a:t>
            </a:r>
          </a:p>
          <a:p>
            <a:pPr algn="l">
              <a:lnSpc>
                <a:spcPts val="1680"/>
              </a:lnSpc>
              <a:spcBef>
                <a:spcPts val="0"/>
              </a:spcBef>
              <a:spcAft>
                <a:spcPts val="1000"/>
              </a:spcAft>
            </a:pPr>
            <a:r>
              <a:rPr sz="1400" b="0" i="1">
                <a:solidFill>
                  <a:srgbClr val="4B5A69"/>
                </a:solidFill>
                <a:latin typeface="Be Vietnam Pro" panose="020F0502020204030204" pitchFamily="34"/>
              </a:rPr>
              <a:t>“The IDA credit was denominated in SDR, with a 25-year maturity including a 5-year grace period, an interest rate of 2% per annum (0.75% service charge and 1.25% interest), a commitment fee of 0.5% per annum, and no front-end fee [33, para. 44].”</a:t>
            </a:r>
          </a:p>
        </p:txBody>
      </p:sp>
      <p:sp>
        <p:nvSpPr>
          <p:cNvPr id="12" name="Cited for: slide 86"/>
          <p:cNvSpPr txBox="1"/>
          <p:nvPr/>
        </p:nvSpPr>
        <p:spPr>
          <a:xfrm>
            <a:off x="4892040" y="262178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86</a:t>
            </a:r>
            <a:r>
              <a:rPr sz="1400" b="1" i="0">
                <a:solidFill>
                  <a:srgbClr val="2E4257"/>
                </a:solidFill>
                <a:latin typeface="Be Vietnam Pro" panose="020F0502020204030204" pitchFamily="34"/>
              </a:rPr>
              <a:t> · Section 3.3.2, paragraph 3 (p. 50) · Locator: para. 31</a:t>
            </a:r>
          </a:p>
          <a:p>
            <a:pPr algn="l">
              <a:lnSpc>
                <a:spcPts val="1680"/>
              </a:lnSpc>
              <a:spcBef>
                <a:spcPts val="0"/>
              </a:spcBef>
              <a:spcAft>
                <a:spcPts val="1000"/>
              </a:spcAft>
            </a:pPr>
            <a:r>
              <a:rPr sz="1400" b="0" i="1">
                <a:solidFill>
                  <a:srgbClr val="4B5A69"/>
                </a:solidFill>
                <a:latin typeface="Be Vietnam Pro" panose="020F0502020204030204" pitchFamily="34"/>
              </a:rPr>
              <a:t>“Component 1 (Sanitation Infrastructure Expansion, USD 140.7 million base cost) included flood control works, drainage and wastewater collection networks, wastewater treatment plants, school and public sanitation facilities, revolving funds for household connections, and solid waste management [33, para. 31].”</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5" name="Next page button">
            <a:hlinkClick r:id="rId8"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6" name="Previous page button">
            <a:hlinkClick r:id="rId9"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4/8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88"/>
          <p:cNvSpPr txBox="1"/>
          <p:nvPr/>
        </p:nvSpPr>
        <p:spPr>
          <a:xfrm>
            <a:off x="4892040" y="1344168"/>
            <a:ext cx="6751015" cy="19177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88</a:t>
            </a:r>
            <a:r>
              <a:rPr sz="1400" b="1" i="0">
                <a:solidFill>
                  <a:srgbClr val="2E4257"/>
                </a:solidFill>
                <a:latin typeface="Be Vietnam Pro" panose="020F0502020204030204" pitchFamily="34"/>
              </a:rPr>
              <a:t> · Table/figure source line (§ 3.3.2) · Locator: 2017, Annex 2, Table 2.1</a:t>
            </a:r>
          </a:p>
          <a:p>
            <a:pPr algn="l">
              <a:lnSpc>
                <a:spcPts val="1680"/>
              </a:lnSpc>
              <a:spcBef>
                <a:spcPts val="0"/>
              </a:spcBef>
              <a:spcAft>
                <a:spcPts val="1000"/>
              </a:spcAft>
            </a:pPr>
            <a:r>
              <a:rPr sz="1400" b="0" i="1">
                <a:solidFill>
                  <a:srgbClr val="4B5A69"/>
                </a:solidFill>
                <a:latin typeface="Be Vietnam Pro" panose="020F0502020204030204" pitchFamily="34"/>
              </a:rPr>
              <a:t>“Note: The table shows base costs only. The difference from the total project cost comes from contingencies (USD 37.9 million), VAT (USD 22.3 million), and capitalized fees and interest (USD 4.8 million), which are also financed by the three sources. This is why the IBRD total is USD 46.0 million, against USD 31.2 million of base cost for Component 2 (World Bank, 2017, Annex 2, Table 2.1). Minor differences in totals are due to rounding in the PAD.”</a:t>
            </a:r>
          </a:p>
        </p:txBody>
      </p:sp>
      <p:sp>
        <p:nvSpPr>
          <p:cNvPr id="12" name="Cited for: slide 89"/>
          <p:cNvSpPr txBox="1"/>
          <p:nvPr/>
        </p:nvSpPr>
        <p:spPr>
          <a:xfrm>
            <a:off x="4892040" y="32618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89</a:t>
            </a:r>
            <a:r>
              <a:rPr sz="1400" b="1" i="0">
                <a:solidFill>
                  <a:srgbClr val="2E4257"/>
                </a:solidFill>
                <a:latin typeface="Be Vietnam Pro" panose="020F0502020204030204" pitchFamily="34"/>
              </a:rPr>
              <a:t> · Section 3.3.2, paragraph 5 (p. 51) · Locator: Annex 2, Tables 2.2–2.5</a:t>
            </a:r>
          </a:p>
          <a:p>
            <a:pPr algn="l">
              <a:lnSpc>
                <a:spcPts val="1680"/>
              </a:lnSpc>
              <a:spcBef>
                <a:spcPts val="0"/>
              </a:spcBef>
              <a:spcAft>
                <a:spcPts val="1000"/>
              </a:spcAft>
            </a:pPr>
            <a:r>
              <a:rPr sz="1400" b="0" i="1">
                <a:solidFill>
                  <a:srgbClr val="4B5A69"/>
                </a:solidFill>
                <a:latin typeface="Be Vietnam Pro" panose="020F0502020204030204" pitchFamily="34"/>
              </a:rPr>
              <a:t>“Phan Rang–Thap Cham received the largest share (USD 87.9 million), followed by Nha Trang (USD 72.0 million), Dong Hoi (USD 58.4 million) and Quy Nhon (USD 55.3 million) [33, Annex 2, Tables 2.2–2.5].”</a:t>
            </a:r>
          </a:p>
        </p:txBody>
      </p:sp>
      <p:sp>
        <p:nvSpPr>
          <p:cNvPr id="13" name="Cited for: slide 90"/>
          <p:cNvSpPr txBox="1"/>
          <p:nvPr/>
        </p:nvSpPr>
        <p:spPr>
          <a:xfrm>
            <a:off x="4892040" y="45394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90</a:t>
            </a:r>
            <a:r>
              <a:rPr sz="1400" b="1" i="0">
                <a:solidFill>
                  <a:srgbClr val="2E4257"/>
                </a:solidFill>
                <a:latin typeface="Be Vietnam Pro" panose="020F0502020204030204" pitchFamily="34"/>
              </a:rPr>
              <a:t> · Section 3.3.2, paragraph 6 (p. 52) · Locator: Annex 3, para. 21</a:t>
            </a:r>
          </a:p>
          <a:p>
            <a:pPr algn="l">
              <a:lnSpc>
                <a:spcPts val="1680"/>
              </a:lnSpc>
              <a:spcBef>
                <a:spcPts val="0"/>
              </a:spcBef>
              <a:spcAft>
                <a:spcPts val="1000"/>
              </a:spcAft>
            </a:pPr>
            <a:r>
              <a:rPr sz="1400" b="0" i="1">
                <a:solidFill>
                  <a:srgbClr val="4B5A69"/>
                </a:solidFill>
                <a:latin typeface="Be Vietnam Pro" panose="020F0502020204030204" pitchFamily="34"/>
              </a:rPr>
              <a:t>“Each province opened a designated USD account at a commercial bank, with ceiling amounts adjusting based on three-month financial forecasts [33, Annex 3, para. 21].”</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5/8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93"/>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93</a:t>
            </a:r>
            <a:r>
              <a:rPr sz="1400" b="1" i="0">
                <a:solidFill>
                  <a:srgbClr val="2E4257"/>
                </a:solidFill>
                <a:latin typeface="Be Vietnam Pro" panose="020F0502020204030204" pitchFamily="34"/>
              </a:rPr>
              <a:t> · Section 3.3.2, paragraph 8 (p. 53) · Locator: Annex 2</a:t>
            </a:r>
          </a:p>
          <a:p>
            <a:pPr algn="l">
              <a:lnSpc>
                <a:spcPts val="1680"/>
              </a:lnSpc>
              <a:spcBef>
                <a:spcPts val="0"/>
              </a:spcBef>
              <a:spcAft>
                <a:spcPts val="1000"/>
              </a:spcAft>
            </a:pPr>
            <a:r>
              <a:rPr sz="1400" b="0" i="1">
                <a:solidFill>
                  <a:srgbClr val="4B5A69"/>
                </a:solidFill>
                <a:latin typeface="Be Vietnam Pro" panose="020F0502020204030204" pitchFamily="34"/>
              </a:rPr>
              <a:t>“Counterpart funding increased from USD 37.4 million to USD 50.0 million, raising its share from 13.7% to 20.8% [33, Annex 2; 43].”</a:t>
            </a:r>
          </a:p>
        </p:txBody>
      </p:sp>
      <p:sp>
        <p:nvSpPr>
          <p:cNvPr id="12" name="Cited for: slide 94"/>
          <p:cNvSpPr txBox="1"/>
          <p:nvPr/>
        </p:nvSpPr>
        <p:spPr>
          <a:xfrm>
            <a:off x="4892040" y="219506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94</a:t>
            </a:r>
            <a:r>
              <a:rPr sz="1400" b="1" i="0">
                <a:solidFill>
                  <a:srgbClr val="2E4257"/>
                </a:solidFill>
                <a:latin typeface="Be Vietnam Pro" panose="020F0502020204030204" pitchFamily="34"/>
              </a:rPr>
              <a:t> · Section 3.3.3, paragraph 1 (p. 54)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financing agreement became effective on 18 January 2018, about five and a half months behind the original schedule of 3 August 2017, and the loan closing date had to be extended by 18 months, from 31 December 2022 to 30 June 2024 (Table 3.3.1.1) [33; 55; 43].”</a:t>
            </a:r>
          </a:p>
        </p:txBody>
      </p:sp>
      <p:sp>
        <p:nvSpPr>
          <p:cNvPr id="13" name="Cited for: slide 96"/>
          <p:cNvSpPr txBox="1"/>
          <p:nvPr/>
        </p:nvSpPr>
        <p:spPr>
          <a:xfrm>
            <a:off x="4892040" y="368604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96</a:t>
            </a:r>
            <a:r>
              <a:rPr sz="1400" b="1" i="0">
                <a:solidFill>
                  <a:srgbClr val="2E4257"/>
                </a:solidFill>
                <a:latin typeface="Be Vietnam Pro" panose="020F0502020204030204" pitchFamily="34"/>
              </a:rPr>
              <a:t> · Section 3.3.3, paragraph 2 (p. 54)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project was classified as Category A for environmental and social safeguards, subject to the involuntary resettlement policy OP 4.12 and procurement under World Bank guidelines [33].”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6/8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97"/>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97</a:t>
            </a:r>
            <a:r>
              <a:rPr sz="1400" b="1" i="0">
                <a:solidFill>
                  <a:srgbClr val="2E4257"/>
                </a:solidFill>
                <a:latin typeface="Be Vietnam Pro" panose="020F0502020204030204" pitchFamily="34"/>
              </a:rPr>
              <a:t> · Section 3.3.3, paragraph 3 (p. 55)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PAD estimated 1,486 affected households, of which 329 required relocation [33].”</a:t>
            </a:r>
          </a:p>
        </p:txBody>
      </p:sp>
      <p:sp>
        <p:nvSpPr>
          <p:cNvPr id="12" name="Cited for: slide 99"/>
          <p:cNvSpPr txBox="1"/>
          <p:nvPr/>
        </p:nvSpPr>
        <p:spPr>
          <a:xfrm>
            <a:off x="4892040" y="240842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99</a:t>
            </a:r>
            <a:r>
              <a:rPr sz="1400" b="1" i="0">
                <a:solidFill>
                  <a:srgbClr val="2E4257"/>
                </a:solidFill>
                <a:latin typeface="Be Vietnam Pro" panose="020F0502020204030204" pitchFamily="34"/>
              </a:rPr>
              <a:t> · Section 3.3.3, paragraph 4 (p. 55)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goal was for each city to have a service management unit, and for the project to deliver 14 performance-based service contracts, 4 service tariff roadmaps and 4 connection policies [33].”</a:t>
            </a:r>
          </a:p>
        </p:txBody>
      </p:sp>
      <p:sp>
        <p:nvSpPr>
          <p:cNvPr id="13" name="Cited for: slide 100"/>
          <p:cNvSpPr txBox="1"/>
          <p:nvPr/>
        </p:nvSpPr>
        <p:spPr>
          <a:xfrm>
            <a:off x="4892040" y="368604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100</a:t>
            </a:r>
            <a:r>
              <a:rPr sz="1400" b="1" i="0">
                <a:solidFill>
                  <a:srgbClr val="2E4257"/>
                </a:solidFill>
                <a:latin typeface="Be Vietnam Pro" panose="020F0502020204030204" pitchFamily="34"/>
              </a:rPr>
              <a:t> · Section 3.3.3, paragraph 6 (p. 56) · Locator: Annex 2, Table 2.1</a:t>
            </a:r>
          </a:p>
          <a:p>
            <a:pPr algn="l">
              <a:lnSpc>
                <a:spcPts val="1680"/>
              </a:lnSpc>
              <a:spcBef>
                <a:spcPts val="0"/>
              </a:spcBef>
              <a:spcAft>
                <a:spcPts val="1000"/>
              </a:spcAft>
            </a:pPr>
            <a:r>
              <a:rPr sz="1400" b="0" i="1">
                <a:solidFill>
                  <a:srgbClr val="4B5A69"/>
                </a:solidFill>
                <a:latin typeface="Be Vietnam Pro" panose="020F0502020204030204" pitchFamily="34"/>
              </a:rPr>
              <a:t>“The IBRD loan was only 16.8% of the planned cost (14.2% after adjustment) and fully financed Component 2, while the larger IDA credit financed the sanitation infrastructure [33, Annex 2, Table 2.1; 43].”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7/8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101"/>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101</a:t>
            </a:r>
            <a:r>
              <a:rPr sz="1400" b="1" i="0">
                <a:solidFill>
                  <a:srgbClr val="2E4257"/>
                </a:solidFill>
                <a:latin typeface="Be Vietnam Pro" panose="020F0502020204030204" pitchFamily="34"/>
              </a:rPr>
              <a:t> · Section 3.3.4, paragraph 2 (p. 57)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“As Table 3.3.3.1 shows, direct beneficiaries reached 64% of the target and sewer access only 38%, while cost recovery stood at 98% of the 100% target [33; 43].”</a:t>
            </a:r>
          </a:p>
        </p:txBody>
      </p:sp>
      <p:sp>
        <p:nvSpPr>
          <p:cNvPr id="12" name="Cited for: slide 102"/>
          <p:cNvSpPr txBox="1"/>
          <p:nvPr/>
        </p:nvSpPr>
        <p:spPr>
          <a:xfrm>
            <a:off x="4892040" y="262178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102</a:t>
            </a:r>
            <a:r>
              <a:rPr sz="1400" b="1" i="0">
                <a:solidFill>
                  <a:srgbClr val="2E4257"/>
                </a:solidFill>
                <a:latin typeface="Be Vietnam Pro" panose="020F0502020204030204" pitchFamily="34"/>
              </a:rPr>
              <a:t> · Section 3.3.4, paragraph 3 (p. 57)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“Regarding climate resilience, the PAD set a target to reduce flood risks for approximately 44,000 people and to construct 17 km of embankments, 22 km of roads and 5 bridges [33].”</a:t>
            </a:r>
          </a:p>
        </p:txBody>
      </p:sp>
      <p:sp>
        <p:nvSpPr>
          <p:cNvPr id="13" name="Cited for: slide 106"/>
          <p:cNvSpPr txBox="1"/>
          <p:nvPr/>
        </p:nvSpPr>
        <p:spPr>
          <a:xfrm>
            <a:off x="4892040" y="389940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106</a:t>
            </a:r>
            <a:r>
              <a:rPr sz="1400" b="1" i="0">
                <a:solidFill>
                  <a:srgbClr val="2E4257"/>
                </a:solidFill>
                <a:latin typeface="Be Vietnam Pro" panose="020F0502020204030204" pitchFamily="34"/>
              </a:rPr>
              <a:t> · Section 3.4.1, paragraph 1 (p. 59)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received USD 500 million with a 26-year maturity and a 10-year grace period [21], and CCSEP's IBRD loan carried a 29-year maturity [33].”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8/8</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Annex 2, Table 2.1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33</a:t>
            </a:r>
            <a:r>
              <a:rPr sz="1200" b="1" i="0">
                <a:solidFill>
                  <a:srgbClr val="A33224"/>
                </a:solidFill>
                <a:latin typeface="Be Vietnam Pro" panose="020F0502020204030204" pitchFamily="34"/>
              </a:rPr>
              <a:t>]</a:t>
            </a:r>
          </a:p>
        </p:txBody>
      </p:sp>
      <p:sp>
        <p:nvSpPr>
          <p:cNvPr id="9" name="Locators"/>
          <p:cNvSpPr txBox="1"/>
          <p:nvPr/>
        </p:nvSpPr>
        <p:spPr>
          <a:xfrm>
            <a:off x="548640" y="4965192"/>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2; Annex 2, Table 2.1; Annex 2, Tables 2.2–2.5; Annex 3, para. 21; Data Sheet; para. 31; para. 44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107"/>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107</a:t>
            </a:r>
            <a:r>
              <a:rPr sz="1400" b="1" i="0">
                <a:solidFill>
                  <a:srgbClr val="2E4257"/>
                </a:solidFill>
                <a:latin typeface="Be Vietnam Pro" panose="020F0502020204030204" pitchFamily="34"/>
              </a:rPr>
              <a:t> · Section 3.4.2, paragraph 2 (p. 60)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CCSEP, the loan became effective five and a half months late, and three disbursement conditions depended on approvals by the Ministry of Finance and provincial People's Committees [33].”</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4" name="Previous page button">
            <a:hlinkClick r:id="rId7"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2743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Advice and analytics.</a:t>
            </a:r>
          </a:p>
        </p:txBody>
      </p:sp>
      <p:sp>
        <p:nvSpPr>
          <p:cNvPr id="6" name="Reference URL"/>
          <p:cNvSpPr txBox="1"/>
          <p:nvPr/>
        </p:nvSpPr>
        <p:spPr>
          <a:xfrm>
            <a:off x="548640" y="1892807"/>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https://www.worldbank.org/asa</a:t>
            </a:r>
          </a:p>
        </p:txBody>
      </p:sp>
      <p:sp>
        <p:nvSpPr>
          <p:cNvPr id="7" name="Status label"/>
          <p:cNvSpPr/>
          <p:nvPr/>
        </p:nvSpPr>
        <p:spPr>
          <a:xfrm>
            <a:off x="548640" y="22311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34670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7"/>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37</a:t>
            </a:r>
            <a:r>
              <a:rPr sz="1400" b="1" i="0">
                <a:solidFill>
                  <a:srgbClr val="2E4257"/>
                </a:solidFill>
                <a:latin typeface="Be Vietnam Pro" panose="020F0502020204030204" pitchFamily="34"/>
              </a:rPr>
              <a:t> · Section 2.2.2, paragraph 1 (p. 25)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“Their outputs include analytical reports, policy notes, hands-on advice and knowledge-sharing workshops [34].”</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35</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Asian Development Bank. (2024). Linked Document A: Comparison of technical assistance provided by multilateral development banks.</a:t>
            </a:r>
          </a:p>
        </p:txBody>
      </p:sp>
      <p:sp>
        <p:nvSpPr>
          <p:cNvPr id="6" name="Reference URL"/>
          <p:cNvSpPr txBox="1"/>
          <p:nvPr/>
        </p:nvSpPr>
        <p:spPr>
          <a:xfrm>
            <a:off x="548640" y="2578608"/>
            <a:ext cx="3931920" cy="77724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https://www.adb.org/sites/default/files/linked-documents/Linked%20Document%20A%20-%20Comparison%20of%20TA%20provided%20by%20MDBs_20241029.pdf</a:t>
            </a:r>
          </a:p>
        </p:txBody>
      </p:sp>
      <p:sp>
        <p:nvSpPr>
          <p:cNvPr id="7" name="Status label"/>
          <p:cNvSpPr/>
          <p:nvPr/>
        </p:nvSpPr>
        <p:spPr>
          <a:xfrm>
            <a:off x="548640" y="346557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58114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7"/>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37</a:t>
            </a:r>
            <a:r>
              <a:rPr sz="1400" b="1" i="0">
                <a:solidFill>
                  <a:srgbClr val="2E4257"/>
                </a:solidFill>
                <a:latin typeface="Be Vietnam Pro" panose="020F0502020204030204" pitchFamily="34"/>
              </a:rPr>
              <a:t> · Section 2.2.2, paragraph 2 (p. 25)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2023, analytical and advisory disbursements totalled US$991 million: 26% from the Bank's administrative budget, 68% from donor trust funds and 6% from Reimbursable Advisory Services [35].”</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36</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5029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Reimbursable advisory services in Southeast Asia.</a:t>
            </a:r>
          </a:p>
        </p:txBody>
      </p:sp>
      <p:sp>
        <p:nvSpPr>
          <p:cNvPr id="6" name="Reference URL"/>
          <p:cNvSpPr txBox="1"/>
          <p:nvPr/>
        </p:nvSpPr>
        <p:spPr>
          <a:xfrm>
            <a:off x="548640" y="21214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https://worldbank.org/en/country/thailand/brief/reimbursable-advisory-services-in-southeast-asia</a:t>
            </a:r>
          </a:p>
        </p:txBody>
      </p:sp>
      <p:sp>
        <p:nvSpPr>
          <p:cNvPr id="7" name="Status label"/>
          <p:cNvSpPr/>
          <p:nvPr/>
        </p:nvSpPr>
        <p:spPr>
          <a:xfrm>
            <a:off x="548640" y="26426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7581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7"/>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37</a:t>
            </a:r>
            <a:r>
              <a:rPr sz="1400" b="1" i="0">
                <a:solidFill>
                  <a:srgbClr val="2E4257"/>
                </a:solidFill>
                <a:latin typeface="Be Vietnam Pro" panose="020F0502020204030204" pitchFamily="34"/>
              </a:rPr>
              <a:t> · Section 2.2.2, paragraph 2 (p. 25)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“RAS is offered mainly to middle- and high-income countries, which makes it increasingly relevant to Vietnam [36].”</a:t>
            </a:r>
          </a:p>
        </p:txBody>
      </p:sp>
      <p:sp>
        <p:nvSpPr>
          <p:cNvPr id="11" name="Cited for: slide 109"/>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109</a:t>
            </a:r>
            <a:r>
              <a:rPr sz="1400" b="1" i="0">
                <a:solidFill>
                  <a:srgbClr val="2E4257"/>
                </a:solidFill>
                <a:latin typeface="Be Vietnam Pro" panose="020F0502020204030204" pitchFamily="34"/>
              </a:rPr>
              <a:t> · Section 3.4.3, paragraph 7 (p. 61)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“Reimbursable Advisory Services can provide tailored advice where analytical support is needed outside a loan [36].”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39"/>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39</a:t>
            </a:r>
            <a:r>
              <a:rPr sz="1400" b="1" i="0">
                <a:solidFill>
                  <a:srgbClr val="2E4257"/>
                </a:solidFill>
                <a:latin typeface="Be Vietnam Pro" panose="020F0502020204030204" pitchFamily="34"/>
              </a:rPr>
              <a:t> · Section 2.2.3, paragraph 6 (p. 26)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“TEP's PPAR rated the outcome highly satisfactory, Bank performance satisfactory and the quality of M&amp;E substantial [37].”</a:t>
            </a:r>
          </a:p>
        </p:txBody>
      </p:sp>
      <p:sp>
        <p:nvSpPr>
          <p:cNvPr id="11" name="Cited for: slide 41"/>
          <p:cNvSpPr txBox="1"/>
          <p:nvPr/>
        </p:nvSpPr>
        <p:spPr>
          <a:xfrm>
            <a:off x="4892040" y="240842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41</a:t>
            </a:r>
            <a:r>
              <a:rPr sz="1400" b="1" i="0">
                <a:solidFill>
                  <a:srgbClr val="2E4257"/>
                </a:solidFill>
                <a:latin typeface="Be Vietnam Pro" panose="020F0502020204030204" pitchFamily="34"/>
              </a:rPr>
              <a:t> · Section 2.3.2, paragraph 3 (p. 28)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“IEG found that NPT's regional boards had built capabilities in procurement, contract administration, financial management, safeguards and reporting, partly from earlier World Bank projects [37].”</a:t>
            </a:r>
          </a:p>
        </p:txBody>
      </p:sp>
      <p:sp>
        <p:nvSpPr>
          <p:cNvPr id="12" name="Cited for: slide 42"/>
          <p:cNvSpPr txBox="1"/>
          <p:nvPr/>
        </p:nvSpPr>
        <p:spPr>
          <a:xfrm>
            <a:off x="4892040" y="368604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42</a:t>
            </a:r>
            <a:r>
              <a:rPr sz="1400" b="1" i="0">
                <a:solidFill>
                  <a:srgbClr val="2E4257"/>
                </a:solidFill>
                <a:latin typeface="Be Vietnam Pro" panose="020F0502020204030204" pitchFamily="34"/>
              </a:rPr>
              <a:t> · Table/figure source line (§ 2.3.3) · Locator: 2023</a:t>
            </a:r>
          </a:p>
          <a:p>
            <a:pPr algn="l">
              <a:lnSpc>
                <a:spcPts val="1680"/>
              </a:lnSpc>
              <a:spcBef>
                <a:spcPts val="0"/>
              </a:spcBef>
              <a:spcAft>
                <a:spcPts val="1000"/>
              </a:spcAft>
            </a:pPr>
            <a:r>
              <a:rPr sz="1400" b="0" i="1">
                <a:solidFill>
                  <a:srgbClr val="4B5A69"/>
                </a:solidFill>
                <a:latin typeface="Be Vietnam Pro" panose="020F0502020204030204" pitchFamily="34"/>
              </a:rPr>
              <a:t>“Source: Sections 3.2.3 and 3.3.3, based on World Bank (2022a, 2022b, 2022c, 2023).”</a:t>
            </a:r>
          </a:p>
        </p:txBody>
      </p:sp>
      <p:sp>
        <p:nvSpPr>
          <p:cNvPr id="13" name="Cited for: slide 48"/>
          <p:cNvSpPr txBox="1"/>
          <p:nvPr/>
        </p:nvSpPr>
        <p:spPr>
          <a:xfrm>
            <a:off x="4892040" y="453694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48</a:t>
            </a:r>
            <a:r>
              <a:rPr sz="1400" b="1" i="0">
                <a:solidFill>
                  <a:srgbClr val="2E4257"/>
                </a:solidFill>
                <a:latin typeface="Be Vietnam Pro" panose="020F0502020204030204" pitchFamily="34"/>
              </a:rPr>
              <a:t> · Section 3.1,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“Distinguishing these measures is essential when assessing the IBRD contribution to project financing [44; 41; 37].”</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55</a:t>
            </a:r>
            <a:r>
              <a:rPr sz="1400" b="1" i="0">
                <a:solidFill>
                  <a:srgbClr val="2E4257"/>
                </a:solidFill>
                <a:latin typeface="Be Vietnam Pro" panose="020F0502020204030204" pitchFamily="34"/>
              </a:rPr>
              <a:t> · Section 3.2.1, paragraph 1 (p. 35)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was financed using Investment Project Financing (IPF), rather than a development-policy or results-based lending instrument [44; 41; 37].”</a:t>
            </a:r>
          </a:p>
        </p:txBody>
      </p:sp>
      <p:sp>
        <p:nvSpPr>
          <p:cNvPr id="11" name="Cited for: slide 56"/>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56</a:t>
            </a:r>
            <a:r>
              <a:rPr sz="1400" b="1" i="0">
                <a:solidFill>
                  <a:srgbClr val="2E4257"/>
                </a:solidFill>
                <a:latin typeface="Be Vietnam Pro" panose="020F0502020204030204" pitchFamily="34"/>
              </a:rPr>
              <a:t> · Table/figure source line (§ 3.2.1) · Locator: 2023, pp. v-vi</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Project Data Sheet), World Bank (2022a, pp. 1-3, 49), and World Bank (2023, pp. v-vi).”</a:t>
            </a:r>
          </a:p>
        </p:txBody>
      </p:sp>
      <p:sp>
        <p:nvSpPr>
          <p:cNvPr id="12" name="Cited for: slide 57"/>
          <p:cNvSpPr txBox="1"/>
          <p:nvPr/>
        </p:nvSpPr>
        <p:spPr>
          <a:xfrm>
            <a:off x="4892040" y="32593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57</a:t>
            </a:r>
            <a:r>
              <a:rPr sz="1400" b="1" i="0">
                <a:solidFill>
                  <a:srgbClr val="2E4257"/>
                </a:solidFill>
                <a:latin typeface="Be Vietnam Pro" panose="020F0502020204030204" pitchFamily="34"/>
              </a:rPr>
              <a:t> · Table/figure source line (§ 3.2.1) · Locator: 2023, pp. v-vi</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Project Data Sheet), World Bank (2022a, pp. 1-3, 49), and World Bank (2023, pp. v-vi).”</a:t>
            </a:r>
          </a:p>
        </p:txBody>
      </p:sp>
      <p:sp>
        <p:nvSpPr>
          <p:cNvPr id="13" name="Cited for: slide 62"/>
          <p:cNvSpPr txBox="1"/>
          <p:nvPr/>
        </p:nvSpPr>
        <p:spPr>
          <a:xfrm>
            <a:off x="4892040" y="41102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62</a:t>
            </a:r>
            <a:r>
              <a:rPr sz="1400" b="1" i="0">
                <a:solidFill>
                  <a:srgbClr val="2E4257"/>
                </a:solidFill>
                <a:latin typeface="Be Vietnam Pro" panose="020F0502020204030204" pitchFamily="34"/>
              </a:rPr>
              <a:t> · Section 3.2.2, paragraph 5 (p. 39) · Locator: pp. ix–xi, 17</a:t>
            </a:r>
          </a:p>
          <a:p>
            <a:pPr algn="l">
              <a:lnSpc>
                <a:spcPts val="1680"/>
              </a:lnSpc>
              <a:spcBef>
                <a:spcPts val="0"/>
              </a:spcBef>
              <a:spcAft>
                <a:spcPts val="1000"/>
              </a:spcAft>
            </a:pPr>
            <a:r>
              <a:rPr sz="1400" b="0" i="1">
                <a:solidFill>
                  <a:srgbClr val="4B5A69"/>
                </a:solidFill>
                <a:latin typeface="Be Vietnam Pro" panose="020F0502020204030204" pitchFamily="34"/>
              </a:rPr>
              <a:t>“At the same time, the conditions attached to reallocation of loan savings reduced flexibility to redirect funds to additional works during the project [37, pp. ix–xi, 17].”</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1"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3/7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63"/>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63</a:t>
            </a:r>
            <a:r>
              <a:rPr sz="1400" b="1" i="0">
                <a:solidFill>
                  <a:srgbClr val="2E4257"/>
                </a:solidFill>
                <a:latin typeface="Be Vietnam Pro" panose="020F0502020204030204" pitchFamily="34"/>
              </a:rPr>
              <a:t> · Section 3.2.3, paragraph 1 (p. 39)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project's financing and implementation experience, however, was considerably narrower than this original list suggests [44; 41; 37].”</a:t>
            </a:r>
          </a:p>
        </p:txBody>
      </p:sp>
      <p:sp>
        <p:nvSpPr>
          <p:cNvPr id="11" name="Cited for: slide 65"/>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65</a:t>
            </a:r>
            <a:r>
              <a:rPr sz="1400" b="1" i="0">
                <a:solidFill>
                  <a:srgbClr val="2E4257"/>
                </a:solidFill>
                <a:latin typeface="Be Vietnam Pro" panose="020F0502020204030204" pitchFamily="34"/>
              </a:rPr>
              <a:t> · Section 3.2.3, paragraph 3 (p. 40) · Locator: pp. ix–x, 15–16</a:t>
            </a:r>
          </a:p>
          <a:p>
            <a:pPr algn="l">
              <a:lnSpc>
                <a:spcPts val="1680"/>
              </a:lnSpc>
              <a:spcBef>
                <a:spcPts val="0"/>
              </a:spcBef>
              <a:spcAft>
                <a:spcPts val="1000"/>
              </a:spcAft>
            </a:pPr>
            <a:r>
              <a:rPr sz="1400" b="0" i="1">
                <a:solidFill>
                  <a:srgbClr val="4B5A69"/>
                </a:solidFill>
                <a:latin typeface="Be Vietnam Pro" panose="020F0502020204030204" pitchFamily="34"/>
              </a:rPr>
              <a:t>“Reporting an invented number of trainees would therefore be inappropriate [37, pp. ix–x, 15–16].”</a:t>
            </a:r>
          </a:p>
        </p:txBody>
      </p:sp>
      <p:sp>
        <p:nvSpPr>
          <p:cNvPr id="12" name="Cited for: slide 66"/>
          <p:cNvSpPr txBox="1"/>
          <p:nvPr/>
        </p:nvSpPr>
        <p:spPr>
          <a:xfrm>
            <a:off x="4892040" y="32593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66</a:t>
            </a:r>
            <a:r>
              <a:rPr sz="1400" b="1" i="0">
                <a:solidFill>
                  <a:srgbClr val="2E4257"/>
                </a:solidFill>
                <a:latin typeface="Be Vietnam Pro" panose="020F0502020204030204" pitchFamily="34"/>
              </a:rPr>
              <a:t> · Table/figure source line (§ 3.2.4) · Locator: 2023, pp. viii-ix, 8</a:t>
            </a:r>
          </a:p>
          <a:p>
            <a:pPr algn="l">
              <a:lnSpc>
                <a:spcPts val="1680"/>
              </a:lnSpc>
              <a:spcBef>
                <a:spcPts val="0"/>
              </a:spcBef>
              <a:spcAft>
                <a:spcPts val="1000"/>
              </a:spcAft>
            </a:pPr>
            <a:r>
              <a:rPr sz="1400" b="0" i="1">
                <a:solidFill>
                  <a:srgbClr val="4B5A69"/>
                </a:solidFill>
                <a:latin typeface="Be Vietnam Pro" panose="020F0502020204030204" pitchFamily="34"/>
              </a:rPr>
              <a:t>“Source: World Bank (2023, pp. viii-ix, 8); achievement percentages calculated by the authors.”</a:t>
            </a:r>
          </a:p>
        </p:txBody>
      </p:sp>
      <p:sp>
        <p:nvSpPr>
          <p:cNvPr id="13" name="Cited for: slide 67"/>
          <p:cNvSpPr txBox="1"/>
          <p:nvPr/>
        </p:nvSpPr>
        <p:spPr>
          <a:xfrm>
            <a:off x="4892040" y="41102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67</a:t>
            </a:r>
            <a:r>
              <a:rPr sz="1400" b="1" i="0">
                <a:solidFill>
                  <a:srgbClr val="2E4257"/>
                </a:solidFill>
                <a:latin typeface="Be Vietnam Pro" panose="020F0502020204030204" pitchFamily="34"/>
              </a:rPr>
              <a:t> · Section 3.2.4, paragraph 1 (p. 41) · Locator: pp. viii–ix, 8</a:t>
            </a:r>
          </a:p>
          <a:p>
            <a:pPr algn="l">
              <a:lnSpc>
                <a:spcPts val="1680"/>
              </a:lnSpc>
              <a:spcBef>
                <a:spcPts val="0"/>
              </a:spcBef>
              <a:spcAft>
                <a:spcPts val="1000"/>
              </a:spcAft>
            </a:pPr>
            <a:r>
              <a:rPr sz="1400" b="0" i="1">
                <a:solidFill>
                  <a:srgbClr val="4B5A69"/>
                </a:solidFill>
                <a:latin typeface="Be Vietnam Pro" panose="020F0502020204030204" pitchFamily="34"/>
              </a:rPr>
              <a:t>“The omitted Ninh Binh upgrade was cancelled because that substation was scheduled for dismantling [42, pp. 2–3; 37, pp. viii–ix, 8].”</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1"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4/7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67"/>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67</a:t>
            </a:r>
            <a:r>
              <a:rPr sz="1400" b="1" i="0">
                <a:solidFill>
                  <a:srgbClr val="2E4257"/>
                </a:solidFill>
                <a:latin typeface="Be Vietnam Pro" panose="020F0502020204030204" pitchFamily="34"/>
              </a:rPr>
              <a:t> · Table/figure source line (§ 3.2.4) · Locator: 2023, p. 8</a:t>
            </a:r>
          </a:p>
          <a:p>
            <a:pPr algn="l">
              <a:lnSpc>
                <a:spcPts val="1680"/>
              </a:lnSpc>
              <a:spcBef>
                <a:spcPts val="0"/>
              </a:spcBef>
              <a:spcAft>
                <a:spcPts val="1000"/>
              </a:spcAft>
            </a:pPr>
            <a:r>
              <a:rPr sz="1400" b="0" i="1">
                <a:solidFill>
                  <a:srgbClr val="4B5A69"/>
                </a:solidFill>
                <a:latin typeface="Be Vietnam Pro" panose="020F0502020204030204" pitchFamily="34"/>
              </a:rPr>
              <a:t>“Source: Chart calculated by the authors from World Bank (2023, p. 8). A value of 100% means that the original output target was met, not that all project-wide economic benefits were realised.”</a:t>
            </a:r>
          </a:p>
        </p:txBody>
      </p:sp>
      <p:sp>
        <p:nvSpPr>
          <p:cNvPr id="11" name="Cited for: slide 68"/>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68</a:t>
            </a:r>
            <a:r>
              <a:rPr sz="1400" b="1" i="0">
                <a:solidFill>
                  <a:srgbClr val="2E4257"/>
                </a:solidFill>
                <a:latin typeface="Be Vietnam Pro" panose="020F0502020204030204" pitchFamily="34"/>
              </a:rPr>
              <a:t> · Section 3.2.4, paragraph 2 (p. 42) · Locator: pp. viii–ix, 8–9</a:t>
            </a:r>
          </a:p>
          <a:p>
            <a:pPr algn="l">
              <a:lnSpc>
                <a:spcPts val="1680"/>
              </a:lnSpc>
              <a:spcBef>
                <a:spcPts val="0"/>
              </a:spcBef>
              <a:spcAft>
                <a:spcPts val="1000"/>
              </a:spcAft>
            </a:pPr>
            <a:r>
              <a:rPr sz="1400" b="0" i="1">
                <a:solidFill>
                  <a:srgbClr val="4B5A69"/>
                </a:solidFill>
                <a:latin typeface="Be Vietnam Pro" panose="020F0502020204030204" pitchFamily="34"/>
              </a:rPr>
              <a:t>“The latter national-level series is useful contextual evidence of system development, but should not be presented as a measure of electricity supplied solely because of TEP [37, pp. viii–ix, 8–9].”</a:t>
            </a:r>
          </a:p>
        </p:txBody>
      </p:sp>
      <p:sp>
        <p:nvSpPr>
          <p:cNvPr id="12" name="Cited for: slide 69"/>
          <p:cNvSpPr txBox="1"/>
          <p:nvPr/>
        </p:nvSpPr>
        <p:spPr>
          <a:xfrm>
            <a:off x="4892040" y="34726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69</a:t>
            </a:r>
            <a:r>
              <a:rPr sz="1400" b="1" i="0">
                <a:solidFill>
                  <a:srgbClr val="2E4257"/>
                </a:solidFill>
                <a:latin typeface="Be Vietnam Pro" panose="020F0502020204030204" pitchFamily="34"/>
              </a:rPr>
              <a:t> · Table/figure source line (§ 3.2.4) · Locator: 2023, pp. 9-11, Tables 2.2-2.3</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(2023, pp. 9-11, Tables 2.2-2.3; underlying EVN data).”</a:t>
            </a:r>
          </a:p>
        </p:txBody>
      </p:sp>
      <p:sp>
        <p:nvSpPr>
          <p:cNvPr id="13" name="Cited for: slide 70"/>
          <p:cNvSpPr txBox="1"/>
          <p:nvPr/>
        </p:nvSpPr>
        <p:spPr>
          <a:xfrm>
            <a:off x="4892040" y="453694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70</a:t>
            </a:r>
            <a:r>
              <a:rPr sz="1400" b="1" i="0">
                <a:solidFill>
                  <a:srgbClr val="2E4257"/>
                </a:solidFill>
                <a:latin typeface="Be Vietnam Pro" panose="020F0502020204030204" pitchFamily="34"/>
              </a:rPr>
              <a:t> · Section 3.2.4, paragraph 4 (p. 44) · Locator: pp. 11–13</a:t>
            </a:r>
          </a:p>
          <a:p>
            <a:pPr algn="l">
              <a:lnSpc>
                <a:spcPts val="1680"/>
              </a:lnSpc>
              <a:spcBef>
                <a:spcPts val="0"/>
              </a:spcBef>
              <a:spcAft>
                <a:spcPts val="1000"/>
              </a:spcAft>
            </a:pPr>
            <a:r>
              <a:rPr sz="1400" b="0" i="1">
                <a:solidFill>
                  <a:srgbClr val="4B5A69"/>
                </a:solidFill>
                <a:latin typeface="Be Vietnam Pro" panose="020F0502020204030204" pitchFamily="34"/>
              </a:rPr>
              <a:t>“At the same time, the number of 500-kV transmission-line faults fell from 42 in 2018 to 29 in 2022, while the corresponding 220-kV fault count rose from 135 to 159; therefore reliability improvements were not uniform across all indicators [37, pp. 11–13].”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1"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5/7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70"/>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70</a:t>
            </a:r>
            <a:r>
              <a:rPr sz="1400" b="1" i="0">
                <a:solidFill>
                  <a:srgbClr val="2E4257"/>
                </a:solidFill>
                <a:latin typeface="Be Vietnam Pro" panose="020F0502020204030204" pitchFamily="34"/>
              </a:rPr>
              <a:t> · Table/figure source line (§ 3.2.4) · Locator: 2023, Table 2.3, p. 11</a:t>
            </a:r>
          </a:p>
          <a:p>
            <a:pPr algn="l">
              <a:lnSpc>
                <a:spcPts val="1680"/>
              </a:lnSpc>
              <a:spcBef>
                <a:spcPts val="0"/>
              </a:spcBef>
              <a:spcAft>
                <a:spcPts val="1000"/>
              </a:spcAft>
            </a:pPr>
            <a:r>
              <a:rPr sz="1400" b="0" i="1">
                <a:solidFill>
                  <a:srgbClr val="4B5A69"/>
                </a:solidFill>
                <a:latin typeface="Be Vietnam Pro" panose="020F0502020204030204" pitchFamily="34"/>
              </a:rPr>
              <a:t>“Source: Chart prepared by the authors from World Bank (2023, Table 2.3, p. 11), which cites EVN as the underlying data source. The system-wide transmission loss ratio is not a TEP-only impact estimate. The IEG executive summary reports 2.50% for 2022, whereas Table 2.3 reports 2.54%.”</a:t>
            </a:r>
          </a:p>
        </p:txBody>
      </p:sp>
      <p:sp>
        <p:nvSpPr>
          <p:cNvPr id="11" name="Cited for: slide 71"/>
          <p:cNvSpPr txBox="1"/>
          <p:nvPr/>
        </p:nvSpPr>
        <p:spPr>
          <a:xfrm>
            <a:off x="4892040" y="262178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71</a:t>
            </a:r>
            <a:r>
              <a:rPr sz="1400" b="1" i="0">
                <a:solidFill>
                  <a:srgbClr val="2E4257"/>
                </a:solidFill>
                <a:latin typeface="Be Vietnam Pro" panose="020F0502020204030204" pitchFamily="34"/>
              </a:rPr>
              <a:t> · Section 3.2.4, paragraph 5 (p. 44) · Locator: pp. 8–13</a:t>
            </a:r>
          </a:p>
          <a:p>
            <a:pPr algn="l">
              <a:lnSpc>
                <a:spcPts val="1680"/>
              </a:lnSpc>
              <a:spcBef>
                <a:spcPts val="0"/>
              </a:spcBef>
              <a:spcAft>
                <a:spcPts val="1000"/>
              </a:spcAft>
            </a:pPr>
            <a:r>
              <a:rPr sz="1400" b="0" i="1">
                <a:solidFill>
                  <a:srgbClr val="4B5A69"/>
                </a:solidFill>
                <a:latin typeface="Be Vietnam Pro" panose="020F0502020204030204" pitchFamily="34"/>
              </a:rPr>
              <a:t>“Accordingly, the defensible conclusion is that TEP supported the network's capability to integrate renewables, not that it eliminated renewable curtailment or achieved a verified numerical increase in renewable generation [37, pp. 8–13].”</a:t>
            </a:r>
          </a:p>
        </p:txBody>
      </p:sp>
      <p:sp>
        <p:nvSpPr>
          <p:cNvPr id="12" name="Cited for: slide 72"/>
          <p:cNvSpPr txBox="1"/>
          <p:nvPr/>
        </p:nvSpPr>
        <p:spPr>
          <a:xfrm>
            <a:off x="4892040" y="389940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72</a:t>
            </a:r>
            <a:r>
              <a:rPr sz="1400" b="1" i="0">
                <a:solidFill>
                  <a:srgbClr val="2E4257"/>
                </a:solidFill>
                <a:latin typeface="Be Vietnam Pro" panose="020F0502020204030204" pitchFamily="34"/>
              </a:rPr>
              <a:t> · Section 3.2.5, paragraph 1 (p. 44) · Locator: p. v</a:t>
            </a:r>
          </a:p>
          <a:p>
            <a:pPr algn="l">
              <a:lnSpc>
                <a:spcPts val="1680"/>
              </a:lnSpc>
              <a:spcBef>
                <a:spcPts val="0"/>
              </a:spcBef>
              <a:spcAft>
                <a:spcPts val="1000"/>
              </a:spcAft>
            </a:pPr>
            <a:r>
              <a:rPr sz="1400" b="0" i="1">
                <a:solidFill>
                  <a:srgbClr val="4B5A69"/>
                </a:solidFill>
                <a:latin typeface="Be Vietnam Pro" panose="020F0502020204030204" pitchFamily="34"/>
              </a:rPr>
              <a:t>“The original counterpart allocation of USD 231.25 million and the final amount of approximately USD 199.00 million are also different [41, Annex 3; 37, p. v].”</a:t>
            </a:r>
          </a:p>
        </p:txBody>
      </p:sp>
      <p:sp>
        <p:nvSpPr>
          <p:cNvPr id="13" name="Cited for: slide 73"/>
          <p:cNvSpPr txBox="1"/>
          <p:nvPr/>
        </p:nvSpPr>
        <p:spPr>
          <a:xfrm>
            <a:off x="4892040" y="475030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73</a:t>
            </a:r>
            <a:r>
              <a:rPr sz="1400" b="1" i="0">
                <a:solidFill>
                  <a:srgbClr val="2E4257"/>
                </a:solidFill>
                <a:latin typeface="Be Vietnam Pro" panose="020F0502020204030204" pitchFamily="34"/>
              </a:rPr>
              <a:t> · Table/figure source line (§ 3.2.5) · Locator: 2023, pp. v, x, 17</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and calculations from World Bank (2022a, Annex 3, Table 3.2) and World Bank (2023, pp. v, x, 17).”</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1"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6/7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74"/>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74</a:t>
            </a:r>
            <a:r>
              <a:rPr sz="1400" b="1" i="0">
                <a:solidFill>
                  <a:srgbClr val="2E4257"/>
                </a:solidFill>
                <a:latin typeface="Be Vietnam Pro" panose="020F0502020204030204" pitchFamily="34"/>
              </a:rPr>
              <a:t> · Table/figure source line (§ 3.2.5) · Locator: 2023, pp. v, x, 17</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and calculations from World Bank (2022a, Annex 3, Table 3.2) and World Bank (2023, pp. v, x, 17).”</a:t>
            </a:r>
          </a:p>
        </p:txBody>
      </p:sp>
      <p:sp>
        <p:nvSpPr>
          <p:cNvPr id="11" name="Cited for: slide 75"/>
          <p:cNvSpPr txBox="1"/>
          <p:nvPr/>
        </p:nvSpPr>
        <p:spPr>
          <a:xfrm>
            <a:off x="4892040" y="21950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75</a:t>
            </a:r>
            <a:r>
              <a:rPr sz="1400" b="1" i="0">
                <a:solidFill>
                  <a:srgbClr val="2E4257"/>
                </a:solidFill>
                <a:latin typeface="Be Vietnam Pro" panose="020F0502020204030204" pitchFamily="34"/>
              </a:rPr>
              <a:t> · Section 3.2.5, paragraph 3 (p. 46) · Locator: pp. x–xi, 17–18</a:t>
            </a:r>
          </a:p>
          <a:p>
            <a:pPr algn="l">
              <a:lnSpc>
                <a:spcPts val="1680"/>
              </a:lnSpc>
              <a:spcBef>
                <a:spcPts val="0"/>
              </a:spcBef>
              <a:spcAft>
                <a:spcPts val="1000"/>
              </a:spcAft>
            </a:pPr>
            <a:r>
              <a:rPr sz="1400" b="0" i="1">
                <a:solidFill>
                  <a:srgbClr val="4B5A69"/>
                </a:solidFill>
                <a:latin typeface="Be Vietnam Pro" panose="020F0502020204030204" pitchFamily="34"/>
              </a:rPr>
              <a:t>“The independent assessment nevertheless rated the overall outcome highly satisfactory because the principal capacity, efficiency and reliability objectives were substantially achieved [42, pp. 3, 12; 37, pp. x–xi, 17–18].”</a:t>
            </a:r>
          </a:p>
        </p:txBody>
      </p:sp>
      <p:sp>
        <p:nvSpPr>
          <p:cNvPr id="12" name="Cited for: slide 106"/>
          <p:cNvSpPr txBox="1"/>
          <p:nvPr/>
        </p:nvSpPr>
        <p:spPr>
          <a:xfrm>
            <a:off x="4892040" y="32593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106</a:t>
            </a:r>
            <a:r>
              <a:rPr sz="1400" b="1" i="0">
                <a:solidFill>
                  <a:srgbClr val="2E4257"/>
                </a:solidFill>
                <a:latin typeface="Be Vietnam Pro" panose="020F0502020204030204" pitchFamily="34"/>
              </a:rPr>
              <a:t> · Section 3.4.1, paragraph 1 (p. 59)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TEP, competitive bidding under Bank rules lowered capital costs, so the same objectives were achieved with less borrowing [37].”</a:t>
            </a:r>
          </a:p>
        </p:txBody>
      </p:sp>
      <p:sp>
        <p:nvSpPr>
          <p:cNvPr id="13" name="Cited for: slide 107"/>
          <p:cNvSpPr txBox="1"/>
          <p:nvPr/>
        </p:nvSpPr>
        <p:spPr>
          <a:xfrm>
            <a:off x="4892040" y="43235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107</a:t>
            </a:r>
            <a:r>
              <a:rPr sz="1400" b="1" i="0">
                <a:solidFill>
                  <a:srgbClr val="2E4257"/>
                </a:solidFill>
                <a:latin typeface="Be Vietnam Pro" panose="020F0502020204030204" pitchFamily="34"/>
              </a:rPr>
              <a:t> · Section 3.4.2, paragraph 2 (p. 60)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TEP, the choice and approval of smart-grid technology took about four years [37].”</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1"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7/7</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(2023). Vietnam – Transmission Efficiency Project: Project performance assessment report (Report No. 182837). World Bank.</a:t>
            </a:r>
          </a:p>
        </p:txBody>
      </p:sp>
      <p:sp>
        <p:nvSpPr>
          <p:cNvPr id="6" name="Reference URL"/>
          <p:cNvSpPr txBox="1"/>
          <p:nvPr/>
        </p:nvSpPr>
        <p:spPr>
          <a:xfrm>
            <a:off x="548640" y="25786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https://documents.worldbank.org/en/publication/documents-reports/documentdetail/099026109262383942</a:t>
            </a:r>
          </a:p>
        </p:txBody>
      </p:sp>
      <p:sp>
        <p:nvSpPr>
          <p:cNvPr id="7" name="Status label"/>
          <p:cNvSpPr/>
          <p:nvPr/>
        </p:nvSpPr>
        <p:spPr>
          <a:xfrm>
            <a:off x="548640" y="32826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398264"/>
            <a:ext cx="3931920" cy="1005839"/>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2023; 2023, Table 2.3, p. 11; 2023, p. 8; 2023, pp. 9-11, Tables 2.2-2.3; 2023, pp. v, x, 17; 2023, pp. v-vi; 2023, pp. viii-ix, 8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37</a:t>
            </a:r>
            <a:r>
              <a:rPr sz="1200" b="1" i="0">
                <a:solidFill>
                  <a:srgbClr val="A33224"/>
                </a:solidFill>
                <a:latin typeface="Be Vietnam Pro" panose="020F0502020204030204" pitchFamily="34"/>
              </a:rPr>
              <a:t>]</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08"/>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108</a:t>
            </a:r>
            <a:r>
              <a:rPr sz="1400" b="1" i="0">
                <a:solidFill>
                  <a:srgbClr val="2E4257"/>
                </a:solidFill>
                <a:latin typeface="Be Vietnam Pro" panose="020F0502020204030204" pitchFamily="34"/>
              </a:rPr>
              <a:t> · Section 3.4.3, paragraph 2 (p. 61)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“TEP's four-year delay on smart-grid technology could have been shortened by earlier regulatory coordination [37].”</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3" name="Previous page button">
            <a:hlinkClick r:id="rId7"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38</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Pacific World Bank project orientation [Open Learning Campus course].</a:t>
            </a:r>
          </a:p>
        </p:txBody>
      </p:sp>
      <p:sp>
        <p:nvSpPr>
          <p:cNvPr id="6" name="Reference URL"/>
          <p:cNvSpPr txBox="1"/>
          <p:nvPr/>
        </p:nvSpPr>
        <p:spPr>
          <a:xfrm>
            <a:off x="548640" y="2350008"/>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https://www.worldbank.org/en/olc/course/48351</a:t>
            </a:r>
          </a:p>
        </p:txBody>
      </p:sp>
      <p:sp>
        <p:nvSpPr>
          <p:cNvPr id="7" name="Status label"/>
          <p:cNvSpPr/>
          <p:nvPr/>
        </p:nvSpPr>
        <p:spPr>
          <a:xfrm>
            <a:off x="548640" y="26883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0390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40"/>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40</a:t>
            </a:r>
            <a:r>
              <a:rPr sz="1400" b="1" i="0">
                <a:solidFill>
                  <a:srgbClr val="2E4257"/>
                </a:solidFill>
                <a:latin typeface="Be Vietnam Pro" panose="020F0502020204030204" pitchFamily="34"/>
              </a:rPr>
              <a:t> · Section 2.3.1, paragraph 2 (p. 27)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“Its project orientation courses, for example, cover Bank expectations, project and financial management, procurement, environmental and social risk management, and M&amp;E [38].”</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39</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(2015, March 23). A new online course to build procurement capacity [Feature story].</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https://www.worldbank.org/en/news/feature/2015/03/23/a-new-online-course-to-build-procurement-capacity</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41"/>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41</a:t>
            </a:r>
            <a:r>
              <a:rPr sz="1400" b="1" i="0">
                <a:solidFill>
                  <a:srgbClr val="2E4257"/>
                </a:solidFill>
                <a:latin typeface="Be Vietnam Pro" panose="020F0502020204030204" pitchFamily="34"/>
              </a:rPr>
              <a:t> · Section 2.3.2, paragraph 2 (p. 27)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2014, it launched what it described as the world's first massive open online course (MOOC) on public procurement, with more than 540 certified learners [39].”</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40</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(n.d.). E-procurement learning (self-paced) [Open Learning Campus course].</a:t>
            </a:r>
          </a:p>
        </p:txBody>
      </p:sp>
      <p:sp>
        <p:nvSpPr>
          <p:cNvPr id="6" name="Reference URL"/>
          <p:cNvSpPr txBox="1"/>
          <p:nvPr/>
        </p:nvSpPr>
        <p:spPr>
          <a:xfrm>
            <a:off x="548640" y="2350008"/>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https://www.worldbank.org/en/olc/course/37108</a:t>
            </a:r>
          </a:p>
        </p:txBody>
      </p:sp>
      <p:sp>
        <p:nvSpPr>
          <p:cNvPr id="7" name="Status label"/>
          <p:cNvSpPr/>
          <p:nvPr/>
        </p:nvSpPr>
        <p:spPr>
          <a:xfrm>
            <a:off x="548640" y="26883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0390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41"/>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41</a:t>
            </a:r>
            <a:r>
              <a:rPr sz="1400" b="1" i="0">
                <a:solidFill>
                  <a:srgbClr val="2E4257"/>
                </a:solidFill>
                <a:latin typeface="Be Vietnam Pro" panose="020F0502020204030204" pitchFamily="34"/>
              </a:rPr>
              <a:t> · Section 2.3.2, paragraph 2 (p. 27)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“E-procurement courses on the Open Learning Campus offer certification to participants who pass an examination [40].”</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1/6</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Implementation completion and results report: Vietnam – Transmission Efficiency Project (IBRD-84170).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118872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2022a; 2022a, Annex 3, Table 3.1; 2022a, Annex 3, Table 3.1, p. 48; 2022a, Annex 3, Table 3.2; 2022a, Annex 3, Table 3.2, p. 49; 2022a, pp. 1-3, 49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41</a:t>
            </a:r>
            <a:r>
              <a:rPr sz="1200" b="1" i="0">
                <a:solidFill>
                  <a:srgbClr val="A33224"/>
                </a:solidFill>
                <a:latin typeface="Be Vietnam Pro" panose="020F0502020204030204" pitchFamily="34"/>
              </a:rPr>
              <a:t>]</a:t>
            </a:r>
          </a:p>
        </p:txBody>
      </p:sp>
      <p:sp>
        <p:nvSpPr>
          <p:cNvPr id="9" name="Locators"/>
          <p:cNvSpPr txBox="1"/>
          <p:nvPr/>
        </p:nvSpPr>
        <p:spPr>
          <a:xfrm>
            <a:off x="548640" y="5513831"/>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3; Annex 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42"/>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42</a:t>
            </a:r>
            <a:r>
              <a:rPr sz="1400" b="1" i="0">
                <a:solidFill>
                  <a:srgbClr val="2E4257"/>
                </a:solidFill>
                <a:latin typeface="Be Vietnam Pro" panose="020F0502020204030204" pitchFamily="34"/>
              </a:rPr>
              <a:t> · Table/figure source line (§ 2.3.3) · Locator: 2022a</a:t>
            </a:r>
          </a:p>
          <a:p>
            <a:pPr algn="l">
              <a:lnSpc>
                <a:spcPts val="1680"/>
              </a:lnSpc>
              <a:spcBef>
                <a:spcPts val="0"/>
              </a:spcBef>
              <a:spcAft>
                <a:spcPts val="1000"/>
              </a:spcAft>
            </a:pPr>
            <a:r>
              <a:rPr sz="1400" b="0" i="1">
                <a:solidFill>
                  <a:srgbClr val="4B5A69"/>
                </a:solidFill>
                <a:latin typeface="Be Vietnam Pro" panose="020F0502020204030204" pitchFamily="34"/>
              </a:rPr>
              <a:t>“Source: Sections 3.2.3 and 3.3.3, based on World Bank (2022a, 2022b, 2022c, 2023).”</a:t>
            </a:r>
          </a:p>
        </p:txBody>
      </p:sp>
      <p:sp>
        <p:nvSpPr>
          <p:cNvPr id="12" name="Cited for: slide 47"/>
          <p:cNvSpPr txBox="1"/>
          <p:nvPr/>
        </p:nvSpPr>
        <p:spPr>
          <a:xfrm>
            <a:off x="4892040" y="21950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47</a:t>
            </a:r>
            <a:r>
              <a:rPr sz="1400" b="1" i="0">
                <a:solidFill>
                  <a:srgbClr val="2E4257"/>
                </a:solidFill>
                <a:latin typeface="Be Vietnam Pro" panose="020F0502020204030204" pitchFamily="34"/>
              </a:rPr>
              <a:t> · Section 3.1,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“Distinguishing these measures is essential when assessing the IBRD contribution to project financing [44; 41; 37].”</a:t>
            </a:r>
          </a:p>
        </p:txBody>
      </p:sp>
      <p:sp>
        <p:nvSpPr>
          <p:cNvPr id="13" name="Cited for: slide 48"/>
          <p:cNvSpPr txBox="1"/>
          <p:nvPr/>
        </p:nvSpPr>
        <p:spPr>
          <a:xfrm>
            <a:off x="4892040" y="30459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48</a:t>
            </a:r>
            <a:r>
              <a:rPr sz="1400" b="1" i="0">
                <a:solidFill>
                  <a:srgbClr val="2E4257"/>
                </a:solidFill>
                <a:latin typeface="Be Vietnam Pro" panose="020F0502020204030204" pitchFamily="34"/>
              </a:rPr>
              <a:t> · Section 3.1,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“Distinguishing these measures is essential when assessing the IBRD contribution to project financing [44; 41; 37].”</a:t>
            </a:r>
          </a:p>
        </p:txBody>
      </p:sp>
      <p:sp>
        <p:nvSpPr>
          <p:cNvPr id="14" name="Cited for: slide 55"/>
          <p:cNvSpPr txBox="1"/>
          <p:nvPr/>
        </p:nvSpPr>
        <p:spPr>
          <a:xfrm>
            <a:off x="4892040" y="38968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55</a:t>
            </a:r>
            <a:r>
              <a:rPr sz="1400" b="1" i="0">
                <a:solidFill>
                  <a:srgbClr val="2E4257"/>
                </a:solidFill>
                <a:latin typeface="Be Vietnam Pro" panose="020F0502020204030204" pitchFamily="34"/>
              </a:rPr>
              <a:t> · Section 3.2.1, paragraph 1 (p. 35)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was financed using Investment Project Financing (IPF), rather than a development-policy or results-based lending instrument [44; 41; 37].”</a:t>
            </a:r>
          </a:p>
        </p:txBody>
      </p:sp>
      <p:sp>
        <p:nvSpPr>
          <p:cNvPr id="15" name="Cited for: slide 56"/>
          <p:cNvSpPr txBox="1"/>
          <p:nvPr/>
        </p:nvSpPr>
        <p:spPr>
          <a:xfrm>
            <a:off x="4892040" y="49611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9" action="ppaction://hlinksldjump"/>
              </a:rPr>
              <a:t>Slide 56</a:t>
            </a:r>
            <a:r>
              <a:rPr sz="1400" b="1" i="0">
                <a:solidFill>
                  <a:srgbClr val="2E4257"/>
                </a:solidFill>
                <a:latin typeface="Be Vietnam Pro" panose="020F0502020204030204" pitchFamily="34"/>
              </a:rPr>
              <a:t> · Table/figure source line (§ 3.2.1) · Locator: 2022a, pp. 1-3, 49</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Project Data Sheet), World Bank (2022a, pp. 1-3, 49), and World Bank (2023, pp. v-vi).”</a:t>
            </a:r>
          </a:p>
        </p:txBody>
      </p:sp>
      <p:sp>
        <p:nvSpPr>
          <p:cNvPr id="16"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7" name="Index button">
            <a:hlinkClick r:id="rId10"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8" name="Next page button">
            <a:hlinkClick r:id="rId11"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2/6</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Implementation completion and results report: Vietnam – Transmission Efficiency Project (IBRD-84170).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118872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2022a; 2022a, Annex 3, Table 3.1; 2022a, Annex 3, Table 3.1, p. 48; 2022a, Annex 3, Table 3.2; 2022a, Annex 3, Table 3.2, p. 49; 2022a, pp. 1-3, 49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41</a:t>
            </a:r>
            <a:r>
              <a:rPr sz="1200" b="1" i="0">
                <a:solidFill>
                  <a:srgbClr val="A33224"/>
                </a:solidFill>
                <a:latin typeface="Be Vietnam Pro" panose="020F0502020204030204" pitchFamily="34"/>
              </a:rPr>
              <a:t>]</a:t>
            </a:r>
          </a:p>
        </p:txBody>
      </p:sp>
      <p:sp>
        <p:nvSpPr>
          <p:cNvPr id="9" name="Locators"/>
          <p:cNvSpPr txBox="1"/>
          <p:nvPr/>
        </p:nvSpPr>
        <p:spPr>
          <a:xfrm>
            <a:off x="548640" y="5513831"/>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3; Annex 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57"/>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57</a:t>
            </a:r>
            <a:r>
              <a:rPr sz="1400" b="1" i="0">
                <a:solidFill>
                  <a:srgbClr val="2E4257"/>
                </a:solidFill>
                <a:latin typeface="Be Vietnam Pro" panose="020F0502020204030204" pitchFamily="34"/>
              </a:rPr>
              <a:t> · Table/figure source line (§ 3.2.1) · Locator: 2022a, pp. 1-3, 49</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Project Data Sheet), World Bank (2022a, pp. 1-3, 49), and World Bank (2023, pp. v-vi).”</a:t>
            </a:r>
          </a:p>
        </p:txBody>
      </p:sp>
      <p:sp>
        <p:nvSpPr>
          <p:cNvPr id="12" name="Cited for: slide 57 (2)"/>
          <p:cNvSpPr txBox="1"/>
          <p:nvPr/>
        </p:nvSpPr>
        <p:spPr>
          <a:xfrm>
            <a:off x="4892040" y="21950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57</a:t>
            </a:r>
            <a:r>
              <a:rPr sz="1400" b="1" i="0">
                <a:solidFill>
                  <a:srgbClr val="2E4257"/>
                </a:solidFill>
                <a:latin typeface="Be Vietnam Pro" panose="020F0502020204030204" pitchFamily="34"/>
              </a:rPr>
              <a:t> · Section 3.2.1, paragraph 3 (p. 36)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loan also included a USD 1.25 million front-end fee, so the figure for investment components alone must not be equated with the complete financing total [44; 41].”</a:t>
            </a:r>
          </a:p>
        </p:txBody>
      </p:sp>
      <p:sp>
        <p:nvSpPr>
          <p:cNvPr id="13" name="Cited for: slide 58"/>
          <p:cNvSpPr txBox="1"/>
          <p:nvPr/>
        </p:nvSpPr>
        <p:spPr>
          <a:xfrm>
            <a:off x="4892040" y="347268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58</a:t>
            </a:r>
            <a:r>
              <a:rPr sz="1400" b="1" i="0">
                <a:solidFill>
                  <a:srgbClr val="2E4257"/>
                </a:solidFill>
                <a:latin typeface="Be Vietnam Pro" panose="020F0502020204030204" pitchFamily="34"/>
              </a:rPr>
              <a:t> · Section 3.2.2, paragraph 2 (p. 36)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component-level breakdown is particularly informative because it distinguishes the physical and digital assets created by the project from its smaller institutional reform agenda [41].”</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8"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9"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3/6</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Implementation completion and results report: Vietnam – Transmission Efficiency Project (IBRD-84170).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118872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2022a; 2022a, Annex 3, Table 3.1; 2022a, Annex 3, Table 3.1, p. 48; 2022a, Annex 3, Table 3.2; 2022a, Annex 3, Table 3.2, p. 49; 2022a, pp. 1-3, 49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41</a:t>
            </a:r>
            <a:r>
              <a:rPr sz="1200" b="1" i="0">
                <a:solidFill>
                  <a:srgbClr val="A33224"/>
                </a:solidFill>
                <a:latin typeface="Be Vietnam Pro" panose="020F0502020204030204" pitchFamily="34"/>
              </a:rPr>
              <a:t>]</a:t>
            </a:r>
          </a:p>
        </p:txBody>
      </p:sp>
      <p:sp>
        <p:nvSpPr>
          <p:cNvPr id="9" name="Locators"/>
          <p:cNvSpPr txBox="1"/>
          <p:nvPr/>
        </p:nvSpPr>
        <p:spPr>
          <a:xfrm>
            <a:off x="548640" y="5513831"/>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3; Annex 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59"/>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59</a:t>
            </a:r>
            <a:r>
              <a:rPr sz="1400" b="1" i="0">
                <a:solidFill>
                  <a:srgbClr val="2E4257"/>
                </a:solidFill>
                <a:latin typeface="Be Vietnam Pro" panose="020F0502020204030204" pitchFamily="34"/>
              </a:rPr>
              <a:t> · Table/figure source line (§ 3.2.2) · Locator: 2022a, Annex 3, Table 3.1, p. 48</a:t>
            </a:r>
          </a:p>
          <a:p>
            <a:pPr algn="l">
              <a:lnSpc>
                <a:spcPts val="1680"/>
              </a:lnSpc>
              <a:spcBef>
                <a:spcPts val="0"/>
              </a:spcBef>
              <a:spcAft>
                <a:spcPts val="1000"/>
              </a:spcAft>
            </a:pPr>
            <a:r>
              <a:rPr sz="1400" b="0" i="1">
                <a:solidFill>
                  <a:srgbClr val="4B5A69"/>
                </a:solidFill>
                <a:latin typeface="Be Vietnam Pro" panose="020F0502020204030204" pitchFamily="34"/>
              </a:rPr>
              <a:t>“Source: World Bank (2022a, Annex 3, Table 3.1, p. 48). Figures transcribed from the original table; the fee row is labeled using the PAD (World Bank, 2014).”</a:t>
            </a:r>
          </a:p>
        </p:txBody>
      </p:sp>
      <p:sp>
        <p:nvSpPr>
          <p:cNvPr id="12" name="Cited for: slide 60"/>
          <p:cNvSpPr txBox="1"/>
          <p:nvPr/>
        </p:nvSpPr>
        <p:spPr>
          <a:xfrm>
            <a:off x="4892040" y="26217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60</a:t>
            </a:r>
            <a:r>
              <a:rPr sz="1400" b="1" i="0">
                <a:solidFill>
                  <a:srgbClr val="2E4257"/>
                </a:solidFill>
                <a:latin typeface="Be Vietnam Pro" panose="020F0502020204030204" pitchFamily="34"/>
              </a:rPr>
              <a:t> · Table/figure source line (§ 3.2.2) · Locator: 2022a, Annex 3, Table 3.2, p. 49</a:t>
            </a:r>
          </a:p>
          <a:p>
            <a:pPr algn="l">
              <a:lnSpc>
                <a:spcPts val="1680"/>
              </a:lnSpc>
              <a:spcBef>
                <a:spcPts val="0"/>
              </a:spcBef>
              <a:spcAft>
                <a:spcPts val="1000"/>
              </a:spcAft>
            </a:pPr>
            <a:r>
              <a:rPr sz="1400" b="0" i="1">
                <a:solidFill>
                  <a:srgbClr val="4B5A69"/>
                </a:solidFill>
                <a:latin typeface="Be Vietnam Pro" panose="020F0502020204030204" pitchFamily="34"/>
              </a:rPr>
              <a:t>“Source: Adapted from World Bank (2022a, Annex 3, Table 3.2, p. 49). IBRD component allocations and actual costs are taken from the original table.”</a:t>
            </a:r>
          </a:p>
        </p:txBody>
      </p:sp>
      <p:sp>
        <p:nvSpPr>
          <p:cNvPr id="13" name="Cited for: slide 60 (2)"/>
          <p:cNvSpPr txBox="1"/>
          <p:nvPr/>
        </p:nvSpPr>
        <p:spPr>
          <a:xfrm>
            <a:off x="4892040" y="368604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60</a:t>
            </a:r>
            <a:r>
              <a:rPr sz="1400" b="1" i="0">
                <a:solidFill>
                  <a:srgbClr val="2E4257"/>
                </a:solidFill>
                <a:latin typeface="Be Vietnam Pro" panose="020F0502020204030204" pitchFamily="34"/>
              </a:rPr>
              <a:t> · Table/figure source line (§ 3.2.2) · Locator: 2022a, Annex 3, Table 3.1</a:t>
            </a:r>
          </a:p>
          <a:p>
            <a:pPr algn="l">
              <a:lnSpc>
                <a:spcPts val="1680"/>
              </a:lnSpc>
              <a:spcBef>
                <a:spcPts val="0"/>
              </a:spcBef>
              <a:spcAft>
                <a:spcPts val="1000"/>
              </a:spcAft>
            </a:pPr>
            <a:r>
              <a:rPr sz="1400" b="0" i="1">
                <a:solidFill>
                  <a:srgbClr val="4B5A69"/>
                </a:solidFill>
                <a:latin typeface="Be Vietnam Pro" panose="020F0502020204030204" pitchFamily="34"/>
              </a:rPr>
              <a:t>“Source: Chart prepared by the authors using data from World Bank (2022a, Annex 3, Table 3.1). The USD 1.25 million front-end fee is excluded from the three component bars but included in total project costs.”</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8"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9"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4/6</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Implementation completion and results report: Vietnam – Transmission Efficiency Project (IBRD-84170).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118872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2022a; 2022a, Annex 3, Table 3.1; 2022a, Annex 3, Table 3.1, p. 48; 2022a, Annex 3, Table 3.2; 2022a, Annex 3, Table 3.2, p. 49; 2022a, pp. 1-3, 49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41</a:t>
            </a:r>
            <a:r>
              <a:rPr sz="1200" b="1" i="0">
                <a:solidFill>
                  <a:srgbClr val="A33224"/>
                </a:solidFill>
                <a:latin typeface="Be Vietnam Pro" panose="020F0502020204030204" pitchFamily="34"/>
              </a:rPr>
              <a:t>]</a:t>
            </a:r>
          </a:p>
        </p:txBody>
      </p:sp>
      <p:sp>
        <p:nvSpPr>
          <p:cNvPr id="9" name="Locators"/>
          <p:cNvSpPr txBox="1"/>
          <p:nvPr/>
        </p:nvSpPr>
        <p:spPr>
          <a:xfrm>
            <a:off x="548640" y="5513831"/>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3; Annex 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61"/>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61</a:t>
            </a:r>
            <a:r>
              <a:rPr sz="1400" b="1" i="0">
                <a:solidFill>
                  <a:srgbClr val="2E4257"/>
                </a:solidFill>
                <a:latin typeface="Be Vietnam Pro" panose="020F0502020204030204" pitchFamily="34"/>
              </a:rPr>
              <a:t> · Table/figure source line (§ 3.2.2) · Locator: 2022a, Annex 3, Table 3.2, p. 49</a:t>
            </a:r>
          </a:p>
          <a:p>
            <a:pPr algn="l">
              <a:lnSpc>
                <a:spcPts val="1680"/>
              </a:lnSpc>
              <a:spcBef>
                <a:spcPts val="0"/>
              </a:spcBef>
              <a:spcAft>
                <a:spcPts val="1000"/>
              </a:spcAft>
            </a:pPr>
            <a:r>
              <a:rPr sz="1400" b="0" i="1">
                <a:solidFill>
                  <a:srgbClr val="4B5A69"/>
                </a:solidFill>
                <a:latin typeface="Be Vietnam Pro" panose="020F0502020204030204" pitchFamily="34"/>
              </a:rPr>
              <a:t>“Source: Adapted from World Bank (2022a, Annex 3, Table 3.2, p. 49). IBRD component allocations and actual costs are taken from the original table.”</a:t>
            </a:r>
          </a:p>
        </p:txBody>
      </p:sp>
      <p:sp>
        <p:nvSpPr>
          <p:cNvPr id="12" name="Cited for: slide 61 (2)"/>
          <p:cNvSpPr txBox="1"/>
          <p:nvPr/>
        </p:nvSpPr>
        <p:spPr>
          <a:xfrm>
            <a:off x="4892040" y="240842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61</a:t>
            </a:r>
            <a:r>
              <a:rPr sz="1400" b="1" i="0">
                <a:solidFill>
                  <a:srgbClr val="2E4257"/>
                </a:solidFill>
                <a:latin typeface="Be Vietnam Pro" panose="020F0502020204030204" pitchFamily="34"/>
              </a:rPr>
              <a:t> · Table/figure source line (§ 3.2.2) · Locator: 2022a, Annex 3, Table 3.2</a:t>
            </a:r>
          </a:p>
          <a:p>
            <a:pPr algn="l">
              <a:lnSpc>
                <a:spcPts val="1680"/>
              </a:lnSpc>
              <a:spcBef>
                <a:spcPts val="0"/>
              </a:spcBef>
              <a:spcAft>
                <a:spcPts val="1000"/>
              </a:spcAft>
            </a:pPr>
            <a:r>
              <a:rPr sz="1400" b="0" i="1">
                <a:solidFill>
                  <a:srgbClr val="4B5A69"/>
                </a:solidFill>
                <a:latin typeface="Be Vietnam Pro" panose="020F0502020204030204" pitchFamily="34"/>
              </a:rPr>
              <a:t>“Source: Chart prepared by the authors using data from World Bank (2022a, Annex 3, Table 3.2). Actual expenditure is not equivalent to contractual loan availability.”</a:t>
            </a:r>
          </a:p>
        </p:txBody>
      </p:sp>
      <p:sp>
        <p:nvSpPr>
          <p:cNvPr id="13" name="Cited for: slide 62"/>
          <p:cNvSpPr txBox="1"/>
          <p:nvPr/>
        </p:nvSpPr>
        <p:spPr>
          <a:xfrm>
            <a:off x="4892040" y="368604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62</a:t>
            </a:r>
            <a:r>
              <a:rPr sz="1400" b="1" i="0">
                <a:solidFill>
                  <a:srgbClr val="2E4257"/>
                </a:solidFill>
                <a:latin typeface="Be Vietnam Pro" panose="020F0502020204030204" pitchFamily="34"/>
              </a:rPr>
              <a:t> · Section 3.2.2, paragraph 4 (p. 38)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“Thus, describing all institutional activities as "IBRD-financed training" would incorrectly attribute borrower-funded expenditure to the Bank [41].”</a:t>
            </a:r>
          </a:p>
        </p:txBody>
      </p:sp>
      <p:sp>
        <p:nvSpPr>
          <p:cNvPr id="14" name="Cited for: slide 63"/>
          <p:cNvSpPr txBox="1"/>
          <p:nvPr/>
        </p:nvSpPr>
        <p:spPr>
          <a:xfrm>
            <a:off x="4892040" y="475030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63</a:t>
            </a:r>
            <a:r>
              <a:rPr sz="1400" b="1" i="0">
                <a:solidFill>
                  <a:srgbClr val="2E4257"/>
                </a:solidFill>
                <a:latin typeface="Be Vietnam Pro" panose="020F0502020204030204" pitchFamily="34"/>
              </a:rPr>
              <a:t> · Section 3.2.3, paragraph 1 (p. 39)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project's financing and implementation experience, however, was considerably narrower than this original list suggests [44; 41; 37].”</a:t>
            </a:r>
          </a:p>
        </p:txBody>
      </p:sp>
      <p:sp>
        <p:nvSpPr>
          <p:cNvPr id="15"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6"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7"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8"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5/6</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Implementation completion and results report: Vietnam – Transmission Efficiency Project (IBRD-84170).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118872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2022a; 2022a, Annex 3, Table 3.1; 2022a, Annex 3, Table 3.1, p. 48; 2022a, Annex 3, Table 3.2; 2022a, Annex 3, Table 3.2, p. 49; 2022a, pp. 1-3, 49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41</a:t>
            </a:r>
            <a:r>
              <a:rPr sz="1200" b="1" i="0">
                <a:solidFill>
                  <a:srgbClr val="A33224"/>
                </a:solidFill>
                <a:latin typeface="Be Vietnam Pro" panose="020F0502020204030204" pitchFamily="34"/>
              </a:rPr>
              <a:t>]</a:t>
            </a:r>
          </a:p>
        </p:txBody>
      </p:sp>
      <p:sp>
        <p:nvSpPr>
          <p:cNvPr id="9" name="Locators"/>
          <p:cNvSpPr txBox="1"/>
          <p:nvPr/>
        </p:nvSpPr>
        <p:spPr>
          <a:xfrm>
            <a:off x="548640" y="5513831"/>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3; Annex 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64"/>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64</a:t>
            </a:r>
            <a:r>
              <a:rPr sz="1400" b="1" i="0">
                <a:solidFill>
                  <a:srgbClr val="2E4257"/>
                </a:solidFill>
                <a:latin typeface="Be Vietnam Pro" panose="020F0502020204030204" pitchFamily="34"/>
              </a:rPr>
              <a:t> · Table/figure source line (§ 3.2.3) · Locator: 2022a, Annex 3, Table 3.2, p. 49</a:t>
            </a:r>
          </a:p>
          <a:p>
            <a:pPr algn="l">
              <a:lnSpc>
                <a:spcPts val="1680"/>
              </a:lnSpc>
              <a:spcBef>
                <a:spcPts val="0"/>
              </a:spcBef>
              <a:spcAft>
                <a:spcPts val="1000"/>
              </a:spcAft>
            </a:pPr>
            <a:r>
              <a:rPr sz="1400" b="0" i="1">
                <a:solidFill>
                  <a:srgbClr val="4B5A69"/>
                </a:solidFill>
                <a:latin typeface="Be Vietnam Pro" panose="020F0502020204030204" pitchFamily="34"/>
              </a:rPr>
              <a:t>“Source: Authors’ synthesis of World Bank (2022a, Annex 3, Table 3.2, p. 49) and World Bank (2022b, pp. 2-3).”</a:t>
            </a:r>
          </a:p>
        </p:txBody>
      </p:sp>
      <p:sp>
        <p:nvSpPr>
          <p:cNvPr id="12" name="Cited for: slide 71"/>
          <p:cNvSpPr txBox="1"/>
          <p:nvPr/>
        </p:nvSpPr>
        <p:spPr>
          <a:xfrm>
            <a:off x="4892040" y="240842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71</a:t>
            </a:r>
            <a:r>
              <a:rPr sz="1400" b="1" i="0">
                <a:solidFill>
                  <a:srgbClr val="2E4257"/>
                </a:solidFill>
                <a:latin typeface="Be Vietnam Pro" panose="020F0502020204030204" pitchFamily="34"/>
              </a:rPr>
              <a:t> · Section 3.2.4, paragraph 6 (p. 44) · Locator: Annex 4</a:t>
            </a:r>
          </a:p>
          <a:p>
            <a:pPr algn="l">
              <a:lnSpc>
                <a:spcPts val="1680"/>
              </a:lnSpc>
              <a:spcBef>
                <a:spcPts val="0"/>
              </a:spcBef>
              <a:spcAft>
                <a:spcPts val="1000"/>
              </a:spcAft>
            </a:pPr>
            <a:r>
              <a:rPr sz="1400" b="0" i="1">
                <a:solidFill>
                  <a:srgbClr val="4B5A69"/>
                </a:solidFill>
                <a:latin typeface="Be Vietnam Pro" panose="020F0502020204030204" pitchFamily="34"/>
              </a:rPr>
              <a:t>“The ICR associated the higher re-estimated EIRR partly with substantially lower capital cost; the results are sensitive to the analytical assumptions, including the monetary value assigned to avoid supply interruptions [41, Annex 4].”</a:t>
            </a:r>
          </a:p>
        </p:txBody>
      </p:sp>
      <p:sp>
        <p:nvSpPr>
          <p:cNvPr id="13" name="Cited for: slide 72"/>
          <p:cNvSpPr txBox="1"/>
          <p:nvPr/>
        </p:nvSpPr>
        <p:spPr>
          <a:xfrm>
            <a:off x="4892040" y="368604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72</a:t>
            </a:r>
            <a:r>
              <a:rPr sz="1400" b="1" i="0">
                <a:solidFill>
                  <a:srgbClr val="2E4257"/>
                </a:solidFill>
                <a:latin typeface="Be Vietnam Pro" panose="020F0502020204030204" pitchFamily="34"/>
              </a:rPr>
              <a:t> · Section 3.2.5, paragraph 1 (p. 44) · Locator: Annex 3</a:t>
            </a:r>
          </a:p>
          <a:p>
            <a:pPr algn="l">
              <a:lnSpc>
                <a:spcPts val="1680"/>
              </a:lnSpc>
              <a:spcBef>
                <a:spcPts val="0"/>
              </a:spcBef>
              <a:spcAft>
                <a:spcPts val="1000"/>
              </a:spcAft>
            </a:pPr>
            <a:r>
              <a:rPr sz="1400" b="0" i="1">
                <a:solidFill>
                  <a:srgbClr val="4B5A69"/>
                </a:solidFill>
                <a:latin typeface="Be Vietnam Pro" panose="020F0502020204030204" pitchFamily="34"/>
              </a:rPr>
              <a:t>“The original counterpart allocation of USD 231.25 million and the final amount of approximately USD 199.00 million are also different [41, Annex 3; 37, p. v].”</a:t>
            </a:r>
          </a:p>
        </p:txBody>
      </p:sp>
      <p:sp>
        <p:nvSpPr>
          <p:cNvPr id="14" name="Cited for: slide 73"/>
          <p:cNvSpPr txBox="1"/>
          <p:nvPr/>
        </p:nvSpPr>
        <p:spPr>
          <a:xfrm>
            <a:off x="4892040" y="453694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73</a:t>
            </a:r>
            <a:r>
              <a:rPr sz="1400" b="1" i="0">
                <a:solidFill>
                  <a:srgbClr val="2E4257"/>
                </a:solidFill>
                <a:latin typeface="Be Vietnam Pro" panose="020F0502020204030204" pitchFamily="34"/>
              </a:rPr>
              <a:t> · Table/figure source line (§ 3.2.5) · Locator: 2022a, Annex 3, Table 3.2</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and calculations from World Bank (2022a, Annex 3, Table 3.2) and World Bank (2023, pp. v, x, 17).”</a:t>
            </a:r>
          </a:p>
        </p:txBody>
      </p:sp>
      <p:sp>
        <p:nvSpPr>
          <p:cNvPr id="15"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6"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7"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8" name="Previous page button">
            <a:hlinkClick r:id="rId11"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6/6</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Implementation completion and results report: Vietnam – Transmission Efficiency Project (IBRD-84170).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118872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2022a; 2022a, Annex 3, Table 3.1; 2022a, Annex 3, Table 3.1, p. 48; 2022a, Annex 3, Table 3.2; 2022a, Annex 3, Table 3.2, p. 49; 2022a, pp. 1-3, 49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41</a:t>
            </a:r>
            <a:r>
              <a:rPr sz="1200" b="1" i="0">
                <a:solidFill>
                  <a:srgbClr val="A33224"/>
                </a:solidFill>
                <a:latin typeface="Be Vietnam Pro" panose="020F0502020204030204" pitchFamily="34"/>
              </a:rPr>
              <a:t>]</a:t>
            </a:r>
          </a:p>
        </p:txBody>
      </p:sp>
      <p:sp>
        <p:nvSpPr>
          <p:cNvPr id="9" name="Locators"/>
          <p:cNvSpPr txBox="1"/>
          <p:nvPr/>
        </p:nvSpPr>
        <p:spPr>
          <a:xfrm>
            <a:off x="548640" y="5513831"/>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Annex 3; Annex 4</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74"/>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74</a:t>
            </a:r>
            <a:r>
              <a:rPr sz="1400" b="1" i="0">
                <a:solidFill>
                  <a:srgbClr val="2E4257"/>
                </a:solidFill>
                <a:latin typeface="Be Vietnam Pro" panose="020F0502020204030204" pitchFamily="34"/>
              </a:rPr>
              <a:t> · Table/figure source line (§ 3.2.5) · Locator: 2022a, Annex 3, Table 3.2</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and calculations from World Bank (2022a, Annex 3, Table 3.2) and World Bank (2023, pp. v, x, 17).”</a:t>
            </a:r>
          </a:p>
        </p:txBody>
      </p:sp>
      <p:sp>
        <p:nvSpPr>
          <p:cNvPr id="12" name="Cited for: slide 107"/>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107</a:t>
            </a:r>
            <a:r>
              <a:rPr sz="1400" b="1" i="0">
                <a:solidFill>
                  <a:srgbClr val="2E4257"/>
                </a:solidFill>
                <a:latin typeface="Be Vietnam Pro" panose="020F0502020204030204" pitchFamily="34"/>
              </a:rPr>
              <a:t> · Section 3.4.2, paragraph 1 (p. 60)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disbursed 63.7% of its IBRD commitment, although this partly reflected lower costs [41].”</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5" name="Previous page button">
            <a:hlinkClick r:id="rId8"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1/2</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(2022). Implementation completion report review: Vietnam – Transmission Efficiency Project (P131558). World Bank</a:t>
            </a:r>
          </a:p>
        </p:txBody>
      </p:sp>
      <p:sp>
        <p:nvSpPr>
          <p:cNvPr id="6" name="Reference URL"/>
          <p:cNvSpPr txBox="1"/>
          <p:nvPr/>
        </p:nvSpPr>
        <p:spPr>
          <a:xfrm>
            <a:off x="548640" y="2578608"/>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https://ieg.worldbankgroup.org</a:t>
            </a:r>
          </a:p>
        </p:txBody>
      </p:sp>
      <p:sp>
        <p:nvSpPr>
          <p:cNvPr id="7" name="Status label"/>
          <p:cNvSpPr/>
          <p:nvPr/>
        </p:nvSpPr>
        <p:spPr>
          <a:xfrm>
            <a:off x="548640" y="29169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032504"/>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2022b; 2022b, pp. 2-3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42</a:t>
            </a:r>
            <a:r>
              <a:rPr sz="1200" b="1" i="0">
                <a:solidFill>
                  <a:srgbClr val="A33224"/>
                </a:solidFill>
                <a:latin typeface="Be Vietnam Pro" panose="020F0502020204030204" pitchFamily="34"/>
              </a:rPr>
              <a:t>]</a:t>
            </a:r>
          </a:p>
        </p:txBody>
      </p:sp>
      <p:sp>
        <p:nvSpPr>
          <p:cNvPr id="9" name="Locators"/>
          <p:cNvSpPr txBox="1"/>
          <p:nvPr/>
        </p:nvSpPr>
        <p:spPr>
          <a:xfrm>
            <a:off x="548640" y="4782312"/>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pp. 2–3; pp. 3, 12</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42"/>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42</a:t>
            </a:r>
            <a:r>
              <a:rPr sz="1400" b="1" i="0">
                <a:solidFill>
                  <a:srgbClr val="2E4257"/>
                </a:solidFill>
                <a:latin typeface="Be Vietnam Pro" panose="020F0502020204030204" pitchFamily="34"/>
              </a:rPr>
              <a:t> · Table/figure source line (§ 2.3.3) · Locator: 2022b</a:t>
            </a:r>
          </a:p>
          <a:p>
            <a:pPr algn="l">
              <a:lnSpc>
                <a:spcPts val="1680"/>
              </a:lnSpc>
              <a:spcBef>
                <a:spcPts val="0"/>
              </a:spcBef>
              <a:spcAft>
                <a:spcPts val="1000"/>
              </a:spcAft>
            </a:pPr>
            <a:r>
              <a:rPr sz="1400" b="0" i="1">
                <a:solidFill>
                  <a:srgbClr val="4B5A69"/>
                </a:solidFill>
                <a:latin typeface="Be Vietnam Pro" panose="020F0502020204030204" pitchFamily="34"/>
              </a:rPr>
              <a:t>“Source: Sections 3.2.3 and 3.3.3, based on World Bank (2022a, 2022b, 2022c, 2023).”</a:t>
            </a:r>
          </a:p>
        </p:txBody>
      </p:sp>
      <p:sp>
        <p:nvSpPr>
          <p:cNvPr id="12" name="Cited for: slide 58"/>
          <p:cNvSpPr txBox="1"/>
          <p:nvPr/>
        </p:nvSpPr>
        <p:spPr>
          <a:xfrm>
            <a:off x="4892040" y="21950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58</a:t>
            </a:r>
            <a:r>
              <a:rPr sz="1400" b="1" i="0">
                <a:solidFill>
                  <a:srgbClr val="2E4257"/>
                </a:solidFill>
                <a:latin typeface="Be Vietnam Pro" panose="020F0502020204030204" pitchFamily="34"/>
              </a:rPr>
              <a:t> · Section 3.2.2, paragraph 1 (p. 36)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“Such equipment was intended principally to improve operational information and fault management; the second component did not itself constitute the construction of additional transmission capacity [44; 42].”</a:t>
            </a:r>
          </a:p>
        </p:txBody>
      </p:sp>
      <p:sp>
        <p:nvSpPr>
          <p:cNvPr id="13" name="Cited for: slide 63"/>
          <p:cNvSpPr txBox="1"/>
          <p:nvPr/>
        </p:nvSpPr>
        <p:spPr>
          <a:xfrm>
            <a:off x="4892040" y="347268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63</a:t>
            </a:r>
            <a:r>
              <a:rPr sz="1400" b="1" i="0">
                <a:solidFill>
                  <a:srgbClr val="2E4257"/>
                </a:solidFill>
                <a:latin typeface="Be Vietnam Pro" panose="020F0502020204030204" pitchFamily="34"/>
              </a:rPr>
              <a:t> · Section 3.2.3, paragraph 2 (p. 39) · Locator: pp. 2–3</a:t>
            </a:r>
          </a:p>
          <a:p>
            <a:pPr algn="l">
              <a:lnSpc>
                <a:spcPts val="1680"/>
              </a:lnSpc>
              <a:spcBef>
                <a:spcPts val="0"/>
              </a:spcBef>
              <a:spcAft>
                <a:spcPts val="1000"/>
              </a:spcAft>
            </a:pPr>
            <a:r>
              <a:rPr sz="1400" b="0" i="1">
                <a:solidFill>
                  <a:srgbClr val="4B5A69"/>
                </a:solidFill>
                <a:latin typeface="Be Vietnam Pro" panose="020F0502020204030204" pitchFamily="34"/>
              </a:rPr>
              <a:t>“In interpreting the outcome, these financing changes should be treated as substantive modifications to the original division of responsibilities, not as evidence that all activities were completed with IBRD money [41, Annex 3; 42, pp. 2–3].”</a:t>
            </a:r>
          </a:p>
        </p:txBody>
      </p:sp>
      <p:sp>
        <p:nvSpPr>
          <p:cNvPr id="14" name="Cited for: slide 64"/>
          <p:cNvSpPr txBox="1"/>
          <p:nvPr/>
        </p:nvSpPr>
        <p:spPr>
          <a:xfrm>
            <a:off x="4892040" y="475030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64</a:t>
            </a:r>
            <a:r>
              <a:rPr sz="1400" b="1" i="0">
                <a:solidFill>
                  <a:srgbClr val="2E4257"/>
                </a:solidFill>
                <a:latin typeface="Be Vietnam Pro" panose="020F0502020204030204" pitchFamily="34"/>
              </a:rPr>
              <a:t> · Table/figure source line (§ 3.2.3) · Locator: 2022b, pp. 2-3</a:t>
            </a:r>
          </a:p>
          <a:p>
            <a:pPr algn="l">
              <a:lnSpc>
                <a:spcPts val="1680"/>
              </a:lnSpc>
              <a:spcBef>
                <a:spcPts val="0"/>
              </a:spcBef>
              <a:spcAft>
                <a:spcPts val="1000"/>
              </a:spcAft>
            </a:pPr>
            <a:r>
              <a:rPr sz="1400" b="0" i="1">
                <a:solidFill>
                  <a:srgbClr val="4B5A69"/>
                </a:solidFill>
                <a:latin typeface="Be Vietnam Pro" panose="020F0502020204030204" pitchFamily="34"/>
              </a:rPr>
              <a:t>“Source: Authors’ synthesis of World Bank (2022a, Annex 3, Table 3.2, p. 49) and World Bank (2022b, pp. 2-3).”</a:t>
            </a:r>
          </a:p>
        </p:txBody>
      </p:sp>
      <p:sp>
        <p:nvSpPr>
          <p:cNvPr id="15"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6" name="Index button">
            <a:hlinkClick r:id="rId9"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7" name="Next page button">
            <a:hlinkClick r:id="rId10"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2/2</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Independent Evaluation Group. (2022). Implementation completion report review: Vietnam – Transmission Efficiency Project (P131558). World Bank</a:t>
            </a:r>
          </a:p>
        </p:txBody>
      </p:sp>
      <p:sp>
        <p:nvSpPr>
          <p:cNvPr id="6" name="Reference URL"/>
          <p:cNvSpPr txBox="1"/>
          <p:nvPr/>
        </p:nvSpPr>
        <p:spPr>
          <a:xfrm>
            <a:off x="548640" y="2578608"/>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https://ieg.worldbankgroup.org</a:t>
            </a:r>
          </a:p>
        </p:txBody>
      </p:sp>
      <p:sp>
        <p:nvSpPr>
          <p:cNvPr id="7" name="Status label"/>
          <p:cNvSpPr/>
          <p:nvPr/>
        </p:nvSpPr>
        <p:spPr>
          <a:xfrm>
            <a:off x="548640" y="291693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032504"/>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2022b; 2022b, pp. 2-3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42</a:t>
            </a:r>
            <a:r>
              <a:rPr sz="1200" b="1" i="0">
                <a:solidFill>
                  <a:srgbClr val="A33224"/>
                </a:solidFill>
                <a:latin typeface="Be Vietnam Pro" panose="020F0502020204030204" pitchFamily="34"/>
              </a:rPr>
              <a:t>]</a:t>
            </a:r>
          </a:p>
        </p:txBody>
      </p:sp>
      <p:sp>
        <p:nvSpPr>
          <p:cNvPr id="9" name="Locators"/>
          <p:cNvSpPr txBox="1"/>
          <p:nvPr/>
        </p:nvSpPr>
        <p:spPr>
          <a:xfrm>
            <a:off x="548640" y="4782312"/>
            <a:ext cx="3931920" cy="22860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pp. 2–3; pp. 3, 12</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67"/>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67</a:t>
            </a:r>
            <a:r>
              <a:rPr sz="1400" b="1" i="0">
                <a:solidFill>
                  <a:srgbClr val="2E4257"/>
                </a:solidFill>
                <a:latin typeface="Be Vietnam Pro" panose="020F0502020204030204" pitchFamily="34"/>
              </a:rPr>
              <a:t> · Section 3.2.4, paragraph 1 (p. 41) · Locator: pp. 2–3</a:t>
            </a:r>
          </a:p>
          <a:p>
            <a:pPr algn="l">
              <a:lnSpc>
                <a:spcPts val="1680"/>
              </a:lnSpc>
              <a:spcBef>
                <a:spcPts val="0"/>
              </a:spcBef>
              <a:spcAft>
                <a:spcPts val="1000"/>
              </a:spcAft>
            </a:pPr>
            <a:r>
              <a:rPr sz="1400" b="0" i="1">
                <a:solidFill>
                  <a:srgbClr val="4B5A69"/>
                </a:solidFill>
                <a:latin typeface="Be Vietnam Pro" panose="020F0502020204030204" pitchFamily="34"/>
              </a:rPr>
              <a:t>“The omitted Ninh Binh upgrade was cancelled because that substation was scheduled for dismantling [42, pp. 2–3; 37, pp. viii–ix, 8].”</a:t>
            </a:r>
          </a:p>
        </p:txBody>
      </p:sp>
      <p:sp>
        <p:nvSpPr>
          <p:cNvPr id="12" name="Cited for: slide 75"/>
          <p:cNvSpPr txBox="1"/>
          <p:nvPr/>
        </p:nvSpPr>
        <p:spPr>
          <a:xfrm>
            <a:off x="4892040" y="21950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75</a:t>
            </a:r>
            <a:r>
              <a:rPr sz="1400" b="1" i="0">
                <a:solidFill>
                  <a:srgbClr val="2E4257"/>
                </a:solidFill>
                <a:latin typeface="Be Vietnam Pro" panose="020F0502020204030204" pitchFamily="34"/>
              </a:rPr>
              <a:t> · Section 3.2.5, paragraph 3 (p. 46) · Locator: pp. 3, 12</a:t>
            </a:r>
          </a:p>
          <a:p>
            <a:pPr algn="l">
              <a:lnSpc>
                <a:spcPts val="1680"/>
              </a:lnSpc>
              <a:spcBef>
                <a:spcPts val="0"/>
              </a:spcBef>
              <a:spcAft>
                <a:spcPts val="1000"/>
              </a:spcAft>
            </a:pPr>
            <a:r>
              <a:rPr sz="1400" b="0" i="1">
                <a:solidFill>
                  <a:srgbClr val="4B5A69"/>
                </a:solidFill>
                <a:latin typeface="Be Vietnam Pro" panose="020F0502020204030204" pitchFamily="34"/>
              </a:rPr>
              <a:t>“The independent assessment nevertheless rated the overall outcome highly satisfactory because the principal capacity, efficiency and reliability objectives were substantially achieved [42, pp. 3, 12; 37, pp. x–xi, 17–18].”</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5" name="Previous page button">
            <a:hlinkClick r:id="rId8"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1/5</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Restructuring paper on a proposed project restructuring of Vietnam – Coastal Cities Sustainable Environment Project (RES53942).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2022c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43</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42"/>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42</a:t>
            </a:r>
            <a:r>
              <a:rPr sz="1400" b="1" i="0">
                <a:solidFill>
                  <a:srgbClr val="2E4257"/>
                </a:solidFill>
                <a:latin typeface="Be Vietnam Pro" panose="020F0502020204030204" pitchFamily="34"/>
              </a:rPr>
              <a:t> · Table/figure source line (§ 2.3.3) · Locator: 2022c</a:t>
            </a:r>
          </a:p>
          <a:p>
            <a:pPr algn="l">
              <a:lnSpc>
                <a:spcPts val="1680"/>
              </a:lnSpc>
              <a:spcBef>
                <a:spcPts val="0"/>
              </a:spcBef>
              <a:spcAft>
                <a:spcPts val="1000"/>
              </a:spcAft>
            </a:pPr>
            <a:r>
              <a:rPr sz="1400" b="0" i="1">
                <a:solidFill>
                  <a:srgbClr val="4B5A69"/>
                </a:solidFill>
                <a:latin typeface="Be Vietnam Pro" panose="020F0502020204030204" pitchFamily="34"/>
              </a:rPr>
              <a:t>“Source: Sections 3.2.3 and 3.3.3, based on World Bank (2022a, 2022b, 2022c, 2023).”</a:t>
            </a:r>
          </a:p>
        </p:txBody>
      </p:sp>
      <p:sp>
        <p:nvSpPr>
          <p:cNvPr id="12" name="Cited for: slide 80"/>
          <p:cNvSpPr txBox="1"/>
          <p:nvPr/>
        </p:nvSpPr>
        <p:spPr>
          <a:xfrm>
            <a:off x="4892040" y="2195068"/>
            <a:ext cx="6751015" cy="17043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80</a:t>
            </a:r>
            <a:r>
              <a:rPr sz="1400" b="1" i="0">
                <a:solidFill>
                  <a:srgbClr val="2E4257"/>
                </a:solidFill>
                <a:latin typeface="Be Vietnam Pro" panose="020F0502020204030204" pitchFamily="34"/>
              </a:rPr>
              <a:t> · Section 3.3.1, paragraph 2 (p. 48)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borrower was the Government of Vietnam, the World Bank served as the financier, and implementation was decentralized to the four provinces of Quang Binh, Binh Dinh, Khanh Hoa and Ninh Thuan through Project Management Units (PMUs) under the direction of provincial People's Committees [33; 43].”</a:t>
            </a:r>
          </a:p>
        </p:txBody>
      </p:sp>
      <p:sp>
        <p:nvSpPr>
          <p:cNvPr id="13" name="Cited for: slide 91"/>
          <p:cNvSpPr txBox="1"/>
          <p:nvPr/>
        </p:nvSpPr>
        <p:spPr>
          <a:xfrm>
            <a:off x="4892040" y="389940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91</a:t>
            </a:r>
            <a:r>
              <a:rPr sz="1400" b="1" i="0">
                <a:solidFill>
                  <a:srgbClr val="2E4257"/>
                </a:solidFill>
                <a:latin typeface="Be Vietnam Pro" panose="020F0502020204030204" pitchFamily="34"/>
              </a:rPr>
              <a:t> · Section 3.3.2, paragraph 7 (p. 52)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reasons given were savings after the bidding process, changes in the source of payment for IBRD fees and interest as stipulated by the Government, and the depreciation of the SDR, while the project scope remained unchanged [43].”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2/5</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Restructuring paper on a proposed project restructuring of Vietnam – Coastal Cities Sustainable Environment Project (RES53942).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2022c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43</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93"/>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93</a:t>
            </a:r>
            <a:r>
              <a:rPr sz="1400" b="1" i="0">
                <a:solidFill>
                  <a:srgbClr val="2E4257"/>
                </a:solidFill>
                <a:latin typeface="Be Vietnam Pro" panose="020F0502020204030204" pitchFamily="34"/>
              </a:rPr>
              <a:t> · Section 3.3.2, paragraph 8 (p. 53)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“Counterpart funding increased from USD 37.4 million to USD 50.0 million, raising its share from 13.7% to 20.8% [33, Annex 2; 43].”</a:t>
            </a:r>
          </a:p>
        </p:txBody>
      </p:sp>
      <p:sp>
        <p:nvSpPr>
          <p:cNvPr id="12" name="Cited for: slide 94"/>
          <p:cNvSpPr txBox="1"/>
          <p:nvPr/>
        </p:nvSpPr>
        <p:spPr>
          <a:xfrm>
            <a:off x="4892040" y="240842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94</a:t>
            </a:r>
            <a:r>
              <a:rPr sz="1400" b="1" i="0">
                <a:solidFill>
                  <a:srgbClr val="2E4257"/>
                </a:solidFill>
                <a:latin typeface="Be Vietnam Pro" panose="020F0502020204030204" pitchFamily="34"/>
              </a:rPr>
              <a:t> · Section 3.3.3, paragraph 1 (p. 54)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financing agreement became effective on 18 January 2018, about five and a half months behind the original schedule of 3 August 2017, and the loan closing date had to be extended by 18 months, from 31 December 2022 to 30 June 2024 (Table 3.3.1.1) [33; 55; 43].”</a:t>
            </a:r>
          </a:p>
        </p:txBody>
      </p:sp>
      <p:sp>
        <p:nvSpPr>
          <p:cNvPr id="13" name="Cited for: slide 96"/>
          <p:cNvSpPr txBox="1"/>
          <p:nvPr/>
        </p:nvSpPr>
        <p:spPr>
          <a:xfrm>
            <a:off x="4892040" y="389940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96</a:t>
            </a:r>
            <a:r>
              <a:rPr sz="1400" b="1" i="0">
                <a:solidFill>
                  <a:srgbClr val="2E4257"/>
                </a:solidFill>
                <a:latin typeface="Be Vietnam Pro" panose="020F0502020204030204" pitchFamily="34"/>
              </a:rPr>
              <a:t> · Section 3.3.3, paragraph 2 (p. 54)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“Procurement, financial management and safeguards were all rated Moderately Satisfactory, and legal covenants were fully complied with [43].”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3/5</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Restructuring paper on a proposed project restructuring of Vietnam – Coastal Cities Sustainable Environment Project (RES53942).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2022c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43</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97"/>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97</a:t>
            </a:r>
            <a:r>
              <a:rPr sz="1400" b="1" i="0">
                <a:solidFill>
                  <a:srgbClr val="2E4257"/>
                </a:solidFill>
                <a:latin typeface="Be Vietnam Pro" panose="020F0502020204030204" pitchFamily="34"/>
              </a:rPr>
              <a:t> · Section 3.3.3, paragraph 3 (p. 55)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Phan Rang, the Phan Dang Luu resettlement site was completed, with 1,400 out of 1,586 compensation plans approved, while Dong Hoi and Quy Nhon largely completed their resettlement activities [43].”</a:t>
            </a:r>
          </a:p>
        </p:txBody>
      </p:sp>
      <p:sp>
        <p:nvSpPr>
          <p:cNvPr id="12" name="Cited for: slide 99"/>
          <p:cNvSpPr txBox="1"/>
          <p:nvPr/>
        </p:nvSpPr>
        <p:spPr>
          <a:xfrm>
            <a:off x="4892040" y="2621788"/>
            <a:ext cx="6751015" cy="17043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99</a:t>
            </a:r>
            <a:r>
              <a:rPr sz="1400" b="1" i="0">
                <a:solidFill>
                  <a:srgbClr val="2E4257"/>
                </a:solidFill>
                <a:latin typeface="Be Vietnam Pro" panose="020F0502020204030204" pitchFamily="34"/>
              </a:rPr>
              <a:t> · Section 3.3.3, paragraph 5 (p. 56)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“After the restructuring, the World Bank recommended adding qualified staff, improving coordination between PMUs and provincial departments, amending contract terms with contractors and consultants, increasing supervision frequency, and holding monthly progress meetings alongside biweekly site clearance meetings [43].”</a:t>
            </a:r>
          </a:p>
        </p:txBody>
      </p:sp>
      <p:sp>
        <p:nvSpPr>
          <p:cNvPr id="13" name="Cited for: slide 100"/>
          <p:cNvSpPr txBox="1"/>
          <p:nvPr/>
        </p:nvSpPr>
        <p:spPr>
          <a:xfrm>
            <a:off x="4892040" y="432612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100</a:t>
            </a:r>
            <a:r>
              <a:rPr sz="1400" b="1" i="0">
                <a:solidFill>
                  <a:srgbClr val="2E4257"/>
                </a:solidFill>
                <a:latin typeface="Be Vietnam Pro" panose="020F0502020204030204" pitchFamily="34"/>
              </a:rPr>
              <a:t> · Section 3.3.3, paragraph 6 (p. 56)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IBRD loan was only 16.8% of the planned cost (14.2% after adjustment) and fully financed Component 2, while the larger IDA credit financed the sanitation infrastructure [33, Annex 2, Table 2.1; 43].”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7"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4/5</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Restructuring paper on a proposed project restructuring of Vietnam – Coastal Cities Sustainable Environment Project (RES53942).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2022c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43</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101"/>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101</a:t>
            </a:r>
            <a:r>
              <a:rPr sz="1400" b="1" i="0">
                <a:solidFill>
                  <a:srgbClr val="2E4257"/>
                </a:solidFill>
                <a:latin typeface="Be Vietnam Pro" panose="020F0502020204030204" pitchFamily="34"/>
              </a:rPr>
              <a:t> · Section 3.3.4, paragraph 2 (p. 57)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“As Table 3.3.3.1 shows, direct beneficiaries reached 64% of the target and sewer access only 38%, while cost recovery stood at 98% of the 100% target [33; 43].”</a:t>
            </a:r>
          </a:p>
        </p:txBody>
      </p:sp>
      <p:sp>
        <p:nvSpPr>
          <p:cNvPr id="12" name="Cited for: slide 102"/>
          <p:cNvSpPr txBox="1"/>
          <p:nvPr/>
        </p:nvSpPr>
        <p:spPr>
          <a:xfrm>
            <a:off x="4892040" y="262178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102</a:t>
            </a:r>
            <a:r>
              <a:rPr sz="1400" b="1" i="0">
                <a:solidFill>
                  <a:srgbClr val="2E4257"/>
                </a:solidFill>
                <a:latin typeface="Be Vietnam Pro" panose="020F0502020204030204" pitchFamily="34"/>
              </a:rPr>
              <a:t> · Section 3.3.4, paragraph 3 (p. 57)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“Each city established a PSMU; drainage and wastewater assets were handed over to local People's Committees; road assets were transferred to transport departments; household connection policies and septic tank sludge management plans were issued; and tariff roadmaps were approved [43].”</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5" name="Next page button">
            <a:hlinkClick r:id="rId8"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6" name="Previous page button">
            <a:hlinkClick r:id="rId9"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5/5</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(2022). Restructuring paper on a proposed project restructuring of Vietnam – Coastal Cities Sustainable Environment Project (RES53942).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2022c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43</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105"/>
          <p:cNvSpPr txBox="1"/>
          <p:nvPr/>
        </p:nvSpPr>
        <p:spPr>
          <a:xfrm>
            <a:off x="4892040" y="1344168"/>
            <a:ext cx="6751015" cy="19177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105</a:t>
            </a:r>
            <a:r>
              <a:rPr sz="1400" b="1" i="0">
                <a:solidFill>
                  <a:srgbClr val="2E4257"/>
                </a:solidFill>
                <a:latin typeface="Be Vietnam Pro" panose="020F0502020204030204" pitchFamily="34"/>
              </a:rPr>
              <a:t> · Section 3.3.4, paragraph 6 (p. 59)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“Three direct causes lie behind these problems, as analyzed in Section 3.3.3: disagreements over land prices and compensation, which led one-third of the approved plans to be rejected; land-use restrictions imposed since 2016 without completed acquisition, which prolonged residents' waiting; and weak PMU capacity and coordination with provincial authorities, which delayed compensation and contract execution [43].”</a:t>
            </a:r>
          </a:p>
        </p:txBody>
      </p:sp>
      <p:sp>
        <p:nvSpPr>
          <p:cNvPr id="12" name="Cited for: slide 106"/>
          <p:cNvSpPr txBox="1"/>
          <p:nvPr/>
        </p:nvSpPr>
        <p:spPr>
          <a:xfrm>
            <a:off x="4892040" y="32618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106</a:t>
            </a:r>
            <a:r>
              <a:rPr sz="1400" b="1" i="0">
                <a:solidFill>
                  <a:srgbClr val="2E4257"/>
                </a:solidFill>
                <a:latin typeface="Be Vietnam Pro" panose="020F0502020204030204" pitchFamily="34"/>
              </a:rPr>
              <a:t> · Section 3.4.1, paragraph 3 (p. 59)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CCSEP, the reforms under Decree No. 80/2014/ND-CP produced service management units, connection policies and tariff roadmaps, and cost recovery reached 98% [43].”</a:t>
            </a:r>
          </a:p>
        </p:txBody>
      </p:sp>
      <p:sp>
        <p:nvSpPr>
          <p:cNvPr id="13" name="Cited for: slide 107"/>
          <p:cNvSpPr txBox="1"/>
          <p:nvPr/>
        </p:nvSpPr>
        <p:spPr>
          <a:xfrm>
            <a:off x="4892040" y="45394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107</a:t>
            </a:r>
            <a:r>
              <a:rPr sz="1400" b="1" i="0">
                <a:solidFill>
                  <a:srgbClr val="2E4257"/>
                </a:solidFill>
                <a:latin typeface="Be Vietnam Pro" panose="020F0502020204030204" pitchFamily="34"/>
              </a:rPr>
              <a:t> · Section 3.4.2, paragraph 1 (p. 60)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“CCSEP disbursed nothing in 2017 and 2018 and only about 36% of its loan capital by late 2022 [43].”</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Previous page button">
            <a:hlinkClick r:id="rId9"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1/3</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(2014). Project appraisal document on a proposed loan to the Socialist Republic of Vietnam for a Transmission Efficiency Project (P131558).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2014; 2014, Project Data Sheet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44</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47"/>
          <p:cNvSpPr txBox="1"/>
          <p:nvPr/>
        </p:nvSpPr>
        <p:spPr>
          <a:xfrm>
            <a:off x="4892040" y="13441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47</a:t>
            </a:r>
            <a:r>
              <a:rPr sz="1400" b="1" i="0">
                <a:solidFill>
                  <a:srgbClr val="2E4257"/>
                </a:solidFill>
                <a:latin typeface="Be Vietnam Pro" panose="020F0502020204030204" pitchFamily="34"/>
              </a:rPr>
              <a:t> · Section 3.1,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“Distinguishing these measures is essential when assessing the IBRD contribution to project financing [44; 41; 37].”</a:t>
            </a:r>
          </a:p>
        </p:txBody>
      </p:sp>
      <p:sp>
        <p:nvSpPr>
          <p:cNvPr id="12" name="Cited for: slide 48"/>
          <p:cNvSpPr txBox="1"/>
          <p:nvPr/>
        </p:nvSpPr>
        <p:spPr>
          <a:xfrm>
            <a:off x="4892040" y="21950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48</a:t>
            </a:r>
            <a:r>
              <a:rPr sz="1400" b="1" i="0">
                <a:solidFill>
                  <a:srgbClr val="2E4257"/>
                </a:solidFill>
                <a:latin typeface="Be Vietnam Pro" panose="020F0502020204030204" pitchFamily="34"/>
              </a:rPr>
              <a:t> · Section 3.1,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“Distinguishing these measures is essential when assessing the IBRD contribution to project financing [44; 41; 37].”</a:t>
            </a:r>
          </a:p>
        </p:txBody>
      </p:sp>
      <p:sp>
        <p:nvSpPr>
          <p:cNvPr id="13" name="Cited for: slide 50"/>
          <p:cNvSpPr txBox="1"/>
          <p:nvPr/>
        </p:nvSpPr>
        <p:spPr>
          <a:xfrm>
            <a:off x="4892040" y="30459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50</a:t>
            </a:r>
            <a:r>
              <a:rPr sz="1400" b="1" i="0">
                <a:solidFill>
                  <a:srgbClr val="2E4257"/>
                </a:solidFill>
                <a:latin typeface="Be Vietnam Pro" panose="020F0502020204030204" pitchFamily="34"/>
              </a:rPr>
              <a:t> · Table/figure source line (§ 3.1.3) · Locator: 2014</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2017), project appraisal documents.”</a:t>
            </a:r>
          </a:p>
        </p:txBody>
      </p:sp>
      <p:sp>
        <p:nvSpPr>
          <p:cNvPr id="14" name="Cited for: slide 51"/>
          <p:cNvSpPr txBox="1"/>
          <p:nvPr/>
        </p:nvSpPr>
        <p:spPr>
          <a:xfrm>
            <a:off x="4892040" y="389686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8" action="ppaction://hlinksldjump"/>
              </a:rPr>
              <a:t>Slide 51</a:t>
            </a:r>
            <a:r>
              <a:rPr sz="1400" b="1" i="0">
                <a:solidFill>
                  <a:srgbClr val="2E4257"/>
                </a:solidFill>
                <a:latin typeface="Be Vietnam Pro" panose="020F0502020204030204" pitchFamily="34"/>
              </a:rPr>
              <a:t> · Table/figure source line (§ 3.1.3) · Locator: 2014</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2017), project appraisal documents.”</a:t>
            </a:r>
          </a:p>
        </p:txBody>
      </p:sp>
      <p:sp>
        <p:nvSpPr>
          <p:cNvPr id="15" name="Cited for: slide 52"/>
          <p:cNvSpPr txBox="1"/>
          <p:nvPr/>
        </p:nvSpPr>
        <p:spPr>
          <a:xfrm>
            <a:off x="4892040" y="47477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9" action="ppaction://hlinksldjump"/>
              </a:rPr>
              <a:t>Slide 52</a:t>
            </a:r>
            <a:r>
              <a:rPr sz="1400" b="1" i="0">
                <a:solidFill>
                  <a:srgbClr val="2E4257"/>
                </a:solidFill>
                <a:latin typeface="Be Vietnam Pro" panose="020F0502020204030204" pitchFamily="34"/>
              </a:rPr>
              <a:t> · Section 3.1.4, paragraph 4 (p. 35)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“Applying the later ESF standards retroactively to the 2014 operation would be methodologically incorrect [44].”</a:t>
            </a:r>
          </a:p>
        </p:txBody>
      </p:sp>
      <p:sp>
        <p:nvSpPr>
          <p:cNvPr id="16"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7" name="Index button">
            <a:hlinkClick r:id="rId10"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8" name="Next page button">
            <a:hlinkClick r:id="rId11"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2/3</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(2014). Project appraisal document on a proposed loan to the Socialist Republic of Vietnam for a Transmission Efficiency Project (P131558).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2014; 2014, Project Data Sheet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44</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55"/>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55</a:t>
            </a:r>
            <a:r>
              <a:rPr sz="1400" b="1" i="0">
                <a:solidFill>
                  <a:srgbClr val="2E4257"/>
                </a:solidFill>
                <a:latin typeface="Be Vietnam Pro" panose="020F0502020204030204" pitchFamily="34"/>
              </a:rPr>
              <a:t> · Section 3.2.1, paragraph 1 (p. 35)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“TEP was financed using Investment Project Financing (IPF), rather than a development-policy or results-based lending instrument [44; 41; 37].”</a:t>
            </a:r>
          </a:p>
        </p:txBody>
      </p:sp>
      <p:sp>
        <p:nvSpPr>
          <p:cNvPr id="12" name="Cited for: slide 56"/>
          <p:cNvSpPr txBox="1"/>
          <p:nvPr/>
        </p:nvSpPr>
        <p:spPr>
          <a:xfrm>
            <a:off x="4892040" y="240842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56</a:t>
            </a:r>
            <a:r>
              <a:rPr sz="1400" b="1" i="0">
                <a:solidFill>
                  <a:srgbClr val="2E4257"/>
                </a:solidFill>
                <a:latin typeface="Be Vietnam Pro" panose="020F0502020204030204" pitchFamily="34"/>
              </a:rPr>
              <a:t> · Table/figure source line (§ 3.2.1) · Locator: 2014, Project Data Sheet</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Project Data Sheet), World Bank (2022a, pp. 1-3, 49), and World Bank (2023, pp. v-vi).”</a:t>
            </a:r>
          </a:p>
        </p:txBody>
      </p:sp>
      <p:sp>
        <p:nvSpPr>
          <p:cNvPr id="13" name="Cited for: slide 57"/>
          <p:cNvSpPr txBox="1"/>
          <p:nvPr/>
        </p:nvSpPr>
        <p:spPr>
          <a:xfrm>
            <a:off x="4892040" y="34726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57</a:t>
            </a:r>
            <a:r>
              <a:rPr sz="1400" b="1" i="0">
                <a:solidFill>
                  <a:srgbClr val="2E4257"/>
                </a:solidFill>
                <a:latin typeface="Be Vietnam Pro" panose="020F0502020204030204" pitchFamily="34"/>
              </a:rPr>
              <a:t> · Table/figure source line (§ 3.2.1) · Locator: 2014, Project Data Sheet</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Project Data Sheet), World Bank (2022a, pp. 1-3, 49), and World Bank (2023, pp. v-vi).”</a:t>
            </a:r>
          </a:p>
        </p:txBody>
      </p:sp>
      <p:sp>
        <p:nvSpPr>
          <p:cNvPr id="14" name="Cited for: slide 57 (2)"/>
          <p:cNvSpPr txBox="1"/>
          <p:nvPr/>
        </p:nvSpPr>
        <p:spPr>
          <a:xfrm>
            <a:off x="4892040" y="453694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57</a:t>
            </a:r>
            <a:r>
              <a:rPr sz="1400" b="1" i="0">
                <a:solidFill>
                  <a:srgbClr val="2E4257"/>
                </a:solidFill>
                <a:latin typeface="Be Vietnam Pro" panose="020F0502020204030204" pitchFamily="34"/>
              </a:rPr>
              <a:t> · Section 3.2.1, paragraph 3 (p. 36)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loan also included a USD 1.25 million front-end fee, so the figure for investment components alone must not be equated with the complete financing total [44; 41].”</a:t>
            </a:r>
          </a:p>
        </p:txBody>
      </p:sp>
      <p:sp>
        <p:nvSpPr>
          <p:cNvPr id="15"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6"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7"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
        <p:nvSpPr>
          <p:cNvPr id="18" name="Previous page button">
            <a:hlinkClick r:id="rId10"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3/3</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(2014). Project appraisal document on a proposed loan to the Socialist Republic of Vietnam for a Transmission Efficiency Project (P131558). World Bank.</a:t>
            </a:r>
          </a:p>
        </p:txBody>
      </p:sp>
      <p:sp>
        <p:nvSpPr>
          <p:cNvPr id="6" name="Reference URL"/>
          <p:cNvSpPr txBox="1"/>
          <p:nvPr/>
        </p:nvSpPr>
        <p:spPr>
          <a:xfrm>
            <a:off x="548640" y="28072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https://projects.worldbank.org/en/projects-operations/project-detail/P131558</a:t>
            </a:r>
          </a:p>
        </p:txBody>
      </p:sp>
      <p:sp>
        <p:nvSpPr>
          <p:cNvPr id="7" name="Status label"/>
          <p:cNvSpPr/>
          <p:nvPr/>
        </p:nvSpPr>
        <p:spPr>
          <a:xfrm>
            <a:off x="548640" y="33284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443983"/>
            <a:ext cx="3931920" cy="64008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2014; 2014, Project Data Sheet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44</a:t>
            </a:r>
            <a:r>
              <a:rPr sz="1200" b="1" i="0">
                <a:solidFill>
                  <a:srgbClr val="A33224"/>
                </a:solidFill>
                <a:latin typeface="Be Vietnam Pro" panose="020F0502020204030204" pitchFamily="34"/>
              </a:rPr>
              <a:t>]</a:t>
            </a:r>
          </a:p>
        </p:txBody>
      </p:sp>
      <p:sp>
        <p:nvSpPr>
          <p:cNvPr id="9" name="Locators"/>
          <p:cNvSpPr txBox="1"/>
          <p:nvPr/>
        </p:nvSpPr>
        <p:spPr>
          <a:xfrm>
            <a:off x="548640" y="519379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58"/>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58</a:t>
            </a:r>
            <a:r>
              <a:rPr sz="1400" b="1" i="0">
                <a:solidFill>
                  <a:srgbClr val="2E4257"/>
                </a:solidFill>
                <a:latin typeface="Be Vietnam Pro" panose="020F0502020204030204" pitchFamily="34"/>
              </a:rPr>
              <a:t> · Section 3.2.2, paragraph 1 (p. 36)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“Such equipment was intended principally to improve operational information and fault management; the second component did not itself constitute the construction of additional transmission capacity [44; 42].”</a:t>
            </a:r>
          </a:p>
        </p:txBody>
      </p:sp>
      <p:sp>
        <p:nvSpPr>
          <p:cNvPr id="12" name="Cited for: slide 59"/>
          <p:cNvSpPr txBox="1"/>
          <p:nvPr/>
        </p:nvSpPr>
        <p:spPr>
          <a:xfrm>
            <a:off x="4892040" y="262178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59</a:t>
            </a:r>
            <a:r>
              <a:rPr sz="1400" b="1" i="0">
                <a:solidFill>
                  <a:srgbClr val="2E4257"/>
                </a:solidFill>
                <a:latin typeface="Be Vietnam Pro" panose="020F0502020204030204" pitchFamily="34"/>
              </a:rPr>
              <a:t> · Table/figure source line (§ 3.2.2) · Locator: 2014</a:t>
            </a:r>
          </a:p>
          <a:p>
            <a:pPr algn="l">
              <a:lnSpc>
                <a:spcPts val="1680"/>
              </a:lnSpc>
              <a:spcBef>
                <a:spcPts val="0"/>
              </a:spcBef>
              <a:spcAft>
                <a:spcPts val="1000"/>
              </a:spcAft>
            </a:pPr>
            <a:r>
              <a:rPr sz="1400" b="0" i="1">
                <a:solidFill>
                  <a:srgbClr val="4B5A69"/>
                </a:solidFill>
                <a:latin typeface="Be Vietnam Pro" panose="020F0502020204030204" pitchFamily="34"/>
              </a:rPr>
              <a:t>“Source: World Bank (2022a, Annex 3, Table 3.1, p. 48). Figures transcribed from the original table; the fee row is labeled using the PAD (World Bank, 2014).”</a:t>
            </a:r>
          </a:p>
        </p:txBody>
      </p:sp>
      <p:sp>
        <p:nvSpPr>
          <p:cNvPr id="13" name="Cited for: slide 63"/>
          <p:cNvSpPr txBox="1"/>
          <p:nvPr/>
        </p:nvSpPr>
        <p:spPr>
          <a:xfrm>
            <a:off x="4892040" y="368604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63</a:t>
            </a:r>
            <a:r>
              <a:rPr sz="1400" b="1" i="0">
                <a:solidFill>
                  <a:srgbClr val="2E4257"/>
                </a:solidFill>
                <a:latin typeface="Be Vietnam Pro" panose="020F0502020204030204" pitchFamily="34"/>
              </a:rPr>
              <a:t> · Section 3.2.3, paragraph 1 (p. 39)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project's financing and implementation experience, however, was considerably narrower than this original list suggests [44; 41; 37].”</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6" name="Previous page button">
            <a:hlinkClick r:id="rId9"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45</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Baird, M. (2011). Vietnam and the World Bank: A brief history of the partnership (Report No. 66928). World Bank.</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https://documents1.worldbank.org/curated/en/846181468133547558/pdf/669280WP00PUBL0859B0WBdonghanh0Eng2.pdf</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47"/>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47</a:t>
            </a:r>
            <a:r>
              <a:rPr sz="1400" b="1" i="0">
                <a:solidFill>
                  <a:srgbClr val="2E4257"/>
                </a:solidFill>
                <a:latin typeface="Be Vietnam Pro" panose="020F0502020204030204" pitchFamily="34"/>
              </a:rPr>
              <a:t> · Section 3.1.1,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“This re-engagement coincided with the early institutional and market reforms introduced under Đổi Mới and signalled the return of large-scale multilateral financing for infrastructure and human development [45; 46].”</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46</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(2013, October 17). Remarks at the celebration of 20 years of ODA in Vietnam [Speech].</a:t>
            </a:r>
          </a:p>
        </p:txBody>
      </p:sp>
      <p:sp>
        <p:nvSpPr>
          <p:cNvPr id="6" name="Reference URL"/>
          <p:cNvSpPr txBox="1"/>
          <p:nvPr/>
        </p:nvSpPr>
        <p:spPr>
          <a:xfrm>
            <a:off x="548640" y="2350008"/>
            <a:ext cx="3931920" cy="59436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https://www.worldbank.org/en/news/speech/2013/10/17/celebration-of-20-years-of-ODA-in-vietnam.print</a:t>
            </a:r>
          </a:p>
        </p:txBody>
      </p:sp>
      <p:sp>
        <p:nvSpPr>
          <p:cNvPr id="7" name="Status label"/>
          <p:cNvSpPr/>
          <p:nvPr/>
        </p:nvSpPr>
        <p:spPr>
          <a:xfrm>
            <a:off x="548640" y="305409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16966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47"/>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47</a:t>
            </a:r>
            <a:r>
              <a:rPr sz="1400" b="1" i="0">
                <a:solidFill>
                  <a:srgbClr val="2E4257"/>
                </a:solidFill>
                <a:latin typeface="Be Vietnam Pro" panose="020F0502020204030204" pitchFamily="34"/>
              </a:rPr>
              <a:t> · Section 3.1.1, paragraph 1 (p. 31)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“This re-engagement coincided with the early institutional and market reforms introduced under Đổi Mới and signalled the return of large-scale multilateral financing for infrastructure and human development [45; 46].”</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(2017). Project appraisal document: Vietnam – Support for Autonomous Higher Education Project (P156849).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https://projects.worldbank.org/en/projects-operations/project-detail/P156849</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Inferred label"/>
          <p:cNvSpPr/>
          <p:nvPr/>
        </p:nvSpPr>
        <p:spPr>
          <a:xfrm>
            <a:off x="548640" y="4215383"/>
            <a:ext cx="3931920" cy="457200"/>
          </a:xfrm>
          <a:prstGeom prst="rect">
            <a:avLst/>
          </a:prstGeom>
          <a:noFill/>
          <a:ln w="15875">
            <a:solidFill>
              <a:srgbClr val="B4432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1" i="0">
                <a:solidFill>
                  <a:srgbClr val="A33224"/>
                </a:solidFill>
                <a:latin typeface="Be Vietnam Pro" panose="020F0502020204030204" pitchFamily="34"/>
              </a:rPr>
              <a:t>Mapping inferred – to be confirmed: 2017 </a:t>
            </a:r>
            <a:r>
              <a:rPr sz="1200" b="1" i="0">
                <a:solidFill>
                  <a:srgbClr val="A33224"/>
                </a:solidFill>
                <a:latin typeface="Cormorant Garamond" panose="02020404030301010803" pitchFamily="18"/>
              </a:rPr>
              <a:t>→</a:t>
            </a:r>
            <a:r>
              <a:rPr sz="1200" b="1" i="0">
                <a:solidFill>
                  <a:srgbClr val="A33224"/>
                </a:solidFill>
                <a:latin typeface="Be Vietnam Pro" panose="020F0502020204030204" pitchFamily="34"/>
              </a:rPr>
              <a:t> </a:t>
            </a:r>
            <a:r>
              <a:rPr sz="1200" b="1" i="0">
                <a:solidFill>
                  <a:srgbClr val="A33224"/>
                </a:solidFill>
                <a:latin typeface="Be Vietnam Pro" panose="020F0502020204030204" pitchFamily="34"/>
              </a:rPr>
              <a:t>[</a:t>
            </a:r>
            <a:r>
              <a:rPr sz="1400" b="1" i="0" u="sng">
                <a:solidFill>
                  <a:srgbClr val="A33224"/>
                </a:solidFill>
                <a:latin typeface="Be Vietnam Pro" panose="020F0502020204030204" pitchFamily="34"/>
              </a:rPr>
              <a:t>47</a:t>
            </a:r>
            <a:r>
              <a:rPr sz="1200" b="1" i="0">
                <a:solidFill>
                  <a:srgbClr val="A33224"/>
                </a:solidFill>
                <a:latin typeface="Be Vietnam Pro" panose="020F0502020204030204" pitchFamily="34"/>
              </a:rPr>
              <a:t>]</a:t>
            </a:r>
          </a:p>
        </p:txBody>
      </p:sp>
      <p:sp>
        <p:nvSpPr>
          <p:cNvPr id="9" name="Locators"/>
          <p:cNvSpPr txBox="1"/>
          <p:nvPr/>
        </p:nvSpPr>
        <p:spPr>
          <a:xfrm>
            <a:off x="548640" y="4782312"/>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10"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1" name="Cited for: slide 49"/>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49</a:t>
            </a:r>
            <a:r>
              <a:rPr sz="1400" b="1" i="0">
                <a:solidFill>
                  <a:srgbClr val="2E4257"/>
                </a:solidFill>
                <a:latin typeface="Be Vietnam Pro" panose="020F0502020204030204" pitchFamily="34"/>
              </a:rPr>
              <a:t> · Section 3.1.3, paragraph 1 (p. 32)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project sought to improve the research, teaching and institutional capacity of selected autonomous universities and strengthen national higher-education management [47].”</a:t>
            </a:r>
          </a:p>
        </p:txBody>
      </p:sp>
      <p:sp>
        <p:nvSpPr>
          <p:cNvPr id="12" name="Cited for: slide 50"/>
          <p:cNvSpPr txBox="1"/>
          <p:nvPr/>
        </p:nvSpPr>
        <p:spPr>
          <a:xfrm>
            <a:off x="4892040" y="262178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50</a:t>
            </a:r>
            <a:r>
              <a:rPr sz="1400" b="1" i="0">
                <a:solidFill>
                  <a:srgbClr val="2E4257"/>
                </a:solidFill>
                <a:latin typeface="Be Vietnam Pro" panose="020F0502020204030204" pitchFamily="34"/>
              </a:rPr>
              <a:t> · Table/figure source line (§ 3.1.3) · Locator: 2017</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2017), project appraisal documents.”</a:t>
            </a:r>
          </a:p>
        </p:txBody>
      </p:sp>
      <p:sp>
        <p:nvSpPr>
          <p:cNvPr id="13" name="Cited for: slide 51"/>
          <p:cNvSpPr txBox="1"/>
          <p:nvPr/>
        </p:nvSpPr>
        <p:spPr>
          <a:xfrm>
            <a:off x="4892040" y="347268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51</a:t>
            </a:r>
            <a:r>
              <a:rPr sz="1400" b="1" i="0">
                <a:solidFill>
                  <a:srgbClr val="2E4257"/>
                </a:solidFill>
                <a:latin typeface="Be Vietnam Pro" panose="020F0502020204030204" pitchFamily="34"/>
              </a:rPr>
              <a:t> · Table/figure source line (§ 3.1.3) · Locator: 2017</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World Bank (2014, 2017), project appraisal documents.”</a:t>
            </a:r>
          </a:p>
        </p:txBody>
      </p:sp>
      <p:sp>
        <p:nvSpPr>
          <p:cNvPr id="14"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5"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48</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(2013). Decree No. 38/2013/ND-CP on the management and use of ODA and concessional loans.</a:t>
            </a:r>
          </a:p>
        </p:txBody>
      </p:sp>
      <p:sp>
        <p:nvSpPr>
          <p:cNvPr id="6" name="TextBox 5"/>
          <p:cNvSpPr txBox="1"/>
          <p:nvPr/>
        </p:nvSpPr>
        <p:spPr>
          <a:xfrm>
            <a:off x="548640" y="23500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7157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313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2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“At the time of TEP approval in 2014, the overarching ODA and concessional-loan decree was Decree No. 38/2013/ND-CP [48].”</a:t>
            </a:r>
          </a:p>
        </p:txBody>
      </p:sp>
      <p:sp>
        <p:nvSpPr>
          <p:cNvPr id="11" name="Cited for: slide 53"/>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2013</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49</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(2016). Decree No. 16/2016/ND-CP on the management and use of ODA and concessional loans.</a:t>
            </a:r>
          </a:p>
        </p:txBody>
      </p:sp>
      <p:sp>
        <p:nvSpPr>
          <p:cNvPr id="6" name="TextBox 5"/>
          <p:cNvSpPr txBox="1"/>
          <p:nvPr/>
        </p:nvSpPr>
        <p:spPr>
          <a:xfrm>
            <a:off x="548640" y="23500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7157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313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2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 was subsequently replaced by Decree No. 16/2016/ND-CP [49], and later by Decree No. 56/2020/ND-CP [50].”</a:t>
            </a:r>
          </a:p>
        </p:txBody>
      </p:sp>
      <p:sp>
        <p:nvSpPr>
          <p:cNvPr id="11" name="Cited for: slide 53"/>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2016</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50</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(2020). Decree No. 56/2020/ND-CP on the management and use of ODA and concessional loans of foreign sponsors.</a:t>
            </a:r>
          </a:p>
        </p:txBody>
      </p:sp>
      <p:sp>
        <p:nvSpPr>
          <p:cNvPr id="6" name="TextBox 5"/>
          <p:cNvSpPr txBox="1"/>
          <p:nvPr/>
        </p:nvSpPr>
        <p:spPr>
          <a:xfrm>
            <a:off x="548640" y="25786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9443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0599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2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“It was subsequently replaced by Decree No. 16/2016/ND-CP [49], and later by Decree No. 56/2020/ND-CP [50].”</a:t>
            </a:r>
          </a:p>
        </p:txBody>
      </p:sp>
      <p:sp>
        <p:nvSpPr>
          <p:cNvPr id="11" name="Cited for: slide 53"/>
          <p:cNvSpPr txBox="1"/>
          <p:nvPr/>
        </p:nvSpPr>
        <p:spPr>
          <a:xfrm>
            <a:off x="4892040" y="240842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2020</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51</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(2021). Decree No. 114/2021/ND-CP on the management and use of ODA and concessional loans of foreign donors.</a:t>
            </a:r>
          </a:p>
        </p:txBody>
      </p:sp>
      <p:sp>
        <p:nvSpPr>
          <p:cNvPr id="6" name="TextBox 5"/>
          <p:cNvSpPr txBox="1"/>
          <p:nvPr/>
        </p:nvSpPr>
        <p:spPr>
          <a:xfrm>
            <a:off x="548640" y="25786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9443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0599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2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“Decree No. 114/2021/ND-CP, as amended by Decree No. 20/2023/ND-CP, is useful for understanding an earlier phase of ODA administration but should not be presented as the current principal decree [51; 52].”</a:t>
            </a:r>
          </a:p>
        </p:txBody>
      </p:sp>
      <p:sp>
        <p:nvSpPr>
          <p:cNvPr id="11" name="Cited for: slide 53"/>
          <p:cNvSpPr txBox="1"/>
          <p:nvPr/>
        </p:nvSpPr>
        <p:spPr>
          <a:xfrm>
            <a:off x="4892040" y="262178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2021</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52</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(2023). Decree No. 20/2023/ND-CP amending Decree No. 114/2021/ND-CP.</a:t>
            </a:r>
          </a:p>
        </p:txBody>
      </p:sp>
      <p:sp>
        <p:nvSpPr>
          <p:cNvPr id="6" name="TextBox 5"/>
          <p:cNvSpPr txBox="1"/>
          <p:nvPr/>
        </p:nvSpPr>
        <p:spPr>
          <a:xfrm>
            <a:off x="548640" y="23500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7157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313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2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“Decree No. 114/2021/ND-CP, as amended by Decree No. 20/2023/ND-CP, is useful for understanding an earlier phase of ODA administration but should not be presented as the current principal decree [51; 52].”</a:t>
            </a:r>
          </a:p>
        </p:txBody>
      </p:sp>
      <p:sp>
        <p:nvSpPr>
          <p:cNvPr id="11" name="Cited for: slide 53"/>
          <p:cNvSpPr txBox="1"/>
          <p:nvPr/>
        </p:nvSpPr>
        <p:spPr>
          <a:xfrm>
            <a:off x="4892040" y="262178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2023</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53</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(2025). Decree No. 242/2025/ND-CP on the management and use of ODA and concessional loans.</a:t>
            </a:r>
          </a:p>
        </p:txBody>
      </p:sp>
      <p:sp>
        <p:nvSpPr>
          <p:cNvPr id="6" name="TextBox 5"/>
          <p:cNvSpPr txBox="1"/>
          <p:nvPr/>
        </p:nvSpPr>
        <p:spPr>
          <a:xfrm>
            <a:off x="548640" y="25786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9443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0599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3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“As at October 2026, Decree No. 242/2025/ND-CP (effective 10 September 2025), as amended by Decree No. 119/2026/ND-CP (issued 3 April 2026), forms the principal current decree-level framework [53; 54].”</a:t>
            </a:r>
          </a:p>
        </p:txBody>
      </p:sp>
      <p:sp>
        <p:nvSpPr>
          <p:cNvPr id="11" name="Cited for: slide 53"/>
          <p:cNvSpPr txBox="1"/>
          <p:nvPr/>
        </p:nvSpPr>
        <p:spPr>
          <a:xfrm>
            <a:off x="4892040" y="262178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2025</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Cited for: slide 109"/>
          <p:cNvSpPr txBox="1"/>
          <p:nvPr/>
        </p:nvSpPr>
        <p:spPr>
          <a:xfrm>
            <a:off x="4892040" y="347268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109</a:t>
            </a:r>
            <a:r>
              <a:rPr sz="1400" b="1" i="0">
                <a:solidFill>
                  <a:srgbClr val="2E4257"/>
                </a:solidFill>
                <a:latin typeface="Be Vietnam Pro" panose="020F0502020204030204" pitchFamily="34"/>
              </a:rPr>
              <a:t> · Section 3.4.3, paragraph 6 (p. 61)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“Under Decree No. 242/2025/ND-CP, approval steps for project proposals, investment decisions, on-lending and counterpart allocation should be shortened and scheduled to match the World Bank project cycle [53].”</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7"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54</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(2026). Decree No. 119/2026/ND-CP amending Decree No. 242/2025/ND-CP.</a:t>
            </a:r>
          </a:p>
        </p:txBody>
      </p:sp>
      <p:sp>
        <p:nvSpPr>
          <p:cNvPr id="6" name="TextBox 5"/>
          <p:cNvSpPr txBox="1"/>
          <p:nvPr/>
        </p:nvSpPr>
        <p:spPr>
          <a:xfrm>
            <a:off x="548640" y="23500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7157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313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52"/>
          <p:cNvSpPr txBox="1"/>
          <p:nvPr/>
        </p:nvSpPr>
        <p:spPr>
          <a:xfrm>
            <a:off x="4892040" y="1344168"/>
            <a:ext cx="6751015" cy="127762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52</a:t>
            </a:r>
            <a:r>
              <a:rPr sz="1400" b="1" i="0">
                <a:solidFill>
                  <a:srgbClr val="2E4257"/>
                </a:solidFill>
                <a:latin typeface="Be Vietnam Pro" panose="020F0502020204030204" pitchFamily="34"/>
              </a:rPr>
              <a:t> · Section 3.1.4, paragraph 3 (p. 34)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“As at October 2026, Decree No. 242/2025/ND-CP (effective 10 September 2025), as amended by Decree No. 119/2026/ND-CP (issued 3 April 2026), forms the principal current decree-level framework [53; 54].”</a:t>
            </a:r>
          </a:p>
        </p:txBody>
      </p:sp>
      <p:sp>
        <p:nvSpPr>
          <p:cNvPr id="11" name="Cited for: slide 53"/>
          <p:cNvSpPr txBox="1"/>
          <p:nvPr/>
        </p:nvSpPr>
        <p:spPr>
          <a:xfrm>
            <a:off x="4892040" y="2621788"/>
            <a:ext cx="6751015" cy="85090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53</a:t>
            </a:r>
            <a:r>
              <a:rPr sz="1400" b="1" i="0">
                <a:solidFill>
                  <a:srgbClr val="2E4257"/>
                </a:solidFill>
                <a:latin typeface="Be Vietnam Pro" panose="020F0502020204030204" pitchFamily="34"/>
              </a:rPr>
              <a:t> · Table/figure source line (§ 3.1.4) · Locator: 2026</a:t>
            </a:r>
          </a:p>
          <a:p>
            <a:pPr algn="l">
              <a:lnSpc>
                <a:spcPts val="1680"/>
              </a:lnSpc>
              <a:spcBef>
                <a:spcPts val="0"/>
              </a:spcBef>
              <a:spcAft>
                <a:spcPts val="1000"/>
              </a:spcAft>
            </a:pPr>
            <a:r>
              <a:rPr sz="1400" b="0" i="1">
                <a:solidFill>
                  <a:srgbClr val="4B5A69"/>
                </a:solidFill>
                <a:latin typeface="Be Vietnam Pro" panose="020F0502020204030204" pitchFamily="34"/>
              </a:rPr>
              <a:t>“Source: Authors’ compilation from Government of Viet Nam (2013, 2016, 2020, 2021, 2023, 2025, 2026).”</a:t>
            </a:r>
          </a:p>
        </p:txBody>
      </p:sp>
      <p:sp>
        <p:nvSpPr>
          <p:cNvPr id="12"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3"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55</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9601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(2020). Implementation status and results report No. 7: Vietnam – Coastal Cities Sustainable Environment Project (P156143). World Bank.</a:t>
            </a:r>
          </a:p>
        </p:txBody>
      </p:sp>
      <p:sp>
        <p:nvSpPr>
          <p:cNvPr id="6" name="Reference URL"/>
          <p:cNvSpPr txBox="1"/>
          <p:nvPr/>
        </p:nvSpPr>
        <p:spPr>
          <a:xfrm>
            <a:off x="548640" y="25786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https://projects.worldbank.org/en/projects-operations/project-detail/P156143</a:t>
            </a:r>
          </a:p>
        </p:txBody>
      </p:sp>
      <p:sp>
        <p:nvSpPr>
          <p:cNvPr id="7" name="Status label"/>
          <p:cNvSpPr/>
          <p:nvPr/>
        </p:nvSpPr>
        <p:spPr>
          <a:xfrm>
            <a:off x="548640" y="30998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2153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94"/>
          <p:cNvSpPr txBox="1"/>
          <p:nvPr/>
        </p:nvSpPr>
        <p:spPr>
          <a:xfrm>
            <a:off x="4892040" y="134416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94</a:t>
            </a:r>
            <a:r>
              <a:rPr sz="1400" b="1" i="0">
                <a:solidFill>
                  <a:srgbClr val="2E4257"/>
                </a:solidFill>
                <a:latin typeface="Be Vietnam Pro" panose="020F0502020204030204" pitchFamily="34"/>
              </a:rPr>
              <a:t> · Section 3.3.3, paragraph 1 (p. 54)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“The financing agreement became effective on 18 January 2018, about five and a half months behind the original schedule of 3 August 2017, and the loan closing date had to be extended by 18 months, from 31 December 2022 to 30 June 2024 (Table 3.3.1.1) [33; 55; 43].”</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56</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Government of Vietnam. (2014). Decree No. 80/2014/ND-CP on drainage and wastewater treatment.</a:t>
            </a:r>
          </a:p>
        </p:txBody>
      </p:sp>
      <p:sp>
        <p:nvSpPr>
          <p:cNvPr id="6" name="TextBox 5"/>
          <p:cNvSpPr txBox="1"/>
          <p:nvPr/>
        </p:nvSpPr>
        <p:spPr>
          <a:xfrm>
            <a:off x="548640" y="2350008"/>
            <a:ext cx="3931920" cy="27432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1">
                <a:solidFill>
                  <a:srgbClr val="4B5A69"/>
                </a:solidFill>
                <a:latin typeface="Be Vietnam Pro" panose="020F0502020204030204" pitchFamily="34"/>
              </a:rPr>
              <a:t>No URL given in the paper.</a:t>
            </a:r>
          </a:p>
        </p:txBody>
      </p:sp>
      <p:sp>
        <p:nvSpPr>
          <p:cNvPr id="7" name="Status label"/>
          <p:cNvSpPr/>
          <p:nvPr/>
        </p:nvSpPr>
        <p:spPr>
          <a:xfrm>
            <a:off x="548640" y="2715768"/>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831335"/>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82"/>
          <p:cNvSpPr txBox="1"/>
          <p:nvPr/>
        </p:nvSpPr>
        <p:spPr>
          <a:xfrm>
            <a:off x="4892040" y="1344168"/>
            <a:ext cx="6751015" cy="17043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4" action="ppaction://hlinksldjump"/>
              </a:rPr>
              <a:t>Slide 82</a:t>
            </a:r>
            <a:r>
              <a:rPr sz="1400" b="1" i="0">
                <a:solidFill>
                  <a:srgbClr val="2E4257"/>
                </a:solidFill>
                <a:latin typeface="Be Vietnam Pro" panose="020F0502020204030204" pitchFamily="34"/>
              </a:rPr>
              <a:t> · Section 3.3.1, paragraph 3 (p. 48)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“This objective was pursued through infrastructure investments including flood control, wastewater collection and treatment, solid waste management and urban connectivity, alongside institutional reforms under Decree No. 80/2014/ND-CP [56], comprising performance-based service contracts and cost-reflective service tariff roadmaps.”</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5"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1/2</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Inspection Panel. (2024). Report and recommendation: Viet Nam – Coastal Cities Sustainable Environment Project, second request for inspection (22 January 2024). World Bank.</a:t>
            </a:r>
          </a:p>
        </p:txBody>
      </p:sp>
      <p:sp>
        <p:nvSpPr>
          <p:cNvPr id="6" name="Reference URL"/>
          <p:cNvSpPr txBox="1"/>
          <p:nvPr/>
        </p:nvSpPr>
        <p:spPr>
          <a:xfrm>
            <a:off x="548640" y="2807208"/>
            <a:ext cx="3931920" cy="77724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https://www.inspectionpanel.org/sites/default/files/cases/documents/166-Viet%20Nam-CCSEP-Inspection%20Panel%20Report%20and%20Recommendation-22%20January%202024.pdf</a:t>
            </a:r>
          </a:p>
        </p:txBody>
      </p:sp>
      <p:sp>
        <p:nvSpPr>
          <p:cNvPr id="7" name="Status label"/>
          <p:cNvSpPr/>
          <p:nvPr/>
        </p:nvSpPr>
        <p:spPr>
          <a:xfrm>
            <a:off x="548640" y="369417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80974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executive summary, paras. 10, 29; paras. 13, 17, 19, 23; paras. 6, 55</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01"/>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101</a:t>
            </a:r>
            <a:r>
              <a:rPr sz="1400" b="1" i="0">
                <a:solidFill>
                  <a:srgbClr val="2E4257"/>
                </a:solidFill>
                <a:latin typeface="Be Vietnam Pro" panose="020F0502020204030204" pitchFamily="34"/>
              </a:rPr>
              <a:t> · Section 3.3.4, paragraph 2 (p. 57) · Locator: paras. 6, 55</a:t>
            </a:r>
          </a:p>
          <a:p>
            <a:pPr algn="l">
              <a:lnSpc>
                <a:spcPts val="1680"/>
              </a:lnSpc>
              <a:spcBef>
                <a:spcPts val="0"/>
              </a:spcBef>
              <a:spcAft>
                <a:spcPts val="1000"/>
              </a:spcAft>
            </a:pPr>
            <a:r>
              <a:rPr sz="1400" b="0" i="1">
                <a:solidFill>
                  <a:srgbClr val="4B5A69"/>
                </a:solidFill>
                <a:latin typeface="Be Vietnam Pro" panose="020F0502020204030204" pitchFamily="34"/>
              </a:rPr>
              <a:t>“Disbursement continued to rise after the restructuring and, according to the Inspection Panel, stood at 57.43% in August 2023, when the request for inspection was received [57, paras. 6, 55].”</a:t>
            </a:r>
          </a:p>
        </p:txBody>
      </p:sp>
      <p:sp>
        <p:nvSpPr>
          <p:cNvPr id="11" name="Cited for: slide 103"/>
          <p:cNvSpPr txBox="1"/>
          <p:nvPr/>
        </p:nvSpPr>
        <p:spPr>
          <a:xfrm>
            <a:off x="4892040" y="240842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6" action="ppaction://hlinksldjump"/>
              </a:rPr>
              <a:t>Slide 103</a:t>
            </a:r>
            <a:r>
              <a:rPr sz="1400" b="1" i="0">
                <a:solidFill>
                  <a:srgbClr val="2E4257"/>
                </a:solidFill>
                <a:latin typeface="Be Vietnam Pro" panose="020F0502020204030204" pitchFamily="34"/>
              </a:rPr>
              <a:t> · Section 3.3.4, paragraph 4 (p. 58) · Locator: executive summary, paras. 10, 29</a:t>
            </a:r>
          </a:p>
          <a:p>
            <a:pPr algn="l">
              <a:lnSpc>
                <a:spcPts val="1680"/>
              </a:lnSpc>
              <a:spcBef>
                <a:spcPts val="0"/>
              </a:spcBef>
              <a:spcAft>
                <a:spcPts val="1000"/>
              </a:spcAft>
            </a:pPr>
            <a:r>
              <a:rPr sz="1400" b="0" i="1">
                <a:solidFill>
                  <a:srgbClr val="4B5A69"/>
                </a:solidFill>
                <a:latin typeface="Be Vietnam Pro" panose="020F0502020204030204" pitchFamily="34"/>
              </a:rPr>
              <a:t>“Of the 585 households originally identified for compensation, only 160 had approved plans after the restructuring, and two work packages were delayed and then cancelled, so the works could not be completed within the project period [57, executive summary, paras. 10, 29].”</a:t>
            </a:r>
          </a:p>
        </p:txBody>
      </p:sp>
      <p:sp>
        <p:nvSpPr>
          <p:cNvPr id="12" name="Cited for: slide 104"/>
          <p:cNvSpPr txBox="1"/>
          <p:nvPr/>
        </p:nvSpPr>
        <p:spPr>
          <a:xfrm>
            <a:off x="4892040" y="3899408"/>
            <a:ext cx="6751015" cy="170434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7" action="ppaction://hlinksldjump"/>
              </a:rPr>
              <a:t>Slide 104</a:t>
            </a:r>
            <a:r>
              <a:rPr sz="1400" b="1" i="0">
                <a:solidFill>
                  <a:srgbClr val="2E4257"/>
                </a:solidFill>
                <a:latin typeface="Be Vietnam Pro" panose="020F0502020204030204" pitchFamily="34"/>
              </a:rPr>
              <a:t> · Section 3.3.4, paragraph 5 (p. 58) · Locator: paras. 13, 17, 19, 23</a:t>
            </a:r>
          </a:p>
          <a:p>
            <a:pPr algn="l">
              <a:lnSpc>
                <a:spcPts val="1680"/>
              </a:lnSpc>
              <a:spcBef>
                <a:spcPts val="0"/>
              </a:spcBef>
              <a:spcAft>
                <a:spcPts val="1000"/>
              </a:spcAft>
            </a:pPr>
            <a:r>
              <a:rPr sz="1400" b="0" i="1">
                <a:solidFill>
                  <a:srgbClr val="4B5A69"/>
                </a:solidFill>
                <a:latin typeface="Be Vietnam Pro" panose="020F0502020204030204" pitchFamily="34"/>
              </a:rPr>
              <a:t>“According to a request submitted by 31 residents of Ngoc Hiep Ward to the Inspection Panel on 27 August 2023, residents faced land use and construction restrictions since 2016, inconsistent resettlement policies, inadequate land compensation prices, and security pressure due to police presence [57, paras. 13, 17, 19, 23].”</a:t>
            </a:r>
          </a:p>
        </p:txBody>
      </p:sp>
      <p:sp>
        <p:nvSpPr>
          <p:cNvPr id="13"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4" name="Index button">
            <a:hlinkClick r:id="rId8"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5" name="Next page button">
            <a:hlinkClick r:id="rId9" action="ppaction://hlinksldjump"/>
          </p:cNvPr>
          <p:cNvSpPr/>
          <p:nvPr/>
        </p:nvSpPr>
        <p:spPr>
          <a:xfrm>
            <a:off x="835121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Be Vietnam Pro" panose="020F0502020204030204" pitchFamily="34"/>
              </a:rPr>
              <a:t>Next page </a:t>
            </a:r>
            <a:r>
              <a:rPr sz="1400" b="1" i="0">
                <a:solidFill>
                  <a:srgbClr val="2E4257"/>
                </a:solidFill>
                <a:latin typeface="Cormorant Garamond" panose="02020404030301010803" pitchFamily="18"/>
              </a:rPr>
              <a: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57</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  ·  PAGE 2/2</a:t>
            </a:r>
          </a:p>
        </p:txBody>
      </p:sp>
      <p:sp>
        <p:nvSpPr>
          <p:cNvPr id="5" name="Reference text"/>
          <p:cNvSpPr txBox="1"/>
          <p:nvPr/>
        </p:nvSpPr>
        <p:spPr>
          <a:xfrm>
            <a:off x="548640" y="1508760"/>
            <a:ext cx="3931920" cy="11887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Inspection Panel. (2024). Report and recommendation: Viet Nam – Coastal Cities Sustainable Environment Project, second request for inspection (22 January 2024). World Bank.</a:t>
            </a:r>
          </a:p>
        </p:txBody>
      </p:sp>
      <p:sp>
        <p:nvSpPr>
          <p:cNvPr id="6" name="Reference URL"/>
          <p:cNvSpPr txBox="1"/>
          <p:nvPr/>
        </p:nvSpPr>
        <p:spPr>
          <a:xfrm>
            <a:off x="548640" y="2807208"/>
            <a:ext cx="3931920" cy="777240"/>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https://www.inspectionpanel.org/sites/default/files/cases/documents/166-Viet%20Nam-CCSEP-Inspection%20Panel%20Report%20and%20Recommendation-22%20January%202024.pdf</a:t>
            </a:r>
          </a:p>
        </p:txBody>
      </p:sp>
      <p:sp>
        <p:nvSpPr>
          <p:cNvPr id="7" name="Status label"/>
          <p:cNvSpPr/>
          <p:nvPr/>
        </p:nvSpPr>
        <p:spPr>
          <a:xfrm>
            <a:off x="548640" y="3694176"/>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4809744"/>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executive summary, paras. 10, 29; paras. 13, 17, 19, 23; paras. 6, 55</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07"/>
          <p:cNvSpPr txBox="1"/>
          <p:nvPr/>
        </p:nvSpPr>
        <p:spPr>
          <a:xfrm>
            <a:off x="4892040" y="1344168"/>
            <a:ext cx="6751015" cy="149098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107</a:t>
            </a:r>
            <a:r>
              <a:rPr sz="1400" b="1" i="0">
                <a:solidFill>
                  <a:srgbClr val="2E4257"/>
                </a:solidFill>
                <a:latin typeface="Be Vietnam Pro" panose="020F0502020204030204" pitchFamily="34"/>
              </a:rPr>
              <a:t> · Section 3.4.2, paragraph 4 (p. 60)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“In Nha Trang, only 160 of 585 compensation plans had been approved by late 2022, residents rejected a third of the approved plans, two work packages were cancelled, and residents filed a complaint with the Inspection Panel [43; 57].”</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
        <p:nvSpPr>
          <p:cNvPr id="13" name="Previous page button">
            <a:hlinkClick r:id="rId7" action="ppaction://hlinksldjump"/>
          </p:cNvPr>
          <p:cNvSpPr/>
          <p:nvPr/>
        </p:nvSpPr>
        <p:spPr>
          <a:xfrm>
            <a:off x="10088575" y="6016752"/>
            <a:ext cx="155448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680"/>
              </a:lnSpc>
              <a:spcBef>
                <a:spcPts val="0"/>
              </a:spcBef>
              <a:spcAft>
                <a:spcPts val="0"/>
              </a:spcAft>
            </a:pPr>
            <a:r>
              <a:rPr sz="1400" b="1" i="0">
                <a:solidFill>
                  <a:srgbClr val="2E4257"/>
                </a:solidFill>
                <a:latin typeface="Cormorant Garamond" panose="02020404030301010803" pitchFamily="18"/>
              </a:rPr>
              <a:t>←</a:t>
            </a:r>
            <a:r>
              <a:rPr sz="1400" b="1" i="0">
                <a:solidFill>
                  <a:srgbClr val="2E4257"/>
                </a:solidFill>
                <a:latin typeface="Be Vietnam Pro" panose="020F0502020204030204" pitchFamily="34"/>
              </a:rPr>
              <a:t> Previous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3" name="Backgrou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12191695" cy="6858000"/>
          </a:xfrm>
          <a:prstGeom prst="rect">
            <a:avLst/>
          </a:prstGeom>
        </p:spPr>
      </p:pic>
      <p:sp>
        <p:nvSpPr>
          <p:cNvPr id="2" name="!!title"/>
          <p:cNvSpPr>
            <a:spLocks noGrp="1"/>
          </p:cNvSpPr>
          <p:nvPr>
            <p:ph type="title"/>
          </p:nvPr>
        </p:nvSpPr>
        <p:spPr>
          <a:xfrm>
            <a:off x="548640" y="566928"/>
            <a:ext cx="2743200" cy="868680"/>
          </a:xfrm>
        </p:spPr>
        <p:txBody>
          <a:bodyPr wrap="square" lIns="0" rIns="0" tIns="18288" bIns="18288" anchor="t">
            <a:noAutofit/>
          </a:bodyPr>
          <a:lstStyle/>
          <a:p>
            <a:pPr algn="l">
              <a:lnSpc>
                <a:spcPts val="6000"/>
              </a:lnSpc>
              <a:spcBef>
                <a:spcPts val="0"/>
              </a:spcBef>
              <a:spcAft>
                <a:spcPts val="0"/>
              </a:spcAft>
            </a:pPr>
            <a:r>
              <a:rPr sz="6000" b="0" i="0">
                <a:solidFill>
                  <a:srgbClr val="2E4257"/>
                </a:solidFill>
                <a:latin typeface="Cormorant Garamond" panose="02020404030301010803" pitchFamily="18"/>
              </a:rPr>
              <a:t>[</a:t>
            </a:r>
            <a:r>
              <a:rPr sz="6000" b="0" i="0" u="sng">
                <a:solidFill>
                  <a:srgbClr val="A33224"/>
                </a:solidFill>
                <a:latin typeface="Cormorant Garamond" panose="02020404030301010803" pitchFamily="18"/>
              </a:rPr>
              <a:t>58</a:t>
            </a:r>
            <a:r>
              <a:rPr sz="6000" b="0" i="0">
                <a:solidFill>
                  <a:srgbClr val="2E4257"/>
                </a:solidFill>
                <a:latin typeface="Cormorant Garamond" panose="02020404030301010803" pitchFamily="18"/>
              </a:rPr>
              <a:t>]</a:t>
            </a:r>
          </a:p>
        </p:txBody>
      </p:sp>
      <p:sp>
        <p:nvSpPr>
          <p:cNvPr id="4" name="!!section"/>
          <p:cNvSpPr txBox="1"/>
          <p:nvPr/>
        </p:nvSpPr>
        <p:spPr>
          <a:xfrm>
            <a:off x="548640" y="274320"/>
            <a:ext cx="8778240" cy="292608"/>
          </a:xfrm>
          <a:prstGeom prst="rect">
            <a:avLst/>
          </a:prstGeom>
          <a:noFill/>
        </p:spPr>
        <p:txBody>
          <a:bodyPr wrap="square" lIns="0" rIns="0" tIns="18288" bIns="18288" anchor="t">
            <a:noAutofit/>
          </a:bodyPr>
          <a:lstStyle/>
          <a:p>
            <a:pPr algn="l">
              <a:lnSpc>
                <a:spcPts val="1680"/>
              </a:lnSpc>
              <a:spcBef>
                <a:spcPts val="0"/>
              </a:spcBef>
              <a:spcAft>
                <a:spcPts val="0"/>
              </a:spcAft>
            </a:pPr>
            <a:r>
              <a:rPr sz="1400" b="1" i="0" spc="250">
                <a:solidFill>
                  <a:srgbClr val="4B5A69"/>
                </a:solidFill>
                <a:latin typeface="Be Vietnam Pro" panose="020F0502020204030204" pitchFamily="34"/>
              </a:rPr>
              <a:t>SOURCE CARD</a:t>
            </a:r>
          </a:p>
        </p:txBody>
      </p:sp>
      <p:sp>
        <p:nvSpPr>
          <p:cNvPr id="5" name="Reference text"/>
          <p:cNvSpPr txBox="1"/>
          <p:nvPr/>
        </p:nvSpPr>
        <p:spPr>
          <a:xfrm>
            <a:off x="548640" y="1508760"/>
            <a:ext cx="3931920" cy="731520"/>
          </a:xfrm>
          <a:prstGeom prst="rect">
            <a:avLst/>
          </a:prstGeom>
          <a:noFill/>
        </p:spPr>
        <p:txBody>
          <a:bodyPr wrap="square" lIns="0" rIns="0" tIns="18288" bIns="18288" anchor="t">
            <a:noAutofit/>
          </a:bodyPr>
          <a:lstStyle/>
          <a:p>
            <a:pPr algn="l">
              <a:lnSpc>
                <a:spcPts val="1800"/>
              </a:lnSpc>
              <a:spcBef>
                <a:spcPts val="0"/>
              </a:spcBef>
              <a:spcAft>
                <a:spcPts val="0"/>
              </a:spcAft>
            </a:pPr>
            <a:r>
              <a:rPr sz="1500" b="0" i="0">
                <a:solidFill>
                  <a:srgbClr val="2E4257"/>
                </a:solidFill>
                <a:latin typeface="Be Vietnam Pro" panose="020F0502020204030204" pitchFamily="34"/>
              </a:rPr>
              <a:t>World Bank Accountability Mechanism. (2025). Case update: Conclusion of the dispute resolution process in Viet Nam.</a:t>
            </a:r>
          </a:p>
        </p:txBody>
      </p:sp>
      <p:sp>
        <p:nvSpPr>
          <p:cNvPr id="6" name="Reference URL"/>
          <p:cNvSpPr txBox="1"/>
          <p:nvPr/>
        </p:nvSpPr>
        <p:spPr>
          <a:xfrm>
            <a:off x="548640" y="2350008"/>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E637A"/>
                </a:solidFill>
                <a:latin typeface="Be Vietnam Pro" panose="020F0502020204030204" pitchFamily="34"/>
                <a:hlinkClick r:id="rId3"/>
              </a:rPr>
              <a:t>https://accountability.worldbank.org/en/news/2025/conclusion-of-drs-in-vietnam</a:t>
            </a:r>
          </a:p>
        </p:txBody>
      </p:sp>
      <p:sp>
        <p:nvSpPr>
          <p:cNvPr id="7" name="Status label"/>
          <p:cNvSpPr/>
          <p:nvPr/>
        </p:nvSpPr>
        <p:spPr>
          <a:xfrm>
            <a:off x="548640" y="2871215"/>
            <a:ext cx="3931920" cy="1005839"/>
          </a:xfrm>
          <a:prstGeom prst="rect">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8288" bIns="18288">
            <a:noAutofit/>
          </a:bodyPr>
          <a:lstStyle/>
          <a:p>
            <a:pPr algn="l">
              <a:lnSpc>
                <a:spcPts val="1439"/>
              </a:lnSpc>
              <a:spcBef>
                <a:spcPts val="0"/>
              </a:spcBef>
              <a:spcAft>
                <a:spcPts val="0"/>
              </a:spcAft>
            </a:pPr>
            <a:r>
              <a:rPr sz="1200" b="0" i="1">
                <a:solidFill>
                  <a:srgbClr val="2E4257"/>
                </a:solidFill>
                <a:latin typeface="Be Vietnam Pro" panose="020F0502020204030204" pitchFamily="34"/>
              </a:rPr>
              <a:t>Source text not retrieved – shown: citation details from the paper only. (Source sites were unreachable from the build environment; no excerpt is quoted.)</a:t>
            </a:r>
          </a:p>
        </p:txBody>
      </p:sp>
      <p:sp>
        <p:nvSpPr>
          <p:cNvPr id="8" name="Locators"/>
          <p:cNvSpPr txBox="1"/>
          <p:nvPr/>
        </p:nvSpPr>
        <p:spPr>
          <a:xfrm>
            <a:off x="548640" y="3986783"/>
            <a:ext cx="3931920" cy="411479"/>
          </a:xfrm>
          <a:prstGeom prst="rect">
            <a:avLst/>
          </a:prstGeom>
          <a:noFill/>
        </p:spPr>
        <p:txBody>
          <a:bodyPr wrap="square" lIns="0" rIns="0" tIns="18288" bIns="18288" anchor="t">
            <a:noAutofit/>
          </a:bodyPr>
          <a:lstStyle/>
          <a:p>
            <a:pPr algn="l">
              <a:lnSpc>
                <a:spcPts val="1439"/>
              </a:lnSpc>
              <a:spcBef>
                <a:spcPts val="0"/>
              </a:spcBef>
              <a:spcAft>
                <a:spcPts val="0"/>
              </a:spcAft>
            </a:pPr>
            <a:r>
              <a:rPr sz="1200" b="0" i="0">
                <a:solidFill>
                  <a:srgbClr val="4B5A69"/>
                </a:solidFill>
                <a:latin typeface="Be Vietnam Pro" panose="020F0502020204030204" pitchFamily="34"/>
              </a:rPr>
              <a:t>Locators used in the paper: Locator not given in the paper</a:t>
            </a:r>
          </a:p>
        </p:txBody>
      </p:sp>
      <p:sp>
        <p:nvSpPr>
          <p:cNvPr id="9" name="Cited for heading"/>
          <p:cNvSpPr txBox="1"/>
          <p:nvPr/>
        </p:nvSpPr>
        <p:spPr>
          <a:xfrm>
            <a:off x="4892040" y="548640"/>
            <a:ext cx="6751015" cy="566928"/>
          </a:xfrm>
          <a:prstGeom prst="rect">
            <a:avLst/>
          </a:prstGeom>
          <a:noFill/>
        </p:spPr>
        <p:txBody>
          <a:bodyPr wrap="square" lIns="0" rIns="0" tIns="18288" bIns="18288" anchor="t">
            <a:noAutofit/>
          </a:bodyPr>
          <a:lstStyle/>
          <a:p>
            <a:pPr algn="l">
              <a:lnSpc>
                <a:spcPts val="4079"/>
              </a:lnSpc>
              <a:spcBef>
                <a:spcPts val="0"/>
              </a:spcBef>
              <a:spcAft>
                <a:spcPts val="0"/>
              </a:spcAft>
            </a:pPr>
            <a:r>
              <a:rPr sz="3400" b="0" i="0">
                <a:solidFill>
                  <a:srgbClr val="2E4257"/>
                </a:solidFill>
                <a:latin typeface="Cormorant Garamond" panose="02020404030301010803" pitchFamily="18"/>
              </a:rPr>
              <a:t>Cited for</a:t>
            </a:r>
          </a:p>
        </p:txBody>
      </p:sp>
      <p:sp>
        <p:nvSpPr>
          <p:cNvPr id="10" name="Cited for: slide 104"/>
          <p:cNvSpPr txBox="1"/>
          <p:nvPr/>
        </p:nvSpPr>
        <p:spPr>
          <a:xfrm>
            <a:off x="4892040" y="1344168"/>
            <a:ext cx="6751015" cy="1064260"/>
          </a:xfrm>
          <a:prstGeom prst="rect">
            <a:avLst/>
          </a:prstGeom>
          <a:noFill/>
        </p:spPr>
        <p:txBody>
          <a:bodyPr wrap="square" lIns="0" rIns="0" tIns="18288" bIns="18288" anchor="t">
            <a:noAutofit/>
          </a:bodyPr>
          <a:lstStyle/>
          <a:p>
            <a:pPr algn="l">
              <a:lnSpc>
                <a:spcPts val="1680"/>
              </a:lnSpc>
              <a:spcBef>
                <a:spcPts val="0"/>
              </a:spcBef>
              <a:spcAft>
                <a:spcPts val="300"/>
              </a:spcAft>
            </a:pPr>
            <a:r>
              <a:rPr sz="1400" b="1" i="0" u="sng">
                <a:solidFill>
                  <a:srgbClr val="A33224"/>
                </a:solidFill>
                <a:latin typeface="Be Vietnam Pro" panose="020F0502020204030204" pitchFamily="34"/>
                <a:hlinkClick r:id="rId5" action="ppaction://hlinksldjump"/>
              </a:rPr>
              <a:t>Slide 104</a:t>
            </a:r>
            <a:r>
              <a:rPr sz="1400" b="1" i="0">
                <a:solidFill>
                  <a:srgbClr val="2E4257"/>
                </a:solidFill>
                <a:latin typeface="Be Vietnam Pro" panose="020F0502020204030204" pitchFamily="34"/>
              </a:rPr>
              <a:t> · Section 3.3.4, paragraph 5 (p. 58) · Locator: not given in the paper</a:t>
            </a:r>
          </a:p>
          <a:p>
            <a:pPr algn="l">
              <a:lnSpc>
                <a:spcPts val="1680"/>
              </a:lnSpc>
              <a:spcBef>
                <a:spcPts val="0"/>
              </a:spcBef>
              <a:spcAft>
                <a:spcPts val="1000"/>
              </a:spcAft>
            </a:pPr>
            <a:r>
              <a:rPr sz="1400" b="0" i="1">
                <a:solidFill>
                  <a:srgbClr val="4B5A69"/>
                </a:solidFill>
                <a:latin typeface="Be Vietnam Pro" panose="020F0502020204030204" pitchFamily="34"/>
              </a:rPr>
              <a:t>“As the complainants withdrew from the process, the case returned to the Inspection Panel, and no final findings have been issued to date [58].”</a:t>
            </a:r>
          </a:p>
        </p:txBody>
      </p:sp>
      <p:sp>
        <p:nvSpPr>
          <p:cNvPr id="11" name="Back button">
            <a:hlinkClick r:id="" action="ppaction://hlinkshowjump?jump=lastslideviewed"/>
          </p:cNvPr>
          <p:cNvSpPr/>
          <p:nvPr/>
        </p:nvSpPr>
        <p:spPr>
          <a:xfrm>
            <a:off x="548640" y="6016752"/>
            <a:ext cx="1463040" cy="457200"/>
          </a:xfrm>
          <a:prstGeom prst="roundRect">
            <a:avLst/>
          </a:prstGeom>
          <a:solidFill>
            <a:srgbClr val="2E42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F4ECD8"/>
                </a:solidFill>
                <a:latin typeface="Cormorant Garamond" panose="02020404030301010803" pitchFamily="18"/>
              </a:rPr>
              <a:t>←</a:t>
            </a:r>
            <a:r>
              <a:rPr sz="1600" b="1" i="0">
                <a:solidFill>
                  <a:srgbClr val="F4ECD8"/>
                </a:solidFill>
                <a:latin typeface="Be Vietnam Pro" panose="020F0502020204030204" pitchFamily="34"/>
              </a:rPr>
              <a:t> Back</a:t>
            </a:r>
          </a:p>
        </p:txBody>
      </p:sp>
      <p:sp>
        <p:nvSpPr>
          <p:cNvPr id="12" name="Index button">
            <a:hlinkClick r:id="rId6" action="ppaction://hlinksldjump"/>
          </p:cNvPr>
          <p:cNvSpPr/>
          <p:nvPr/>
        </p:nvSpPr>
        <p:spPr>
          <a:xfrm>
            <a:off x="2194560" y="6016752"/>
            <a:ext cx="2103120" cy="457200"/>
          </a:xfrm>
          <a:prstGeom prst="roundRect">
            <a:avLst/>
          </a:prstGeom>
          <a:noFill/>
          <a:ln w="15875">
            <a:solidFill>
              <a:srgbClr val="2E4257"/>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noAutofit/>
          </a:bodyPr>
          <a:lstStyle/>
          <a:p>
            <a:pPr algn="ctr">
              <a:lnSpc>
                <a:spcPts val="1920"/>
              </a:lnSpc>
              <a:spcBef>
                <a:spcPts val="0"/>
              </a:spcBef>
              <a:spcAft>
                <a:spcPts val="0"/>
              </a:spcAft>
            </a:pPr>
            <a:r>
              <a:rPr sz="1600" b="1" i="0">
                <a:solidFill>
                  <a:srgbClr val="2E4257"/>
                </a:solidFill>
                <a:latin typeface="Be Vietnam Pro" panose="020F0502020204030204" pitchFamily="34"/>
              </a:rPr>
              <a:t>Index of sources</a:t>
            </a:r>
          </a:p>
        </p:txBody>
      </p:sp>
    </p:spTree>
  </p:cSld>
  <p:clrMapOvr>
    <a:masterClrMapping/>
  </p:clrMapOvr>
</p:sld>
</file>

<file path=ppt/theme/theme1.xml><?xml version="1.0" encoding="utf-8"?>
<a:theme xmlns:a="http://schemas.openxmlformats.org/drawingml/2006/main" name="IBRD Group 6">
  <a:themeElements>
    <a:clrScheme name="IBRD Paper &amp; Wash">
      <a:dk1>
        <a:srgbClr val="2E4257"/>
      </a:dk1>
      <a:lt1>
        <a:srgbClr val="F4ECD8"/>
      </a:lt1>
      <a:dk2>
        <a:srgbClr val="4E637A"/>
      </a:dk2>
      <a:lt2>
        <a:srgbClr val="E8DDC2"/>
      </a:lt2>
      <a:accent1>
        <a:srgbClr val="2E4257"/>
      </a:accent1>
      <a:accent2>
        <a:srgbClr val="7F93A8"/>
      </a:accent2>
      <a:accent3>
        <a:srgbClr val="C9B48A"/>
      </a:accent3>
      <a:accent4>
        <a:srgbClr val="B4432F"/>
      </a:accent4>
      <a:accent5>
        <a:srgbClr val="B9C6D2"/>
      </a:accent5>
      <a:accent6>
        <a:srgbClr val="4B5A69"/>
      </a:accent6>
      <a:hlink>
        <a:srgbClr val="A33224"/>
      </a:hlink>
      <a:folHlink>
        <a:srgbClr val="7A2A1F"/>
      </a:folHlink>
    </a:clrScheme>
    <a:fontScheme name="IBRD Group 6">
      <a:majorFont>
        <a:latin typeface="Cormorant Garamond" panose="02020404030301010803" pitchFamily="18" charset="0"/>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e Vietnam Pro" panose="020F0502020204030204" pitchFamily="34" charset="0"/>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IBRD and its Development Project Financing Activities in Vietnam</dc:title>
  <dc:subject>Project Finance — NEU Investment Economics 65</dc:subject>
  <dc:creator>Group 6 — Đặng Việt Hoàng, Trần Lan Quyên, Đào Bảo Bình, Nguyễn Anh Đức, Lê Thị Yến Nhi</dc:creator>
  <cp:keywords>IBRD; World Bank; Vietnam; project finance; TEP; CCSEP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